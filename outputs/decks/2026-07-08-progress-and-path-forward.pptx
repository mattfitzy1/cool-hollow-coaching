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Arial"/>
              </a:defRPr>
            </a:pPr>
            <a:r>
              <a:rPr sz="1300" b="0" i="0" u="none" strike="noStrike">
                <a:solidFill>
                  <a:srgbClr val="1A1A1A"/>
                </a:solidFill>
                <a:latin typeface="Arial"/>
              </a:rPr>
              <a:t>Where the money goes (% of revenue)</a:t>
            </a:r>
          </a:p>
        </c:rich>
      </c:tx>
      <c:layout/>
      <c:overlay val="0"/>
    </c:title>
    <c:autoTitleDeleted val="0"/>
    <c:plotArea>
      <c:layout/>
      <c:barChart>
        <c:barDir val="bar"/>
        <c:grouping val="clustered"/>
        <c:varyColors val="0"/>
        <c:ser>
          <c:idx val="0"/>
          <c:order val="0"/>
          <c:tx>
            <c:strRef>
              <c:f>Sheet1!$B$1</c:f>
              <c:strCache>
                <c:ptCount val="1"/>
                <c:pt idx="0">
                  <c:v>Share of revenue</c:v>
                </c:pt>
              </c:strCache>
            </c:strRef>
          </c:tx>
          <c:spPr>
            <a:solidFill>
              <a:srgbClr val="C8A227"/>
            </a:solidFill>
            <a:effectLst/>
          </c:spPr>
          <c:invertIfNegative val="0"/>
          <c:dLbls>
            <c:numFmt formatCode="#,##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cat>
            <c:multiLvlStrRef>
              <c:f>Sheet1!$A$2:$A$6</c:f>
              <c:multiLvlStrCache>
                <c:ptCount val="5"/>
                <c:lvl>
                  <c:pt idx="0">
                    <c:v>Cost of Goods</c:v>
                  </c:pt>
                  <c:pt idx="1">
                    <c:v>Labor</c:v>
                  </c:pt>
                  <c:pt idx="2">
                    <c:v>Overhead</c:v>
                  </c:pt>
                  <c:pt idx="3">
                    <c:v>Marketing</c:v>
                  </c:pt>
                  <c:pt idx="4">
                    <c:v>Margin left</c:v>
                  </c:pt>
                </c:lvl>
              </c:multiLvlStrCache>
            </c:multiLvlStrRef>
          </c:cat>
          <c:val>
            <c:numRef>
              <c:f>Sheet1!$B$2:$B$6</c:f>
              <c:numCache>
                <c:formatCode>General</c:formatCode>
                <c:ptCount val="5"/>
                <c:pt idx="0">
                  <c:v>38</c:v>
                </c:pt>
                <c:pt idx="1">
                  <c:v>31</c:v>
                </c:pt>
                <c:pt idx="2">
                  <c:v>22</c:v>
                </c:pt>
                <c:pt idx="3">
                  <c:v>9</c:v>
                </c:pt>
                <c:pt idx="4">
                  <c:v>0</c:v>
                </c:pt>
              </c:numCache>
            </c:numRef>
          </c:val>
        </c:ser>
        <c:dLbls>
          <c:numFmt formatCode="#,##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4A4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4E1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4A4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Arial"/>
              </a:defRPr>
            </a:pPr>
            <a:r>
              <a:rPr sz="1300" b="0" i="0" u="none" strike="noStrike">
                <a:solidFill>
                  <a:srgbClr val="1A1A1A"/>
                </a:solidFill>
                <a:latin typeface="Arial"/>
              </a:rPr>
              <a:t>13-week rolling cash position (example)</a:t>
            </a:r>
          </a:p>
        </c:rich>
      </c:tx>
      <c:layout/>
      <c:overlay val="0"/>
    </c:title>
    <c:autoTitleDeleted val="0"/>
    <c:plotArea>
      <c:layout/>
      <c:lineChart>
        <c:varyColors val="0"/>
        <c:ser>
          <c:idx val="0"/>
          <c:order val="0"/>
          <c:tx>
            <c:strRef>
              <c:f>Sheet1!$B$1</c:f>
              <c:strCache>
                <c:ptCount val="1"/>
                <c:pt idx="0">
                  <c:v>Projected cash on hand</c:v>
                </c:pt>
              </c:strCache>
            </c:strRef>
          </c:tx>
          <c:spPr>
            <a:solidFill>
              <a:srgbClr val="C8A227"/>
            </a:solidFill>
            <a:ln w="38100" cap="flat">
              <a:solidFill>
                <a:srgbClr val="C8A22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8A227"/>
              </a:solidFill>
              <a:ln w="9525" cap="flat">
                <a:solidFill>
                  <a:srgbClr val="C8A227"/>
                </a:solidFill>
                <a:prstDash val="solid"/>
                <a:round/>
              </a:ln>
              <a:effectLst/>
            </c:spPr>
          </c:marker>
          <c:cat>
            <c:multiLvlStrRef>
              <c:f>Sheet1!$A$2:$A$14</c:f>
              <c:multiLvlStrCache>
                <c:ptCount val="13"/>
                <c:lvl>
                  <c:pt idx="0">
                    <c:v>W1</c:v>
                  </c:pt>
                  <c:pt idx="1">
                    <c:v>W2</c:v>
                  </c:pt>
                  <c:pt idx="2">
                    <c:v>W3</c:v>
                  </c:pt>
                  <c:pt idx="3">
                    <c:v>W4</c:v>
                  </c:pt>
                  <c:pt idx="4">
                    <c:v>W5</c:v>
                  </c:pt>
                  <c:pt idx="5">
                    <c:v>W6</c:v>
                  </c:pt>
                  <c:pt idx="6">
                    <c:v>W7</c:v>
                  </c:pt>
                  <c:pt idx="7">
                    <c:v>W8</c:v>
                  </c:pt>
                  <c:pt idx="8">
                    <c:v>W9</c:v>
                  </c:pt>
                  <c:pt idx="9">
                    <c:v>W10</c:v>
                  </c:pt>
                  <c:pt idx="10">
                    <c:v>W11</c:v>
                  </c:pt>
                  <c:pt idx="11">
                    <c:v>W12</c:v>
                  </c:pt>
                  <c:pt idx="12">
                    <c:v>W13</c:v>
                  </c:pt>
                </c:lvl>
              </c:multiLvlStrCache>
            </c:multiLvlStrRef>
          </c:cat>
          <c:val>
            <c:numRef>
              <c:f>Sheet1!$B$2:$B$14</c:f>
              <c:numCache>
                <c:formatCode>General</c:formatCode>
                <c:ptCount val="13"/>
                <c:pt idx="0">
                  <c:v>42000</c:v>
                </c:pt>
                <c:pt idx="1">
                  <c:v>39500</c:v>
                </c:pt>
                <c:pt idx="2">
                  <c:v>44000</c:v>
                </c:pt>
                <c:pt idx="3">
                  <c:v>41000</c:v>
                </c:pt>
                <c:pt idx="4">
                  <c:v>47500</c:v>
                </c:pt>
                <c:pt idx="5">
                  <c:v>45000</c:v>
                </c:pt>
                <c:pt idx="6">
                  <c:v>51000</c:v>
                </c:pt>
                <c:pt idx="7">
                  <c:v>48500</c:v>
                </c:pt>
                <c:pt idx="8">
                  <c:v>53000</c:v>
                </c:pt>
                <c:pt idx="9">
                  <c:v>50000</c:v>
                </c:pt>
                <c:pt idx="10">
                  <c:v>55500</c:v>
                </c:pt>
                <c:pt idx="11">
                  <c:v>58000</c:v>
                </c:pt>
                <c:pt idx="12">
                  <c:v>61000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4A4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1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4A4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5120512" y="0"/>
            <a:ext cx="7071183" cy="6858000"/>
          </a:xfrm>
          <a:prstGeom prst="rect">
            <a:avLst/>
          </a:prstGeom>
          <a:solidFill>
            <a:srgbClr val="FAFAF8"/>
          </a:solidFill>
          <a:ln/>
        </p:spPr>
      </p:sp>
      <p:sp>
        <p:nvSpPr>
          <p:cNvPr id="3" name="Shape 1"/>
          <p:cNvSpPr/>
          <p:nvPr/>
        </p:nvSpPr>
        <p:spPr>
          <a:xfrm>
            <a:off x="3108832" y="4663440"/>
            <a:ext cx="4023360" cy="4023360"/>
          </a:xfrm>
          <a:prstGeom prst="ellipse">
            <a:avLst/>
          </a:prstGeom>
          <a:solidFill>
            <a:srgbClr val="F7EFD6"/>
          </a:solidFill>
          <a:ln/>
        </p:spPr>
      </p:sp>
      <p:sp>
        <p:nvSpPr>
          <p:cNvPr id="4" name="Text 2"/>
          <p:cNvSpPr/>
          <p:nvPr/>
        </p:nvSpPr>
        <p:spPr>
          <a:xfrm>
            <a:off x="640080" y="640080"/>
            <a:ext cx="4114800" cy="320040"/>
          </a:xfrm>
          <a:prstGeom prst="rect">
            <a:avLst/>
          </a:prstGeom>
          <a:noFill/>
          <a:ln/>
        </p:spPr>
        <p:txBody>
          <a:bodyPr wrap="square" rtlCol="0" anchor="ctr"/>
          <a:lstStyle/>
          <a:p>
            <a:pPr indent="0" marL="0">
              <a:buNone/>
            </a:pPr>
            <a:r>
              <a:rPr lang="en-US" sz="1100" b="1" spc="200" kern="0" dirty="0">
                <a:solidFill>
                  <a:srgbClr val="E8C766"/>
                </a:solidFill>
                <a:latin typeface="Calibri" pitchFamily="34" charset="0"/>
                <a:ea typeface="Calibri" pitchFamily="34" charset="-122"/>
                <a:cs typeface="Calibri" pitchFamily="34" charset="-120"/>
              </a:rPr>
              <a:t>FOR MARK, CAM &amp; HANNAH</a:t>
            </a:r>
            <a:endParaRPr lang="en-US" sz="1100" dirty="0"/>
          </a:p>
        </p:txBody>
      </p:sp>
      <p:sp>
        <p:nvSpPr>
          <p:cNvPr id="5" name="Text 3"/>
          <p:cNvSpPr/>
          <p:nvPr/>
        </p:nvSpPr>
        <p:spPr>
          <a:xfrm>
            <a:off x="640080" y="2377440"/>
            <a:ext cx="4572000" cy="164592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Cool Hollow</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Coaching.</a:t>
            </a:r>
            <a:endParaRPr lang="en-US" sz="4000" dirty="0"/>
          </a:p>
        </p:txBody>
      </p:sp>
      <p:sp>
        <p:nvSpPr>
          <p:cNvPr id="6" name="Text 4"/>
          <p:cNvSpPr/>
          <p:nvPr/>
        </p:nvSpPr>
        <p:spPr>
          <a:xfrm>
            <a:off x="640080" y="5852160"/>
            <a:ext cx="4114800" cy="320040"/>
          </a:xfrm>
          <a:prstGeom prst="rect">
            <a:avLst/>
          </a:prstGeom>
          <a:noFill/>
          <a:ln/>
        </p:spPr>
        <p:txBody>
          <a:bodyPr wrap="square" rtlCol="0" anchor="ctr"/>
          <a:lstStyle/>
          <a:p>
            <a:pPr indent="0" marL="0">
              <a:buNone/>
            </a:pPr>
            <a:r>
              <a:rPr lang="en-US" sz="1100" b="1" spc="200" kern="0" dirty="0">
                <a:solidFill>
                  <a:srgbClr val="E8C766"/>
                </a:solidFill>
                <a:latin typeface="Calibri" pitchFamily="34" charset="0"/>
                <a:ea typeface="Calibri" pitchFamily="34" charset="-122"/>
                <a:cs typeface="Calibri" pitchFamily="34" charset="-120"/>
              </a:rPr>
              <a:t>Business Without You</a:t>
            </a:r>
            <a:endParaRPr lang="en-US" sz="1100" dirty="0"/>
          </a:p>
        </p:txBody>
      </p:sp>
      <p:sp>
        <p:nvSpPr>
          <p:cNvPr id="7" name="Text 5"/>
          <p:cNvSpPr/>
          <p:nvPr/>
        </p:nvSpPr>
        <p:spPr>
          <a:xfrm>
            <a:off x="5760592" y="1371600"/>
            <a:ext cx="5303520" cy="320040"/>
          </a:xfrm>
          <a:prstGeom prst="rect">
            <a:avLst/>
          </a:prstGeom>
          <a:noFill/>
          <a:ln/>
        </p:spPr>
        <p:txBody>
          <a:bodyPr wrap="square" rtlCol="0" anchor="ctr"/>
          <a:lstStyle/>
          <a:p>
            <a:pPr indent="0" marL="0">
              <a:buNone/>
            </a:pPr>
            <a:r>
              <a:rPr lang="en-US" sz="1100" b="1" spc="200" kern="0" dirty="0">
                <a:solidFill>
                  <a:srgbClr val="C8A227"/>
                </a:solidFill>
                <a:latin typeface="Calibri" pitchFamily="34" charset="0"/>
                <a:ea typeface="Calibri" pitchFamily="34" charset="-122"/>
                <a:cs typeface="Calibri" pitchFamily="34" charset="-120"/>
              </a:rPr>
              <a:t>TEAM UPDATE · JULY 2026</a:t>
            </a:r>
            <a:endParaRPr lang="en-US" sz="1100" dirty="0"/>
          </a:p>
        </p:txBody>
      </p:sp>
      <p:sp>
        <p:nvSpPr>
          <p:cNvPr id="8" name="Text 6"/>
          <p:cNvSpPr/>
          <p:nvPr/>
        </p:nvSpPr>
        <p:spPr>
          <a:xfrm>
            <a:off x="5760592" y="1828800"/>
            <a:ext cx="5669280" cy="1280160"/>
          </a:xfrm>
          <a:prstGeom prst="rect">
            <a:avLst/>
          </a:prstGeom>
          <a:noFill/>
          <a:ln/>
        </p:spPr>
        <p:txBody>
          <a:bodyPr wrap="square" lIns="0" tIns="0" rIns="0" bIns="0" rtlCol="0" anchor="ctr"/>
          <a:lstStyle/>
          <a:p>
            <a:pPr indent="0" marL="0">
              <a:lnSpc>
                <a:spcPct val="105000"/>
              </a:lnSpc>
              <a:buNone/>
            </a:pPr>
            <a:r>
              <a:rPr lang="en-US" sz="3400" b="1" dirty="0">
                <a:solidFill>
                  <a:srgbClr val="1A1A1A"/>
                </a:solidFill>
                <a:latin typeface="Cambria" pitchFamily="34" charset="0"/>
                <a:ea typeface="Cambria" pitchFamily="34" charset="-122"/>
                <a:cs typeface="Cambria" pitchFamily="34" charset="-120"/>
              </a:rPr>
              <a:t>Progress &amp; path forward.</a:t>
            </a:r>
            <a:endParaRPr lang="en-US" sz="3400" dirty="0"/>
          </a:p>
        </p:txBody>
      </p:sp>
      <p:sp>
        <p:nvSpPr>
          <p:cNvPr id="9" name="Text 7"/>
          <p:cNvSpPr/>
          <p:nvPr/>
        </p:nvSpPr>
        <p:spPr>
          <a:xfrm>
            <a:off x="5760592" y="3246120"/>
            <a:ext cx="5303520" cy="1005840"/>
          </a:xfrm>
          <a:prstGeom prst="rect">
            <a:avLst/>
          </a:prstGeom>
          <a:noFill/>
          <a:ln/>
        </p:spPr>
        <p:txBody>
          <a:bodyPr wrap="square" rtlCol="0" anchor="ctr"/>
          <a:lstStyle/>
          <a:p>
            <a:pPr indent="0" marL="0">
              <a:lnSpc>
                <a:spcPct val="130000"/>
              </a:lnSpc>
              <a:buNone/>
            </a:pPr>
            <a:r>
              <a:rPr lang="en-US" sz="1500" i="1" dirty="0">
                <a:solidFill>
                  <a:srgbClr val="4A4A4A"/>
                </a:solidFill>
                <a:latin typeface="Calibri" pitchFamily="34" charset="0"/>
                <a:ea typeface="Calibri" pitchFamily="34" charset="-122"/>
                <a:cs typeface="Calibri" pitchFamily="34" charset="-120"/>
              </a:rPr>
              <a:t>What's been built since June, what we learned from Mike, and where we're taking this next. Nothing here is final. That's your call.</a:t>
            </a:r>
            <a:endParaRPr lang="en-US" sz="1500" dirty="0"/>
          </a:p>
        </p:txBody>
      </p:sp>
      <p:sp>
        <p:nvSpPr>
          <p:cNvPr id="10" name="Text 8"/>
          <p:cNvSpPr/>
          <p:nvPr/>
        </p:nvSpPr>
        <p:spPr>
          <a:xfrm>
            <a:off x="5760592" y="5897880"/>
            <a:ext cx="5303520" cy="320040"/>
          </a:xfrm>
          <a:prstGeom prst="rect">
            <a:avLst/>
          </a:prstGeom>
          <a:noFill/>
          <a:ln/>
        </p:spPr>
        <p:txBody>
          <a:bodyPr wrap="square" rtlCol="0" anchor="ctr"/>
          <a:lstStyle/>
          <a:p>
            <a:pPr indent="0" marL="0">
              <a:buNone/>
            </a:pPr>
            <a:r>
              <a:rPr lang="en-US" sz="1200" dirty="0">
                <a:solidFill>
                  <a:srgbClr val="8A8A8A"/>
                </a:solidFill>
                <a:latin typeface="Calibri" pitchFamily="34" charset="0"/>
                <a:ea typeface="Calibri" pitchFamily="34" charset="-122"/>
                <a:cs typeface="Calibri" pitchFamily="34" charset="-120"/>
              </a:rPr>
              <a:t>Matt Fitzpatrick  ·  July 8,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WHY THIS EXISTS</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02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3000" b="1" dirty="0">
                <a:solidFill>
                  <a:srgbClr val="1A1A1A"/>
                </a:solidFill>
                <a:latin typeface="Cambria" pitchFamily="34" charset="0"/>
                <a:ea typeface="Cambria" pitchFamily="34" charset="-122"/>
                <a:cs typeface="Cambria" pitchFamily="34" charset="-120"/>
              </a:rPr>
              <a:t>Cool Hollow Solutions has a ceiling. This is how we get past it.</a:t>
            </a:r>
            <a:endParaRPr lang="en-US" sz="3000" dirty="0"/>
          </a:p>
        </p:txBody>
      </p:sp>
      <p:sp>
        <p:nvSpPr>
          <p:cNvPr id="5" name="Text 3"/>
          <p:cNvSpPr/>
          <p:nvPr/>
        </p:nvSpPr>
        <p:spPr>
          <a:xfrm>
            <a:off x="548640" y="150876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Mark's built something real with Cool Hollow Solutions: a profitable, trusted advisory firm. But 1:1 advisory only scales as far as one person's calendar. Cool Hollow Coaching is the online arm built to grow past that ceiling.</a:t>
            </a:r>
            <a:endParaRPr lang="en-US" sz="1350" dirty="0"/>
          </a:p>
        </p:txBody>
      </p:sp>
      <p:sp>
        <p:nvSpPr>
          <p:cNvPr id="6" name="Shape 4"/>
          <p:cNvSpPr/>
          <p:nvPr/>
        </p:nvSpPr>
        <p:spPr>
          <a:xfrm>
            <a:off x="548640" y="2468880"/>
            <a:ext cx="3383280" cy="3108960"/>
          </a:xfrm>
          <a:prstGeom prst="roundRect">
            <a:avLst>
              <a:gd name="adj" fmla="val 1765"/>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822960" y="2697480"/>
            <a:ext cx="2834640" cy="274320"/>
          </a:xfrm>
          <a:prstGeom prst="rect">
            <a:avLst/>
          </a:prstGeom>
          <a:noFill/>
          <a:ln/>
        </p:spPr>
        <p:txBody>
          <a:bodyPr wrap="square" rtlCol="0" anchor="ctr"/>
          <a:lstStyle/>
          <a:p>
            <a:pPr indent="0" marL="0">
              <a:buNone/>
            </a:pPr>
            <a:r>
              <a:rPr lang="en-US" sz="1000" b="1" spc="150" kern="0" dirty="0">
                <a:solidFill>
                  <a:srgbClr val="C8A227"/>
                </a:solidFill>
                <a:latin typeface="Calibri" pitchFamily="34" charset="0"/>
                <a:ea typeface="Calibri" pitchFamily="34" charset="-122"/>
                <a:cs typeface="Calibri" pitchFamily="34" charset="-120"/>
              </a:rPr>
              <a:t>ACTIVE CLIENTS</a:t>
            </a:r>
            <a:endParaRPr lang="en-US" sz="1000" dirty="0"/>
          </a:p>
        </p:txBody>
      </p:sp>
      <p:sp>
        <p:nvSpPr>
          <p:cNvPr id="8" name="Text 6"/>
          <p:cNvSpPr/>
          <p:nvPr/>
        </p:nvSpPr>
        <p:spPr>
          <a:xfrm>
            <a:off x="822960" y="2971800"/>
            <a:ext cx="2834640" cy="1051560"/>
          </a:xfrm>
          <a:prstGeom prst="rect">
            <a:avLst/>
          </a:prstGeom>
          <a:noFill/>
          <a:ln/>
        </p:spPr>
        <p:txBody>
          <a:bodyPr wrap="square" lIns="0" tIns="0" rIns="0" bIns="0" rtlCol="0" anchor="ctr"/>
          <a:lstStyle/>
          <a:p>
            <a:pPr indent="0" marL="0">
              <a:buNone/>
            </a:pPr>
            <a:r>
              <a:rPr lang="en-US" sz="4600" b="1" dirty="0">
                <a:solidFill>
                  <a:srgbClr val="1A1A1A"/>
                </a:solidFill>
                <a:latin typeface="Cambria" pitchFamily="34" charset="0"/>
                <a:ea typeface="Cambria" pitchFamily="34" charset="-122"/>
                <a:cs typeface="Cambria" pitchFamily="34" charset="-120"/>
              </a:rPr>
              <a:t>~35</a:t>
            </a:r>
            <a:endParaRPr lang="en-US" sz="4600" dirty="0"/>
          </a:p>
        </p:txBody>
      </p:sp>
      <p:sp>
        <p:nvSpPr>
          <p:cNvPr id="9" name="Text 7"/>
          <p:cNvSpPr/>
          <p:nvPr/>
        </p:nvSpPr>
        <p:spPr>
          <a:xfrm>
            <a:off x="822960" y="4160520"/>
            <a:ext cx="2834640" cy="1234440"/>
          </a:xfrm>
          <a:prstGeom prst="rect">
            <a:avLst/>
          </a:prstGeom>
          <a:noFill/>
          <a:ln/>
        </p:spPr>
        <p:txBody>
          <a:bodyPr wrap="square" rtlCol="0" anchor="ctr"/>
          <a:lstStyle/>
          <a:p>
            <a:pPr indent="0" marL="0">
              <a:lnSpc>
                <a:spcPct val="125000"/>
              </a:lnSpc>
              <a:buNone/>
            </a:pPr>
            <a:r>
              <a:rPr lang="en-US" sz="1200" dirty="0">
                <a:solidFill>
                  <a:srgbClr val="4A4A4A"/>
                </a:solidFill>
                <a:latin typeface="Calibri" pitchFamily="34" charset="0"/>
                <a:ea typeface="Calibri" pitchFamily="34" charset="-122"/>
                <a:cs typeface="Calibri" pitchFamily="34" charset="-120"/>
              </a:rPr>
              <a:t>Cool Hollow Solutions today. A strong, proven book of business, running at capacity.</a:t>
            </a:r>
            <a:endParaRPr lang="en-US" sz="1200" dirty="0"/>
          </a:p>
        </p:txBody>
      </p:sp>
      <p:sp>
        <p:nvSpPr>
          <p:cNvPr id="10" name="Shape 8"/>
          <p:cNvSpPr/>
          <p:nvPr/>
        </p:nvSpPr>
        <p:spPr>
          <a:xfrm>
            <a:off x="4251960" y="2468880"/>
            <a:ext cx="3383280" cy="3108960"/>
          </a:xfrm>
          <a:prstGeom prst="roundRect">
            <a:avLst>
              <a:gd name="adj" fmla="val 1765"/>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526280" y="2697480"/>
            <a:ext cx="2834640" cy="274320"/>
          </a:xfrm>
          <a:prstGeom prst="rect">
            <a:avLst/>
          </a:prstGeom>
          <a:noFill/>
          <a:ln/>
        </p:spPr>
        <p:txBody>
          <a:bodyPr wrap="square" rtlCol="0" anchor="ctr"/>
          <a:lstStyle/>
          <a:p>
            <a:pPr indent="0" marL="0">
              <a:buNone/>
            </a:pPr>
            <a:r>
              <a:rPr lang="en-US" sz="1000" b="1" spc="150" kern="0" dirty="0">
                <a:solidFill>
                  <a:srgbClr val="C8A227"/>
                </a:solidFill>
                <a:latin typeface="Calibri" pitchFamily="34" charset="0"/>
                <a:ea typeface="Calibri" pitchFamily="34" charset="-122"/>
                <a:cs typeface="Calibri" pitchFamily="34" charset="-120"/>
              </a:rPr>
              <a:t>MONTHLY REVENUE</a:t>
            </a:r>
            <a:endParaRPr lang="en-US" sz="1000" dirty="0"/>
          </a:p>
        </p:txBody>
      </p:sp>
      <p:sp>
        <p:nvSpPr>
          <p:cNvPr id="12" name="Text 10"/>
          <p:cNvSpPr/>
          <p:nvPr/>
        </p:nvSpPr>
        <p:spPr>
          <a:xfrm>
            <a:off x="4526280" y="2971800"/>
            <a:ext cx="2834640" cy="1051560"/>
          </a:xfrm>
          <a:prstGeom prst="rect">
            <a:avLst/>
          </a:prstGeom>
          <a:noFill/>
          <a:ln/>
        </p:spPr>
        <p:txBody>
          <a:bodyPr wrap="square" lIns="0" tIns="0" rIns="0" bIns="0" rtlCol="0" anchor="ctr"/>
          <a:lstStyle/>
          <a:p>
            <a:pPr indent="0" marL="0">
              <a:buNone/>
            </a:pPr>
            <a:r>
              <a:rPr lang="en-US" sz="4600" b="1" dirty="0">
                <a:solidFill>
                  <a:srgbClr val="1A1A1A"/>
                </a:solidFill>
                <a:latin typeface="Cambria" pitchFamily="34" charset="0"/>
                <a:ea typeface="Cambria" pitchFamily="34" charset="-122"/>
                <a:cs typeface="Cambria" pitchFamily="34" charset="-120"/>
              </a:rPr>
              <a:t>~$60K</a:t>
            </a:r>
            <a:endParaRPr lang="en-US" sz="4600" dirty="0"/>
          </a:p>
        </p:txBody>
      </p:sp>
      <p:sp>
        <p:nvSpPr>
          <p:cNvPr id="13" name="Text 11"/>
          <p:cNvSpPr/>
          <p:nvPr/>
        </p:nvSpPr>
        <p:spPr>
          <a:xfrm>
            <a:off x="4526280" y="4160520"/>
            <a:ext cx="2834640" cy="1234440"/>
          </a:xfrm>
          <a:prstGeom prst="rect">
            <a:avLst/>
          </a:prstGeom>
          <a:noFill/>
          <a:ln/>
        </p:spPr>
        <p:txBody>
          <a:bodyPr wrap="square" rtlCol="0" anchor="ctr"/>
          <a:lstStyle/>
          <a:p>
            <a:pPr indent="0" marL="0">
              <a:lnSpc>
                <a:spcPct val="125000"/>
              </a:lnSpc>
              <a:buNone/>
            </a:pPr>
            <a:r>
              <a:rPr lang="en-US" sz="1200" dirty="0">
                <a:solidFill>
                  <a:srgbClr val="4A4A4A"/>
                </a:solidFill>
                <a:latin typeface="Calibri" pitchFamily="34" charset="0"/>
                <a:ea typeface="Calibri" pitchFamily="34" charset="-122"/>
                <a:cs typeface="Calibri" pitchFamily="34" charset="-120"/>
              </a:rPr>
              <a:t>Solid and steady. But it can't grow further without more of Mark's hours, and there aren't more hours.</a:t>
            </a:r>
            <a:endParaRPr lang="en-US" sz="1200" dirty="0"/>
          </a:p>
        </p:txBody>
      </p:sp>
      <p:sp>
        <p:nvSpPr>
          <p:cNvPr id="14" name="Shape 12"/>
          <p:cNvSpPr/>
          <p:nvPr/>
        </p:nvSpPr>
        <p:spPr>
          <a:xfrm>
            <a:off x="7955280" y="2468880"/>
            <a:ext cx="3383280" cy="3108960"/>
          </a:xfrm>
          <a:prstGeom prst="roundRect">
            <a:avLst>
              <a:gd name="adj" fmla="val 1765"/>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8229600" y="2697480"/>
            <a:ext cx="2834640" cy="274320"/>
          </a:xfrm>
          <a:prstGeom prst="rect">
            <a:avLst/>
          </a:prstGeom>
          <a:noFill/>
          <a:ln/>
        </p:spPr>
        <p:txBody>
          <a:bodyPr wrap="square" rtlCol="0" anchor="ctr"/>
          <a:lstStyle/>
          <a:p>
            <a:pPr indent="0" marL="0">
              <a:buNone/>
            </a:pPr>
            <a:r>
              <a:rPr lang="en-US" sz="1000" b="1" spc="150" kern="0" dirty="0">
                <a:solidFill>
                  <a:srgbClr val="C8A227"/>
                </a:solidFill>
                <a:latin typeface="Calibri" pitchFamily="34" charset="0"/>
                <a:ea typeface="Calibri" pitchFamily="34" charset="-122"/>
                <a:cs typeface="Calibri" pitchFamily="34" charset="-120"/>
              </a:rPr>
              <a:t>THE FIX</a:t>
            </a:r>
            <a:endParaRPr lang="en-US" sz="1000" dirty="0"/>
          </a:p>
        </p:txBody>
      </p:sp>
      <p:sp>
        <p:nvSpPr>
          <p:cNvPr id="16" name="Text 14"/>
          <p:cNvSpPr/>
          <p:nvPr/>
        </p:nvSpPr>
        <p:spPr>
          <a:xfrm>
            <a:off x="8229600" y="2971800"/>
            <a:ext cx="2834640" cy="1051560"/>
          </a:xfrm>
          <a:prstGeom prst="rect">
            <a:avLst/>
          </a:prstGeom>
          <a:noFill/>
          <a:ln/>
        </p:spPr>
        <p:txBody>
          <a:bodyPr wrap="square" lIns="0" tIns="0" rIns="0" bIns="0" rtlCol="0" anchor="ctr"/>
          <a:lstStyle/>
          <a:p>
            <a:pPr indent="0" marL="0">
              <a:buNone/>
            </a:pPr>
            <a:r>
              <a:rPr lang="en-US" sz="4600" b="1" dirty="0">
                <a:solidFill>
                  <a:srgbClr val="1A1A1A"/>
                </a:solidFill>
                <a:latin typeface="Cambria" pitchFamily="34" charset="0"/>
                <a:ea typeface="Cambria" pitchFamily="34" charset="-122"/>
                <a:cs typeface="Cambria" pitchFamily="34" charset="-120"/>
              </a:rPr>
              <a:t>1 : many</a:t>
            </a:r>
            <a:endParaRPr lang="en-US" sz="4600" dirty="0"/>
          </a:p>
        </p:txBody>
      </p:sp>
      <p:sp>
        <p:nvSpPr>
          <p:cNvPr id="17" name="Text 15"/>
          <p:cNvSpPr/>
          <p:nvPr/>
        </p:nvSpPr>
        <p:spPr>
          <a:xfrm>
            <a:off x="8229600" y="4160520"/>
            <a:ext cx="2834640" cy="1234440"/>
          </a:xfrm>
          <a:prstGeom prst="rect">
            <a:avLst/>
          </a:prstGeom>
          <a:noFill/>
          <a:ln/>
        </p:spPr>
        <p:txBody>
          <a:bodyPr wrap="square" rtlCol="0" anchor="ctr"/>
          <a:lstStyle/>
          <a:p>
            <a:pPr indent="0" marL="0">
              <a:lnSpc>
                <a:spcPct val="125000"/>
              </a:lnSpc>
              <a:buNone/>
            </a:pPr>
            <a:r>
              <a:rPr lang="en-US" sz="1200" dirty="0">
                <a:solidFill>
                  <a:srgbClr val="4A4A4A"/>
                </a:solidFill>
                <a:latin typeface="Calibri" pitchFamily="34" charset="0"/>
                <a:ea typeface="Calibri" pitchFamily="34" charset="-122"/>
                <a:cs typeface="Calibri" pitchFamily="34" charset="-120"/>
              </a:rPr>
              <a:t>Package the same expertise, the same team, into an online model that scales without needing more of Mark's time per client.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THE VISION</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03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3000" b="1" dirty="0">
                <a:solidFill>
                  <a:srgbClr val="1A1A1A"/>
                </a:solidFill>
                <a:latin typeface="Cambria" pitchFamily="34" charset="0"/>
                <a:ea typeface="Cambria" pitchFamily="34" charset="-122"/>
                <a:cs typeface="Cambria" pitchFamily="34" charset="-120"/>
              </a:rPr>
              <a:t>Business Without You: get the owner out of the way of their own business.</a:t>
            </a:r>
            <a:endParaRPr lang="en-US" sz="3000" dirty="0"/>
          </a:p>
        </p:txBody>
      </p:sp>
      <p:sp>
        <p:nvSpPr>
          <p:cNvPr id="5" name="Text 3"/>
          <p:cNvSpPr/>
          <p:nvPr/>
        </p:nvSpPr>
        <p:spPr>
          <a:xfrm>
            <a:off x="548640" y="150876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The audience: owner-operators of $1M–$10M companies who are the bottleneck everything runs through. The promise is simple, provable, and led by the CFO expertise already inside Cool Hollow.</a:t>
            </a:r>
            <a:endParaRPr lang="en-US" sz="1350" dirty="0"/>
          </a:p>
        </p:txBody>
      </p:sp>
      <p:sp>
        <p:nvSpPr>
          <p:cNvPr id="6" name="Shape 4"/>
          <p:cNvSpPr/>
          <p:nvPr/>
        </p:nvSpPr>
        <p:spPr>
          <a:xfrm>
            <a:off x="548640" y="2468880"/>
            <a:ext cx="3383280" cy="3108960"/>
          </a:xfrm>
          <a:prstGeom prst="roundRect">
            <a:avLst>
              <a:gd name="adj" fmla="val 1765"/>
            </a:avLst>
          </a:prstGeom>
          <a:solidFill>
            <a:srgbClr val="1A1A1A"/>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822960" y="2697480"/>
            <a:ext cx="2834640" cy="274320"/>
          </a:xfrm>
          <a:prstGeom prst="rect">
            <a:avLst/>
          </a:prstGeom>
          <a:noFill/>
          <a:ln/>
        </p:spPr>
        <p:txBody>
          <a:bodyPr wrap="square" rtlCol="0" anchor="ctr"/>
          <a:lstStyle/>
          <a:p>
            <a:pPr indent="0" marL="0">
              <a:buNone/>
            </a:pPr>
            <a:r>
              <a:rPr lang="en-US" sz="1000" b="1" spc="150" kern="0" dirty="0">
                <a:solidFill>
                  <a:srgbClr val="E8C766"/>
                </a:solidFill>
                <a:latin typeface="Calibri" pitchFamily="34" charset="0"/>
                <a:ea typeface="Calibri" pitchFamily="34" charset="-122"/>
                <a:cs typeface="Calibri" pitchFamily="34" charset="-120"/>
              </a:rPr>
              <a:t>THE HEADLINE PROMISE</a:t>
            </a:r>
            <a:endParaRPr lang="en-US" sz="1000" dirty="0"/>
          </a:p>
        </p:txBody>
      </p:sp>
      <p:sp>
        <p:nvSpPr>
          <p:cNvPr id="8" name="Text 6"/>
          <p:cNvSpPr/>
          <p:nvPr/>
        </p:nvSpPr>
        <p:spPr>
          <a:xfrm>
            <a:off x="822960" y="2971800"/>
            <a:ext cx="2834640" cy="10515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15 hrs</a:t>
            </a:r>
            <a:endParaRPr lang="en-US" sz="4000" dirty="0"/>
          </a:p>
        </p:txBody>
      </p:sp>
      <p:sp>
        <p:nvSpPr>
          <p:cNvPr id="9" name="Text 7"/>
          <p:cNvSpPr/>
          <p:nvPr/>
        </p:nvSpPr>
        <p:spPr>
          <a:xfrm>
            <a:off x="822960" y="4160520"/>
            <a:ext cx="2834640" cy="1234440"/>
          </a:xfrm>
          <a:prstGeom prst="rect">
            <a:avLst/>
          </a:prstGeom>
          <a:noFill/>
          <a:ln/>
        </p:spPr>
        <p:txBody>
          <a:bodyPr wrap="square" rtlCol="0" anchor="ctr"/>
          <a:lstStyle/>
          <a:p>
            <a:pPr indent="0" marL="0">
              <a:lnSpc>
                <a:spcPct val="125000"/>
              </a:lnSpc>
              <a:buNone/>
            </a:pPr>
            <a:r>
              <a:rPr lang="en-US" sz="1200" dirty="0">
                <a:solidFill>
                  <a:srgbClr val="D8D8D8"/>
                </a:solidFill>
                <a:latin typeface="Calibri" pitchFamily="34" charset="0"/>
                <a:ea typeface="Calibri" pitchFamily="34" charset="-122"/>
                <a:cs typeface="Calibri" pitchFamily="34" charset="-120"/>
              </a:rPr>
              <a:t>Back in the owner's week, plus up to $50,000 in profit found already sitting inside the business.</a:t>
            </a:r>
            <a:endParaRPr lang="en-US" sz="1200" dirty="0"/>
          </a:p>
        </p:txBody>
      </p:sp>
      <p:sp>
        <p:nvSpPr>
          <p:cNvPr id="10" name="Shape 8"/>
          <p:cNvSpPr/>
          <p:nvPr/>
        </p:nvSpPr>
        <p:spPr>
          <a:xfrm>
            <a:off x="4251960" y="2468880"/>
            <a:ext cx="3383280" cy="3108960"/>
          </a:xfrm>
          <a:prstGeom prst="roundRect">
            <a:avLst>
              <a:gd name="adj" fmla="val 1765"/>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526280" y="2697480"/>
            <a:ext cx="2834640" cy="274320"/>
          </a:xfrm>
          <a:prstGeom prst="rect">
            <a:avLst/>
          </a:prstGeom>
          <a:noFill/>
          <a:ln/>
        </p:spPr>
        <p:txBody>
          <a:bodyPr wrap="square" rtlCol="0" anchor="ctr"/>
          <a:lstStyle/>
          <a:p>
            <a:pPr indent="0" marL="0">
              <a:buNone/>
            </a:pPr>
            <a:r>
              <a:rPr lang="en-US" sz="1000" b="1" spc="150" kern="0" dirty="0">
                <a:solidFill>
                  <a:srgbClr val="C8A227"/>
                </a:solidFill>
                <a:latin typeface="Calibri" pitchFamily="34" charset="0"/>
                <a:ea typeface="Calibri" pitchFamily="34" charset="-122"/>
                <a:cs typeface="Calibri" pitchFamily="34" charset="-120"/>
              </a:rPr>
              <a:t>LONG-TERM GOAL</a:t>
            </a:r>
            <a:endParaRPr lang="en-US" sz="1000" dirty="0"/>
          </a:p>
        </p:txBody>
      </p:sp>
      <p:sp>
        <p:nvSpPr>
          <p:cNvPr id="12" name="Text 10"/>
          <p:cNvSpPr/>
          <p:nvPr/>
        </p:nvSpPr>
        <p:spPr>
          <a:xfrm>
            <a:off x="4526280" y="2971800"/>
            <a:ext cx="2834640" cy="1051560"/>
          </a:xfrm>
          <a:prstGeom prst="rect">
            <a:avLst/>
          </a:prstGeom>
          <a:noFill/>
          <a:ln/>
        </p:spPr>
        <p:txBody>
          <a:bodyPr wrap="square" lIns="0" tIns="0" rIns="0" bIns="0" rtlCol="0" anchor="ctr"/>
          <a:lstStyle/>
          <a:p>
            <a:pPr indent="0" marL="0">
              <a:buNone/>
            </a:pPr>
            <a:r>
              <a:rPr lang="en-US" sz="4000" b="1" dirty="0">
                <a:solidFill>
                  <a:srgbClr val="1A1A1A"/>
                </a:solidFill>
                <a:latin typeface="Cambria" pitchFamily="34" charset="0"/>
                <a:ea typeface="Cambria" pitchFamily="34" charset="-122"/>
                <a:cs typeface="Cambria" pitchFamily="34" charset="-120"/>
              </a:rPr>
              <a:t>$3M / yr</a:t>
            </a:r>
            <a:endParaRPr lang="en-US" sz="4000" dirty="0"/>
          </a:p>
        </p:txBody>
      </p:sp>
      <p:sp>
        <p:nvSpPr>
          <p:cNvPr id="13" name="Text 11"/>
          <p:cNvSpPr/>
          <p:nvPr/>
        </p:nvSpPr>
        <p:spPr>
          <a:xfrm>
            <a:off x="4526280" y="4160520"/>
            <a:ext cx="2834640" cy="1234440"/>
          </a:xfrm>
          <a:prstGeom prst="rect">
            <a:avLst/>
          </a:prstGeom>
          <a:noFill/>
          <a:ln/>
        </p:spPr>
        <p:txBody>
          <a:bodyPr wrap="square" rtlCol="0" anchor="ctr"/>
          <a:lstStyle/>
          <a:p>
            <a:pPr indent="0" marL="0">
              <a:lnSpc>
                <a:spcPct val="125000"/>
              </a:lnSpc>
              <a:buNone/>
            </a:pPr>
            <a:r>
              <a:rPr lang="en-US" sz="1200" dirty="0">
                <a:solidFill>
                  <a:srgbClr val="4A4A4A"/>
                </a:solidFill>
                <a:latin typeface="Calibri" pitchFamily="34" charset="0"/>
                <a:ea typeface="Calibri" pitchFamily="34" charset="-122"/>
                <a:cs typeface="Calibri" pitchFamily="34" charset="-120"/>
              </a:rPr>
              <a:t>From 500 clients per year. A real second business line alongside Cool Hollow Solutions.</a:t>
            </a:r>
            <a:endParaRPr lang="en-US" sz="1200" dirty="0"/>
          </a:p>
        </p:txBody>
      </p:sp>
      <p:sp>
        <p:nvSpPr>
          <p:cNvPr id="14" name="Shape 12"/>
          <p:cNvSpPr/>
          <p:nvPr/>
        </p:nvSpPr>
        <p:spPr>
          <a:xfrm>
            <a:off x="7955280" y="2468880"/>
            <a:ext cx="3383280" cy="3108960"/>
          </a:xfrm>
          <a:prstGeom prst="roundRect">
            <a:avLst>
              <a:gd name="adj" fmla="val 1765"/>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8229600" y="2697480"/>
            <a:ext cx="2834640" cy="274320"/>
          </a:xfrm>
          <a:prstGeom prst="rect">
            <a:avLst/>
          </a:prstGeom>
          <a:noFill/>
          <a:ln/>
        </p:spPr>
        <p:txBody>
          <a:bodyPr wrap="square" rtlCol="0" anchor="ctr"/>
          <a:lstStyle/>
          <a:p>
            <a:pPr indent="0" marL="0">
              <a:buNone/>
            </a:pPr>
            <a:r>
              <a:rPr lang="en-US" sz="1000" b="1" spc="150" kern="0" dirty="0">
                <a:solidFill>
                  <a:srgbClr val="C8A227"/>
                </a:solidFill>
                <a:latin typeface="Calibri" pitchFamily="34" charset="0"/>
                <a:ea typeface="Calibri" pitchFamily="34" charset="-122"/>
                <a:cs typeface="Calibri" pitchFamily="34" charset="-120"/>
              </a:rPr>
              <a:t>THE PHILOSOPHY</a:t>
            </a:r>
            <a:endParaRPr lang="en-US" sz="1000" dirty="0"/>
          </a:p>
        </p:txBody>
      </p:sp>
      <p:sp>
        <p:nvSpPr>
          <p:cNvPr id="16" name="Text 14"/>
          <p:cNvSpPr/>
          <p:nvPr/>
        </p:nvSpPr>
        <p:spPr>
          <a:xfrm>
            <a:off x="8229600" y="2971800"/>
            <a:ext cx="2834640" cy="1051560"/>
          </a:xfrm>
          <a:prstGeom prst="rect">
            <a:avLst/>
          </a:prstGeom>
          <a:noFill/>
          <a:ln/>
        </p:spPr>
        <p:txBody>
          <a:bodyPr wrap="square" lIns="0" tIns="0" rIns="0" bIns="0" rtlCol="0" anchor="ctr"/>
          <a:lstStyle/>
          <a:p>
            <a:pPr indent="0" marL="0">
              <a:buNone/>
            </a:pPr>
            <a:r>
              <a:rPr lang="en-US" sz="4000" b="1" dirty="0">
                <a:solidFill>
                  <a:srgbClr val="1A1A1A"/>
                </a:solidFill>
                <a:latin typeface="Cambria" pitchFamily="34" charset="0"/>
                <a:ea typeface="Cambria" pitchFamily="34" charset="-122"/>
                <a:cs typeface="Cambria" pitchFamily="34" charset="-120"/>
              </a:rPr>
              <a:t>10x &gt; 2x</a:t>
            </a:r>
            <a:endParaRPr lang="en-US" sz="4000" dirty="0"/>
          </a:p>
        </p:txBody>
      </p:sp>
      <p:sp>
        <p:nvSpPr>
          <p:cNvPr id="17" name="Text 15"/>
          <p:cNvSpPr/>
          <p:nvPr/>
        </p:nvSpPr>
        <p:spPr>
          <a:xfrm>
            <a:off x="8229600" y="4160520"/>
            <a:ext cx="2834640" cy="1234440"/>
          </a:xfrm>
          <a:prstGeom prst="rect">
            <a:avLst/>
          </a:prstGeom>
          <a:noFill/>
          <a:ln/>
        </p:spPr>
        <p:txBody>
          <a:bodyPr wrap="square" rtlCol="0" anchor="ctr"/>
          <a:lstStyle/>
          <a:p>
            <a:pPr indent="0" marL="0">
              <a:lnSpc>
                <a:spcPct val="125000"/>
              </a:lnSpc>
              <a:buNone/>
            </a:pPr>
            <a:r>
              <a:rPr lang="en-US" sz="1200" dirty="0">
                <a:solidFill>
                  <a:srgbClr val="4A4A4A"/>
                </a:solidFill>
                <a:latin typeface="Calibri" pitchFamily="34" charset="0"/>
                <a:ea typeface="Calibri" pitchFamily="34" charset="-122"/>
                <a:cs typeface="Calibri" pitchFamily="34" charset="-120"/>
              </a:rPr>
              <a:t>“10x is easier than 2x.” We push owners toward structural change, not incremental tweaks.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WHAT'S BEEN BUILT · CURRICULUM</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04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700" b="1" dirty="0">
                <a:solidFill>
                  <a:srgbClr val="1A1A1A"/>
                </a:solidFill>
                <a:latin typeface="Cambria" pitchFamily="34" charset="0"/>
                <a:ea typeface="Cambria" pitchFamily="34" charset="-122"/>
                <a:cs typeface="Cambria" pitchFamily="34" charset="-120"/>
              </a:rPr>
              <a:t>The 12-week curriculum is built, tested, and structured to stick.</a:t>
            </a:r>
            <a:endParaRPr lang="en-US" sz="2700" dirty="0"/>
          </a:p>
        </p:txBody>
      </p:sp>
      <p:sp>
        <p:nvSpPr>
          <p:cNvPr id="5" name="Text 3"/>
          <p:cNvSpPr/>
          <p:nvPr/>
        </p:nvSpPr>
        <p:spPr>
          <a:xfrm>
            <a:off x="548640" y="141732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Seven milestones, rebuilt with Mike (our Senteo consultant) around a Learn, See, Do, Extend flow so owners get a practice rep before touching their own numbers. Every video capped at 8-15 minutes.</a:t>
            </a:r>
            <a:endParaRPr lang="en-US" sz="1350" dirty="0"/>
          </a:p>
        </p:txBody>
      </p:sp>
      <p:sp>
        <p:nvSpPr>
          <p:cNvPr id="6" name="Shape 4"/>
          <p:cNvSpPr/>
          <p:nvPr/>
        </p:nvSpPr>
        <p:spPr>
          <a:xfrm>
            <a:off x="548640" y="2286000"/>
            <a:ext cx="5349240" cy="1874520"/>
          </a:xfrm>
          <a:prstGeom prst="roundRect">
            <a:avLst>
              <a:gd name="adj" fmla="val 2439"/>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822960" y="2514600"/>
            <a:ext cx="868680" cy="292608"/>
          </a:xfrm>
          <a:prstGeom prst="roundRect">
            <a:avLst>
              <a:gd name="adj" fmla="val 50000"/>
            </a:avLst>
          </a:prstGeom>
          <a:solidFill>
            <a:srgbClr val="F7EFD6"/>
          </a:solidFill>
          <a:ln/>
        </p:spPr>
      </p:sp>
      <p:sp>
        <p:nvSpPr>
          <p:cNvPr id="8" name="Text 6"/>
          <p:cNvSpPr/>
          <p:nvPr/>
        </p:nvSpPr>
        <p:spPr>
          <a:xfrm>
            <a:off x="822960" y="2514600"/>
            <a:ext cx="868680" cy="292608"/>
          </a:xfrm>
          <a:prstGeom prst="rect">
            <a:avLst/>
          </a:prstGeom>
          <a:noFill/>
          <a:ln/>
        </p:spPr>
        <p:txBody>
          <a:bodyPr wrap="square" lIns="0" tIns="0" rIns="0" bIns="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M1-M3</a:t>
            </a:r>
            <a:endParaRPr lang="en-US" sz="1000" dirty="0"/>
          </a:p>
        </p:txBody>
      </p:sp>
      <p:sp>
        <p:nvSpPr>
          <p:cNvPr id="9" name="Text 7"/>
          <p:cNvSpPr/>
          <p:nvPr/>
        </p:nvSpPr>
        <p:spPr>
          <a:xfrm>
            <a:off x="822960" y="2852928"/>
            <a:ext cx="4800600" cy="365760"/>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Reclaim, Define, Install</a:t>
            </a:r>
            <a:endParaRPr lang="en-US" sz="1600" dirty="0"/>
          </a:p>
        </p:txBody>
      </p:sp>
      <p:sp>
        <p:nvSpPr>
          <p:cNvPr id="10" name="Text 8"/>
          <p:cNvSpPr/>
          <p:nvPr/>
        </p:nvSpPr>
        <p:spPr>
          <a:xfrm>
            <a:off x="822960" y="3246120"/>
            <a:ext cx="4800600" cy="822960"/>
          </a:xfrm>
          <a:prstGeom prst="rect">
            <a:avLst/>
          </a:prstGeom>
          <a:noFill/>
          <a:ln/>
        </p:spPr>
        <p:txBody>
          <a:bodyPr wrap="square" rtlCol="0" anchor="ctr"/>
          <a:lstStyle/>
          <a:p>
            <a:pPr indent="0" marL="0">
              <a:lnSpc>
                <a:spcPct val="120000"/>
              </a:lnSpc>
              <a:buNone/>
            </a:pPr>
            <a:r>
              <a:rPr lang="en-US" sz="1150" dirty="0">
                <a:solidFill>
                  <a:srgbClr val="4A4A4A"/>
                </a:solidFill>
                <a:latin typeface="Calibri" pitchFamily="34" charset="0"/>
                <a:ea typeface="Calibri" pitchFamily="34" charset="-122"/>
                <a:cs typeface="Calibri" pitchFamily="34" charset="-120"/>
              </a:rPr>
              <a:t>Get the owner's time and identity back, define where the business is going, install a five-metric Monday dashboard.</a:t>
            </a:r>
            <a:endParaRPr lang="en-US" sz="1150" dirty="0"/>
          </a:p>
        </p:txBody>
      </p:sp>
      <p:sp>
        <p:nvSpPr>
          <p:cNvPr id="11" name="Shape 9"/>
          <p:cNvSpPr/>
          <p:nvPr/>
        </p:nvSpPr>
        <p:spPr>
          <a:xfrm>
            <a:off x="6217920" y="2286000"/>
            <a:ext cx="5349240" cy="1874520"/>
          </a:xfrm>
          <a:prstGeom prst="roundRect">
            <a:avLst>
              <a:gd name="adj" fmla="val 2439"/>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6492240" y="2514600"/>
            <a:ext cx="868680" cy="292608"/>
          </a:xfrm>
          <a:prstGeom prst="roundRect">
            <a:avLst>
              <a:gd name="adj" fmla="val 50000"/>
            </a:avLst>
          </a:prstGeom>
          <a:solidFill>
            <a:srgbClr val="F7EFD6"/>
          </a:solidFill>
          <a:ln/>
        </p:spPr>
      </p:sp>
      <p:sp>
        <p:nvSpPr>
          <p:cNvPr id="13" name="Text 11"/>
          <p:cNvSpPr/>
          <p:nvPr/>
        </p:nvSpPr>
        <p:spPr>
          <a:xfrm>
            <a:off x="6492240" y="2514600"/>
            <a:ext cx="868680" cy="292608"/>
          </a:xfrm>
          <a:prstGeom prst="rect">
            <a:avLst/>
          </a:prstGeom>
          <a:noFill/>
          <a:ln/>
        </p:spPr>
        <p:txBody>
          <a:bodyPr wrap="square" lIns="0" tIns="0" rIns="0" bIns="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M4-M5</a:t>
            </a:r>
            <a:endParaRPr lang="en-US" sz="1000" dirty="0"/>
          </a:p>
        </p:txBody>
      </p:sp>
      <p:sp>
        <p:nvSpPr>
          <p:cNvPr id="14" name="Text 12"/>
          <p:cNvSpPr/>
          <p:nvPr/>
        </p:nvSpPr>
        <p:spPr>
          <a:xfrm>
            <a:off x="6492240" y="2852928"/>
            <a:ext cx="4800600" cy="365760"/>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Break the Constraint, Find the Money</a:t>
            </a:r>
            <a:endParaRPr lang="en-US" sz="1600" dirty="0"/>
          </a:p>
        </p:txBody>
      </p:sp>
      <p:sp>
        <p:nvSpPr>
          <p:cNvPr id="15" name="Text 13"/>
          <p:cNvSpPr/>
          <p:nvPr/>
        </p:nvSpPr>
        <p:spPr>
          <a:xfrm>
            <a:off x="6492240" y="3246120"/>
            <a:ext cx="4800600" cy="822960"/>
          </a:xfrm>
          <a:prstGeom prst="rect">
            <a:avLst/>
          </a:prstGeom>
          <a:noFill/>
          <a:ln/>
        </p:spPr>
        <p:txBody>
          <a:bodyPr wrap="square" rtlCol="0" anchor="ctr"/>
          <a:lstStyle/>
          <a:p>
            <a:pPr indent="0" marL="0">
              <a:lnSpc>
                <a:spcPct val="120000"/>
              </a:lnSpc>
              <a:buNone/>
            </a:pPr>
            <a:r>
              <a:rPr lang="en-US" sz="1150" dirty="0">
                <a:solidFill>
                  <a:srgbClr val="4A4A4A"/>
                </a:solidFill>
                <a:latin typeface="Calibri" pitchFamily="34" charset="0"/>
                <a:ea typeface="Calibri" pitchFamily="34" charset="-122"/>
                <a:cs typeface="Calibri" pitchFamily="34" charset="-120"/>
              </a:rPr>
              <a:t>Find and remove the single thing holding growth back, then surface $50,000+ in profit already inside the business.</a:t>
            </a:r>
            <a:endParaRPr lang="en-US" sz="1150" dirty="0"/>
          </a:p>
        </p:txBody>
      </p:sp>
      <p:sp>
        <p:nvSpPr>
          <p:cNvPr id="16" name="Shape 14"/>
          <p:cNvSpPr/>
          <p:nvPr/>
        </p:nvSpPr>
        <p:spPr>
          <a:xfrm>
            <a:off x="548640" y="4434840"/>
            <a:ext cx="5349240" cy="1874520"/>
          </a:xfrm>
          <a:prstGeom prst="roundRect">
            <a:avLst>
              <a:gd name="adj" fmla="val 2439"/>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822960" y="4663440"/>
            <a:ext cx="868680" cy="292608"/>
          </a:xfrm>
          <a:prstGeom prst="roundRect">
            <a:avLst>
              <a:gd name="adj" fmla="val 50000"/>
            </a:avLst>
          </a:prstGeom>
          <a:solidFill>
            <a:srgbClr val="F7EFD6"/>
          </a:solidFill>
          <a:ln/>
        </p:spPr>
      </p:sp>
      <p:sp>
        <p:nvSpPr>
          <p:cNvPr id="18" name="Text 16"/>
          <p:cNvSpPr/>
          <p:nvPr/>
        </p:nvSpPr>
        <p:spPr>
          <a:xfrm>
            <a:off x="822960" y="4663440"/>
            <a:ext cx="868680" cy="292608"/>
          </a:xfrm>
          <a:prstGeom prst="rect">
            <a:avLst/>
          </a:prstGeom>
          <a:noFill/>
          <a:ln/>
        </p:spPr>
        <p:txBody>
          <a:bodyPr wrap="square" lIns="0" tIns="0" rIns="0" bIns="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M6</a:t>
            </a:r>
            <a:endParaRPr lang="en-US" sz="1000" dirty="0"/>
          </a:p>
        </p:txBody>
      </p:sp>
      <p:sp>
        <p:nvSpPr>
          <p:cNvPr id="19" name="Text 17"/>
          <p:cNvSpPr/>
          <p:nvPr/>
        </p:nvSpPr>
        <p:spPr>
          <a:xfrm>
            <a:off x="822960" y="5001768"/>
            <a:ext cx="4800600" cy="365760"/>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Cash-Flow Confidence</a:t>
            </a:r>
            <a:endParaRPr lang="en-US" sz="1600" dirty="0"/>
          </a:p>
        </p:txBody>
      </p:sp>
      <p:sp>
        <p:nvSpPr>
          <p:cNvPr id="20" name="Text 18"/>
          <p:cNvSpPr/>
          <p:nvPr/>
        </p:nvSpPr>
        <p:spPr>
          <a:xfrm>
            <a:off x="822960" y="5394960"/>
            <a:ext cx="4800600" cy="822960"/>
          </a:xfrm>
          <a:prstGeom prst="rect">
            <a:avLst/>
          </a:prstGeom>
          <a:noFill/>
          <a:ln/>
        </p:spPr>
        <p:txBody>
          <a:bodyPr wrap="square" rtlCol="0" anchor="ctr"/>
          <a:lstStyle/>
          <a:p>
            <a:pPr indent="0" marL="0">
              <a:lnSpc>
                <a:spcPct val="120000"/>
              </a:lnSpc>
              <a:buNone/>
            </a:pPr>
            <a:r>
              <a:rPr lang="en-US" sz="1150" dirty="0">
                <a:solidFill>
                  <a:srgbClr val="4A4A4A"/>
                </a:solidFill>
                <a:latin typeface="Calibri" pitchFamily="34" charset="0"/>
                <a:ea typeface="Calibri" pitchFamily="34" charset="-122"/>
                <a:cs typeface="Calibri" pitchFamily="34" charset="-120"/>
              </a:rPr>
              <a:t>A 13-week rolling cash forecast, so the owner can sleep at night knowing what's coming.</a:t>
            </a:r>
            <a:endParaRPr lang="en-US" sz="1150" dirty="0"/>
          </a:p>
        </p:txBody>
      </p:sp>
      <p:sp>
        <p:nvSpPr>
          <p:cNvPr id="21" name="Shape 19"/>
          <p:cNvSpPr/>
          <p:nvPr/>
        </p:nvSpPr>
        <p:spPr>
          <a:xfrm>
            <a:off x="6217920" y="4434840"/>
            <a:ext cx="5349240" cy="1874520"/>
          </a:xfrm>
          <a:prstGeom prst="roundRect">
            <a:avLst>
              <a:gd name="adj" fmla="val 2439"/>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22" name="Shape 20"/>
          <p:cNvSpPr/>
          <p:nvPr/>
        </p:nvSpPr>
        <p:spPr>
          <a:xfrm>
            <a:off x="6492240" y="4663440"/>
            <a:ext cx="868680" cy="292608"/>
          </a:xfrm>
          <a:prstGeom prst="roundRect">
            <a:avLst>
              <a:gd name="adj" fmla="val 50000"/>
            </a:avLst>
          </a:prstGeom>
          <a:solidFill>
            <a:srgbClr val="F7EFD6"/>
          </a:solidFill>
          <a:ln/>
        </p:spPr>
      </p:sp>
      <p:sp>
        <p:nvSpPr>
          <p:cNvPr id="23" name="Text 21"/>
          <p:cNvSpPr/>
          <p:nvPr/>
        </p:nvSpPr>
        <p:spPr>
          <a:xfrm>
            <a:off x="6492240" y="4663440"/>
            <a:ext cx="868680" cy="292608"/>
          </a:xfrm>
          <a:prstGeom prst="rect">
            <a:avLst/>
          </a:prstGeom>
          <a:noFill/>
          <a:ln/>
        </p:spPr>
        <p:txBody>
          <a:bodyPr wrap="square" lIns="0" tIns="0" rIns="0" bIns="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M7</a:t>
            </a:r>
            <a:endParaRPr lang="en-US" sz="1000" dirty="0"/>
          </a:p>
        </p:txBody>
      </p:sp>
      <p:sp>
        <p:nvSpPr>
          <p:cNvPr id="24" name="Text 22"/>
          <p:cNvSpPr/>
          <p:nvPr/>
        </p:nvSpPr>
        <p:spPr>
          <a:xfrm>
            <a:off x="6492240" y="5001768"/>
            <a:ext cx="4800600" cy="365760"/>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Build the Team</a:t>
            </a:r>
            <a:endParaRPr lang="en-US" sz="1600" dirty="0"/>
          </a:p>
        </p:txBody>
      </p:sp>
      <p:sp>
        <p:nvSpPr>
          <p:cNvPr id="25" name="Text 23"/>
          <p:cNvSpPr/>
          <p:nvPr/>
        </p:nvSpPr>
        <p:spPr>
          <a:xfrm>
            <a:off x="6492240" y="5394960"/>
            <a:ext cx="4800600" cy="822960"/>
          </a:xfrm>
          <a:prstGeom prst="rect">
            <a:avLst/>
          </a:prstGeom>
          <a:noFill/>
          <a:ln/>
        </p:spPr>
        <p:txBody>
          <a:bodyPr wrap="square" rtlCol="0" anchor="ctr"/>
          <a:lstStyle/>
          <a:p>
            <a:pPr indent="0" marL="0">
              <a:lnSpc>
                <a:spcPct val="120000"/>
              </a:lnSpc>
              <a:buNone/>
            </a:pPr>
            <a:r>
              <a:rPr lang="en-US" sz="1150" dirty="0">
                <a:solidFill>
                  <a:srgbClr val="4A4A4A"/>
                </a:solidFill>
                <a:latin typeface="Calibri" pitchFamily="34" charset="0"/>
                <a:ea typeface="Calibri" pitchFamily="34" charset="-122"/>
                <a:cs typeface="Calibri" pitchFamily="34" charset="-120"/>
              </a:rPr>
              <a:t>So the business runs without the owner in every seat. Hannah's expertise plugs straight in here.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WHAT'S BEEN BUILT · THE TOOLS</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05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700" b="1" dirty="0">
                <a:solidFill>
                  <a:srgbClr val="1A1A1A"/>
                </a:solidFill>
                <a:latin typeface="Cambria" pitchFamily="34" charset="0"/>
                <a:ea typeface="Cambria" pitchFamily="34" charset="-122"/>
                <a:cs typeface="Cambria" pitchFamily="34" charset="-120"/>
              </a:rPr>
              <a:t>Every milestone has a working tool behind it. Real software, not slideware.</a:t>
            </a:r>
            <a:endParaRPr lang="en-US" sz="2700" dirty="0"/>
          </a:p>
        </p:txBody>
      </p:sp>
      <p:sp>
        <p:nvSpPr>
          <p:cNvPr id="5" name="Text 3"/>
          <p:cNvSpPr/>
          <p:nvPr/>
        </p:nvSpPr>
        <p:spPr>
          <a:xfrm>
            <a:off x="548640" y="141732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All seven milestone models are built and backtested against real client P&amp;Ls, plus a free public tool already live. The next three slides show exactly how three of them work.</a:t>
            </a:r>
            <a:endParaRPr lang="en-US" sz="1350" dirty="0"/>
          </a:p>
        </p:txBody>
      </p:sp>
      <p:sp>
        <p:nvSpPr>
          <p:cNvPr id="6" name="Shape 4"/>
          <p:cNvSpPr/>
          <p:nvPr/>
        </p:nvSpPr>
        <p:spPr>
          <a:xfrm>
            <a:off x="548640" y="2240280"/>
            <a:ext cx="2724912" cy="1783080"/>
          </a:xfrm>
          <a:prstGeom prst="roundRect">
            <a:avLst>
              <a:gd name="adj" fmla="val 256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777240" y="2441448"/>
            <a:ext cx="457200" cy="457200"/>
          </a:xfrm>
          <a:prstGeom prst="ellipse">
            <a:avLst/>
          </a:prstGeom>
          <a:solidFill>
            <a:srgbClr val="F7EFD6"/>
          </a:solidFill>
          <a:ln/>
        </p:spPr>
      </p:sp>
      <p:pic>
        <p:nvPicPr>
          <p:cNvPr id="8" name="Image 0" descr="preencoded.png">    </p:cNvPr>
          <p:cNvPicPr>
            <a:picLocks noChangeAspect="1"/>
          </p:cNvPicPr>
          <p:nvPr/>
        </p:nvPicPr>
        <p:blipFill>
          <a:blip r:embed="rId1"/>
          <a:stretch>
            <a:fillRect/>
          </a:stretch>
        </p:blipFill>
        <p:spPr>
          <a:xfrm>
            <a:off x="877824" y="2542032"/>
            <a:ext cx="256032" cy="256032"/>
          </a:xfrm>
          <a:prstGeom prst="rect">
            <a:avLst/>
          </a:prstGeom>
        </p:spPr>
      </p:pic>
      <p:sp>
        <p:nvSpPr>
          <p:cNvPr id="9" name="Text 6"/>
          <p:cNvSpPr/>
          <p:nvPr/>
        </p:nvSpPr>
        <p:spPr>
          <a:xfrm>
            <a:off x="749808" y="3017520"/>
            <a:ext cx="2322576"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mbria" pitchFamily="34" charset="0"/>
                <a:ea typeface="Cambria" pitchFamily="34" charset="-122"/>
                <a:cs typeface="Cambria" pitchFamily="34" charset="-120"/>
              </a:rPr>
              <a:t>15-Hour Reclaim Protocol</a:t>
            </a:r>
            <a:endParaRPr lang="en-US" sz="1250" dirty="0"/>
          </a:p>
        </p:txBody>
      </p:sp>
      <p:sp>
        <p:nvSpPr>
          <p:cNvPr id="10" name="Text 7"/>
          <p:cNvSpPr/>
          <p:nvPr/>
        </p:nvSpPr>
        <p:spPr>
          <a:xfrm>
            <a:off x="749808" y="3502152"/>
            <a:ext cx="2322576" cy="457200"/>
          </a:xfrm>
          <a:prstGeom prst="rect">
            <a:avLst/>
          </a:prstGeom>
          <a:noFill/>
          <a:ln/>
        </p:spPr>
        <p:txBody>
          <a:bodyPr wrap="square" rtlCol="0" anchor="ctr"/>
          <a:lstStyle/>
          <a:p>
            <a:pPr indent="0" marL="0">
              <a:lnSpc>
                <a:spcPct val="115000"/>
              </a:lnSpc>
              <a:buNone/>
            </a:pPr>
            <a:r>
              <a:rPr lang="en-US" sz="950" dirty="0">
                <a:solidFill>
                  <a:srgbClr val="4A4A4A"/>
                </a:solidFill>
                <a:latin typeface="Calibri" pitchFamily="34" charset="0"/>
                <a:ea typeface="Calibri" pitchFamily="34" charset="-122"/>
                <a:cs typeface="Calibri" pitchFamily="34" charset="-120"/>
              </a:rPr>
              <a:t>M1 — scores a time log, ranks delegate / automate / eliminate candidates</a:t>
            </a:r>
            <a:endParaRPr lang="en-US" sz="950" dirty="0"/>
          </a:p>
        </p:txBody>
      </p:sp>
      <p:sp>
        <p:nvSpPr>
          <p:cNvPr id="11" name="Shape 8"/>
          <p:cNvSpPr/>
          <p:nvPr/>
        </p:nvSpPr>
        <p:spPr>
          <a:xfrm>
            <a:off x="3419856" y="2240280"/>
            <a:ext cx="2724912" cy="1783080"/>
          </a:xfrm>
          <a:prstGeom prst="roundRect">
            <a:avLst>
              <a:gd name="adj" fmla="val 256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2" name="Shape 9"/>
          <p:cNvSpPr/>
          <p:nvPr/>
        </p:nvSpPr>
        <p:spPr>
          <a:xfrm>
            <a:off x="3648456" y="2441448"/>
            <a:ext cx="457200" cy="457200"/>
          </a:xfrm>
          <a:prstGeom prst="ellipse">
            <a:avLst/>
          </a:prstGeom>
          <a:solidFill>
            <a:srgbClr val="F7EFD6"/>
          </a:solidFill>
          <a:ln/>
        </p:spPr>
      </p:sp>
      <p:pic>
        <p:nvPicPr>
          <p:cNvPr id="13" name="Image 1" descr="preencoded.png">    </p:cNvPr>
          <p:cNvPicPr>
            <a:picLocks noChangeAspect="1"/>
          </p:cNvPicPr>
          <p:nvPr/>
        </p:nvPicPr>
        <p:blipFill>
          <a:blip r:embed="rId2"/>
          <a:stretch>
            <a:fillRect/>
          </a:stretch>
        </p:blipFill>
        <p:spPr>
          <a:xfrm>
            <a:off x="3749040" y="2542032"/>
            <a:ext cx="256032" cy="256032"/>
          </a:xfrm>
          <a:prstGeom prst="rect">
            <a:avLst/>
          </a:prstGeom>
        </p:spPr>
      </p:pic>
      <p:sp>
        <p:nvSpPr>
          <p:cNvPr id="14" name="Text 10"/>
          <p:cNvSpPr/>
          <p:nvPr/>
        </p:nvSpPr>
        <p:spPr>
          <a:xfrm>
            <a:off x="3621024" y="3017520"/>
            <a:ext cx="2322576"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mbria" pitchFamily="34" charset="0"/>
                <a:ea typeface="Cambria" pitchFamily="34" charset="-122"/>
                <a:cs typeface="Cambria" pitchFamily="34" charset="-120"/>
              </a:rPr>
              <a:t>12-Month Impact Map</a:t>
            </a:r>
            <a:endParaRPr lang="en-US" sz="1250" dirty="0"/>
          </a:p>
        </p:txBody>
      </p:sp>
      <p:sp>
        <p:nvSpPr>
          <p:cNvPr id="15" name="Text 11"/>
          <p:cNvSpPr/>
          <p:nvPr/>
        </p:nvSpPr>
        <p:spPr>
          <a:xfrm>
            <a:off x="3621024" y="3502152"/>
            <a:ext cx="2322576" cy="457200"/>
          </a:xfrm>
          <a:prstGeom prst="rect">
            <a:avLst/>
          </a:prstGeom>
          <a:noFill/>
          <a:ln/>
        </p:spPr>
        <p:txBody>
          <a:bodyPr wrap="square" rtlCol="0" anchor="ctr"/>
          <a:lstStyle/>
          <a:p>
            <a:pPr indent="0" marL="0">
              <a:lnSpc>
                <a:spcPct val="115000"/>
              </a:lnSpc>
              <a:buNone/>
            </a:pPr>
            <a:r>
              <a:rPr lang="en-US" sz="950" dirty="0">
                <a:solidFill>
                  <a:srgbClr val="4A4A4A"/>
                </a:solidFill>
                <a:latin typeface="Calibri" pitchFamily="34" charset="0"/>
                <a:ea typeface="Calibri" pitchFamily="34" charset="-122"/>
                <a:cs typeface="Calibri" pitchFamily="34" charset="-120"/>
              </a:rPr>
              <a:t>M2 — applies the Strategy Razor, outputs 3-5 kept priorities</a:t>
            </a:r>
            <a:endParaRPr lang="en-US" sz="950" dirty="0"/>
          </a:p>
        </p:txBody>
      </p:sp>
      <p:sp>
        <p:nvSpPr>
          <p:cNvPr id="16" name="Shape 12"/>
          <p:cNvSpPr/>
          <p:nvPr/>
        </p:nvSpPr>
        <p:spPr>
          <a:xfrm>
            <a:off x="6291072" y="2240280"/>
            <a:ext cx="2724912" cy="1783080"/>
          </a:xfrm>
          <a:prstGeom prst="roundRect">
            <a:avLst>
              <a:gd name="adj" fmla="val 256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7" name="Shape 13"/>
          <p:cNvSpPr/>
          <p:nvPr/>
        </p:nvSpPr>
        <p:spPr>
          <a:xfrm>
            <a:off x="6519672" y="2441448"/>
            <a:ext cx="457200" cy="457200"/>
          </a:xfrm>
          <a:prstGeom prst="ellipse">
            <a:avLst/>
          </a:prstGeom>
          <a:solidFill>
            <a:srgbClr val="F7EFD6"/>
          </a:solidFill>
          <a:ln/>
        </p:spPr>
      </p:sp>
      <p:pic>
        <p:nvPicPr>
          <p:cNvPr id="18" name="Image 2" descr="preencoded.png">    </p:cNvPr>
          <p:cNvPicPr>
            <a:picLocks noChangeAspect="1"/>
          </p:cNvPicPr>
          <p:nvPr/>
        </p:nvPicPr>
        <p:blipFill>
          <a:blip r:embed="rId3"/>
          <a:stretch>
            <a:fillRect/>
          </a:stretch>
        </p:blipFill>
        <p:spPr>
          <a:xfrm>
            <a:off x="6620256" y="2542032"/>
            <a:ext cx="256032" cy="256032"/>
          </a:xfrm>
          <a:prstGeom prst="rect">
            <a:avLst/>
          </a:prstGeom>
        </p:spPr>
      </p:pic>
      <p:sp>
        <p:nvSpPr>
          <p:cNvPr id="19" name="Text 14"/>
          <p:cNvSpPr/>
          <p:nvPr/>
        </p:nvSpPr>
        <p:spPr>
          <a:xfrm>
            <a:off x="6492240" y="3017520"/>
            <a:ext cx="2322576"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mbria" pitchFamily="34" charset="0"/>
                <a:ea typeface="Cambria" pitchFamily="34" charset="-122"/>
                <a:cs typeface="Cambria" pitchFamily="34" charset="-120"/>
              </a:rPr>
              <a:t>Monday Morning Dashboard</a:t>
            </a:r>
            <a:endParaRPr lang="en-US" sz="1250" dirty="0"/>
          </a:p>
        </p:txBody>
      </p:sp>
      <p:sp>
        <p:nvSpPr>
          <p:cNvPr id="20" name="Text 15"/>
          <p:cNvSpPr/>
          <p:nvPr/>
        </p:nvSpPr>
        <p:spPr>
          <a:xfrm>
            <a:off x="6492240" y="3502152"/>
            <a:ext cx="2322576" cy="457200"/>
          </a:xfrm>
          <a:prstGeom prst="rect">
            <a:avLst/>
          </a:prstGeom>
          <a:noFill/>
          <a:ln/>
        </p:spPr>
        <p:txBody>
          <a:bodyPr wrap="square" rtlCol="0" anchor="ctr"/>
          <a:lstStyle/>
          <a:p>
            <a:pPr indent="0" marL="0">
              <a:lnSpc>
                <a:spcPct val="115000"/>
              </a:lnSpc>
              <a:buNone/>
            </a:pPr>
            <a:r>
              <a:rPr lang="en-US" sz="950" dirty="0">
                <a:solidFill>
                  <a:srgbClr val="4A4A4A"/>
                </a:solidFill>
                <a:latin typeface="Calibri" pitchFamily="34" charset="0"/>
                <a:ea typeface="Calibri" pitchFamily="34" charset="-122"/>
                <a:cs typeface="Calibri" pitchFamily="34" charset="-120"/>
              </a:rPr>
              <a:t>M3 — picks 5 metrics, sets red/yellow/green thresholds</a:t>
            </a:r>
            <a:endParaRPr lang="en-US" sz="950" dirty="0"/>
          </a:p>
        </p:txBody>
      </p:sp>
      <p:sp>
        <p:nvSpPr>
          <p:cNvPr id="21" name="Shape 16"/>
          <p:cNvSpPr/>
          <p:nvPr/>
        </p:nvSpPr>
        <p:spPr>
          <a:xfrm>
            <a:off x="9162288" y="2240280"/>
            <a:ext cx="2724912" cy="1783080"/>
          </a:xfrm>
          <a:prstGeom prst="roundRect">
            <a:avLst>
              <a:gd name="adj" fmla="val 256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22" name="Shape 17"/>
          <p:cNvSpPr/>
          <p:nvPr/>
        </p:nvSpPr>
        <p:spPr>
          <a:xfrm>
            <a:off x="9390888" y="2441448"/>
            <a:ext cx="457200" cy="457200"/>
          </a:xfrm>
          <a:prstGeom prst="ellipse">
            <a:avLst/>
          </a:prstGeom>
          <a:solidFill>
            <a:srgbClr val="F7EFD6"/>
          </a:solidFill>
          <a:ln/>
        </p:spPr>
      </p:sp>
      <p:pic>
        <p:nvPicPr>
          <p:cNvPr id="23" name="Image 3" descr="preencoded.png">    </p:cNvPr>
          <p:cNvPicPr>
            <a:picLocks noChangeAspect="1"/>
          </p:cNvPicPr>
          <p:nvPr/>
        </p:nvPicPr>
        <p:blipFill>
          <a:blip r:embed="rId4"/>
          <a:stretch>
            <a:fillRect/>
          </a:stretch>
        </p:blipFill>
        <p:spPr>
          <a:xfrm>
            <a:off x="9491472" y="2542032"/>
            <a:ext cx="256032" cy="256032"/>
          </a:xfrm>
          <a:prstGeom prst="rect">
            <a:avLst/>
          </a:prstGeom>
        </p:spPr>
      </p:pic>
      <p:sp>
        <p:nvSpPr>
          <p:cNvPr id="24" name="Text 18"/>
          <p:cNvSpPr/>
          <p:nvPr/>
        </p:nvSpPr>
        <p:spPr>
          <a:xfrm>
            <a:off x="9363456" y="3017520"/>
            <a:ext cx="2322576"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mbria" pitchFamily="34" charset="0"/>
                <a:ea typeface="Cambria" pitchFamily="34" charset="-122"/>
                <a:cs typeface="Cambria" pitchFamily="34" charset="-120"/>
              </a:rPr>
              <a:t>Bottleneck Breakthrough Plan</a:t>
            </a:r>
            <a:endParaRPr lang="en-US" sz="1250" dirty="0"/>
          </a:p>
        </p:txBody>
      </p:sp>
      <p:sp>
        <p:nvSpPr>
          <p:cNvPr id="25" name="Text 19"/>
          <p:cNvSpPr/>
          <p:nvPr/>
        </p:nvSpPr>
        <p:spPr>
          <a:xfrm>
            <a:off x="9363456" y="3502152"/>
            <a:ext cx="2322576" cy="457200"/>
          </a:xfrm>
          <a:prstGeom prst="rect">
            <a:avLst/>
          </a:prstGeom>
          <a:noFill/>
          <a:ln/>
        </p:spPr>
        <p:txBody>
          <a:bodyPr wrap="square" rtlCol="0" anchor="ctr"/>
          <a:lstStyle/>
          <a:p>
            <a:pPr indent="0" marL="0">
              <a:lnSpc>
                <a:spcPct val="115000"/>
              </a:lnSpc>
              <a:buNone/>
            </a:pPr>
            <a:r>
              <a:rPr lang="en-US" sz="950" dirty="0">
                <a:solidFill>
                  <a:srgbClr val="4A4A4A"/>
                </a:solidFill>
                <a:latin typeface="Calibri" pitchFamily="34" charset="0"/>
                <a:ea typeface="Calibri" pitchFamily="34" charset="-122"/>
                <a:cs typeface="Calibri" pitchFamily="34" charset="-120"/>
              </a:rPr>
              <a:t>M4 — ranks constraints by impact, builds an automation hit list</a:t>
            </a:r>
            <a:endParaRPr lang="en-US" sz="950" dirty="0"/>
          </a:p>
        </p:txBody>
      </p:sp>
      <p:sp>
        <p:nvSpPr>
          <p:cNvPr id="26" name="Shape 20"/>
          <p:cNvSpPr/>
          <p:nvPr/>
        </p:nvSpPr>
        <p:spPr>
          <a:xfrm>
            <a:off x="548640" y="4206240"/>
            <a:ext cx="2724912" cy="1783080"/>
          </a:xfrm>
          <a:prstGeom prst="roundRect">
            <a:avLst>
              <a:gd name="adj" fmla="val 256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27" name="Shape 21"/>
          <p:cNvSpPr/>
          <p:nvPr/>
        </p:nvSpPr>
        <p:spPr>
          <a:xfrm>
            <a:off x="777240" y="4407408"/>
            <a:ext cx="457200" cy="457200"/>
          </a:xfrm>
          <a:prstGeom prst="ellipse">
            <a:avLst/>
          </a:prstGeom>
          <a:solidFill>
            <a:srgbClr val="F7EFD6"/>
          </a:solidFill>
          <a:ln/>
        </p:spPr>
      </p:sp>
      <p:pic>
        <p:nvPicPr>
          <p:cNvPr id="28" name="Image 4" descr="preencoded.png">    </p:cNvPr>
          <p:cNvPicPr>
            <a:picLocks noChangeAspect="1"/>
          </p:cNvPicPr>
          <p:nvPr/>
        </p:nvPicPr>
        <p:blipFill>
          <a:blip r:embed="rId5"/>
          <a:stretch>
            <a:fillRect/>
          </a:stretch>
        </p:blipFill>
        <p:spPr>
          <a:xfrm>
            <a:off x="877824" y="4507992"/>
            <a:ext cx="256032" cy="256032"/>
          </a:xfrm>
          <a:prstGeom prst="rect">
            <a:avLst/>
          </a:prstGeom>
        </p:spPr>
      </p:pic>
      <p:sp>
        <p:nvSpPr>
          <p:cNvPr id="29" name="Text 22"/>
          <p:cNvSpPr/>
          <p:nvPr/>
        </p:nvSpPr>
        <p:spPr>
          <a:xfrm>
            <a:off x="749808" y="4983480"/>
            <a:ext cx="2322576"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mbria" pitchFamily="34" charset="0"/>
                <a:ea typeface="Cambria" pitchFamily="34" charset="-122"/>
                <a:cs typeface="Cambria" pitchFamily="34" charset="-120"/>
              </a:rPr>
              <a:t>Profit Discovery Audit</a:t>
            </a:r>
            <a:endParaRPr lang="en-US" sz="1250" dirty="0"/>
          </a:p>
        </p:txBody>
      </p:sp>
      <p:sp>
        <p:nvSpPr>
          <p:cNvPr id="30" name="Text 23"/>
          <p:cNvSpPr/>
          <p:nvPr/>
        </p:nvSpPr>
        <p:spPr>
          <a:xfrm>
            <a:off x="749808" y="5468112"/>
            <a:ext cx="2322576" cy="457200"/>
          </a:xfrm>
          <a:prstGeom prst="rect">
            <a:avLst/>
          </a:prstGeom>
          <a:noFill/>
          <a:ln/>
        </p:spPr>
        <p:txBody>
          <a:bodyPr wrap="square" rtlCol="0" anchor="ctr"/>
          <a:lstStyle/>
          <a:p>
            <a:pPr indent="0" marL="0">
              <a:lnSpc>
                <a:spcPct val="115000"/>
              </a:lnSpc>
              <a:buNone/>
            </a:pPr>
            <a:r>
              <a:rPr lang="en-US" sz="950" dirty="0">
                <a:solidFill>
                  <a:srgbClr val="4A4A4A"/>
                </a:solidFill>
                <a:latin typeface="Calibri" pitchFamily="34" charset="0"/>
                <a:ea typeface="Calibri" pitchFamily="34" charset="-122"/>
                <a:cs typeface="Calibri" pitchFamily="34" charset="-120"/>
              </a:rPr>
              <a:t>M5 — five-check audit: pricing, cost, customer, mix, leakage</a:t>
            </a:r>
            <a:endParaRPr lang="en-US" sz="950" dirty="0"/>
          </a:p>
        </p:txBody>
      </p:sp>
      <p:sp>
        <p:nvSpPr>
          <p:cNvPr id="31" name="Shape 24"/>
          <p:cNvSpPr/>
          <p:nvPr/>
        </p:nvSpPr>
        <p:spPr>
          <a:xfrm>
            <a:off x="3419856" y="4206240"/>
            <a:ext cx="2724912" cy="1783080"/>
          </a:xfrm>
          <a:prstGeom prst="roundRect">
            <a:avLst>
              <a:gd name="adj" fmla="val 256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32" name="Shape 25"/>
          <p:cNvSpPr/>
          <p:nvPr/>
        </p:nvSpPr>
        <p:spPr>
          <a:xfrm>
            <a:off x="3648456" y="4407408"/>
            <a:ext cx="457200" cy="457200"/>
          </a:xfrm>
          <a:prstGeom prst="ellipse">
            <a:avLst/>
          </a:prstGeom>
          <a:solidFill>
            <a:srgbClr val="F7EFD6"/>
          </a:solidFill>
          <a:ln/>
        </p:spPr>
      </p:sp>
      <p:pic>
        <p:nvPicPr>
          <p:cNvPr id="33" name="Image 5" descr="preencoded.png">    </p:cNvPr>
          <p:cNvPicPr>
            <a:picLocks noChangeAspect="1"/>
          </p:cNvPicPr>
          <p:nvPr/>
        </p:nvPicPr>
        <p:blipFill>
          <a:blip r:embed="rId6"/>
          <a:stretch>
            <a:fillRect/>
          </a:stretch>
        </p:blipFill>
        <p:spPr>
          <a:xfrm>
            <a:off x="3749040" y="4507992"/>
            <a:ext cx="256032" cy="256032"/>
          </a:xfrm>
          <a:prstGeom prst="rect">
            <a:avLst/>
          </a:prstGeom>
        </p:spPr>
      </p:pic>
      <p:sp>
        <p:nvSpPr>
          <p:cNvPr id="34" name="Text 26"/>
          <p:cNvSpPr/>
          <p:nvPr/>
        </p:nvSpPr>
        <p:spPr>
          <a:xfrm>
            <a:off x="3621024" y="4983480"/>
            <a:ext cx="2322576"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mbria" pitchFamily="34" charset="0"/>
                <a:ea typeface="Cambria" pitchFamily="34" charset="-122"/>
                <a:cs typeface="Cambria" pitchFamily="34" charset="-120"/>
              </a:rPr>
              <a:t>Cash Confidence</a:t>
            </a:r>
            <a:endParaRPr lang="en-US" sz="1250" dirty="0"/>
          </a:p>
        </p:txBody>
      </p:sp>
      <p:sp>
        <p:nvSpPr>
          <p:cNvPr id="35" name="Text 27"/>
          <p:cNvSpPr/>
          <p:nvPr/>
        </p:nvSpPr>
        <p:spPr>
          <a:xfrm>
            <a:off x="3621024" y="5468112"/>
            <a:ext cx="2322576" cy="457200"/>
          </a:xfrm>
          <a:prstGeom prst="rect">
            <a:avLst/>
          </a:prstGeom>
          <a:noFill/>
          <a:ln/>
        </p:spPr>
        <p:txBody>
          <a:bodyPr wrap="square" rtlCol="0" anchor="ctr"/>
          <a:lstStyle/>
          <a:p>
            <a:pPr indent="0" marL="0">
              <a:lnSpc>
                <a:spcPct val="115000"/>
              </a:lnSpc>
              <a:buNone/>
            </a:pPr>
            <a:r>
              <a:rPr lang="en-US" sz="950" dirty="0">
                <a:solidFill>
                  <a:srgbClr val="4A4A4A"/>
                </a:solidFill>
                <a:latin typeface="Calibri" pitchFamily="34" charset="0"/>
                <a:ea typeface="Calibri" pitchFamily="34" charset="-122"/>
                <a:cs typeface="Calibri" pitchFamily="34" charset="-120"/>
              </a:rPr>
              <a:t>M6 — 13-week rolling forecast + receivables-timing check</a:t>
            </a:r>
            <a:endParaRPr lang="en-US" sz="950" dirty="0"/>
          </a:p>
        </p:txBody>
      </p:sp>
      <p:sp>
        <p:nvSpPr>
          <p:cNvPr id="36" name="Shape 28"/>
          <p:cNvSpPr/>
          <p:nvPr/>
        </p:nvSpPr>
        <p:spPr>
          <a:xfrm>
            <a:off x="6291072" y="4206240"/>
            <a:ext cx="2724912" cy="1783080"/>
          </a:xfrm>
          <a:prstGeom prst="roundRect">
            <a:avLst>
              <a:gd name="adj" fmla="val 256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37" name="Shape 29"/>
          <p:cNvSpPr/>
          <p:nvPr/>
        </p:nvSpPr>
        <p:spPr>
          <a:xfrm>
            <a:off x="6519672" y="4407408"/>
            <a:ext cx="457200" cy="457200"/>
          </a:xfrm>
          <a:prstGeom prst="ellipse">
            <a:avLst/>
          </a:prstGeom>
          <a:solidFill>
            <a:srgbClr val="F7EFD6"/>
          </a:solidFill>
          <a:ln/>
        </p:spPr>
      </p:sp>
      <p:pic>
        <p:nvPicPr>
          <p:cNvPr id="38" name="Image 6" descr="preencoded.png">    </p:cNvPr>
          <p:cNvPicPr>
            <a:picLocks noChangeAspect="1"/>
          </p:cNvPicPr>
          <p:nvPr/>
        </p:nvPicPr>
        <p:blipFill>
          <a:blip r:embed="rId7"/>
          <a:stretch>
            <a:fillRect/>
          </a:stretch>
        </p:blipFill>
        <p:spPr>
          <a:xfrm>
            <a:off x="6620256" y="4507992"/>
            <a:ext cx="256032" cy="256032"/>
          </a:xfrm>
          <a:prstGeom prst="rect">
            <a:avLst/>
          </a:prstGeom>
        </p:spPr>
      </p:pic>
      <p:sp>
        <p:nvSpPr>
          <p:cNvPr id="39" name="Text 30"/>
          <p:cNvSpPr/>
          <p:nvPr/>
        </p:nvSpPr>
        <p:spPr>
          <a:xfrm>
            <a:off x="6492240" y="4983480"/>
            <a:ext cx="2322576"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mbria" pitchFamily="34" charset="0"/>
                <a:ea typeface="Cambria" pitchFamily="34" charset="-122"/>
                <a:cs typeface="Cambria" pitchFamily="34" charset="-120"/>
              </a:rPr>
              <a:t>Build the Team</a:t>
            </a:r>
            <a:endParaRPr lang="en-US" sz="1250" dirty="0"/>
          </a:p>
        </p:txBody>
      </p:sp>
      <p:sp>
        <p:nvSpPr>
          <p:cNvPr id="40" name="Text 31"/>
          <p:cNvSpPr/>
          <p:nvPr/>
        </p:nvSpPr>
        <p:spPr>
          <a:xfrm>
            <a:off x="6492240" y="5468112"/>
            <a:ext cx="2322576" cy="457200"/>
          </a:xfrm>
          <a:prstGeom prst="rect">
            <a:avLst/>
          </a:prstGeom>
          <a:noFill/>
          <a:ln/>
        </p:spPr>
        <p:txBody>
          <a:bodyPr wrap="square" rtlCol="0" anchor="ctr"/>
          <a:lstStyle/>
          <a:p>
            <a:pPr indent="0" marL="0">
              <a:lnSpc>
                <a:spcPct val="115000"/>
              </a:lnSpc>
              <a:buNone/>
            </a:pPr>
            <a:r>
              <a:rPr lang="en-US" sz="950" dirty="0">
                <a:solidFill>
                  <a:srgbClr val="4A4A4A"/>
                </a:solidFill>
                <a:latin typeface="Calibri" pitchFamily="34" charset="0"/>
                <a:ea typeface="Calibri" pitchFamily="34" charset="-122"/>
                <a:cs typeface="Calibri" pitchFamily="34" charset="-120"/>
              </a:rPr>
              <a:t>M7 — delegation-gap ranking, outcome-based hiring templates</a:t>
            </a:r>
            <a:endParaRPr lang="en-US" sz="950" dirty="0"/>
          </a:p>
        </p:txBody>
      </p:sp>
      <p:sp>
        <p:nvSpPr>
          <p:cNvPr id="41" name="Shape 32"/>
          <p:cNvSpPr/>
          <p:nvPr/>
        </p:nvSpPr>
        <p:spPr>
          <a:xfrm>
            <a:off x="9162288" y="4206240"/>
            <a:ext cx="2724912" cy="1783080"/>
          </a:xfrm>
          <a:prstGeom prst="roundRect">
            <a:avLst>
              <a:gd name="adj" fmla="val 256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42" name="Shape 33"/>
          <p:cNvSpPr/>
          <p:nvPr/>
        </p:nvSpPr>
        <p:spPr>
          <a:xfrm>
            <a:off x="9390888" y="4407408"/>
            <a:ext cx="457200" cy="457200"/>
          </a:xfrm>
          <a:prstGeom prst="ellipse">
            <a:avLst/>
          </a:prstGeom>
          <a:solidFill>
            <a:srgbClr val="F7EFD6"/>
          </a:solidFill>
          <a:ln/>
        </p:spPr>
      </p:sp>
      <p:pic>
        <p:nvPicPr>
          <p:cNvPr id="43" name="Image 7" descr="preencoded.png">    </p:cNvPr>
          <p:cNvPicPr>
            <a:picLocks noChangeAspect="1"/>
          </p:cNvPicPr>
          <p:nvPr/>
        </p:nvPicPr>
        <p:blipFill>
          <a:blip r:embed="rId8"/>
          <a:stretch>
            <a:fillRect/>
          </a:stretch>
        </p:blipFill>
        <p:spPr>
          <a:xfrm>
            <a:off x="9491472" y="4507992"/>
            <a:ext cx="256032" cy="256032"/>
          </a:xfrm>
          <a:prstGeom prst="rect">
            <a:avLst/>
          </a:prstGeom>
        </p:spPr>
      </p:pic>
      <p:sp>
        <p:nvSpPr>
          <p:cNvPr id="44" name="Text 34"/>
          <p:cNvSpPr/>
          <p:nvPr/>
        </p:nvSpPr>
        <p:spPr>
          <a:xfrm>
            <a:off x="9363456" y="4983480"/>
            <a:ext cx="2322576"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mbria" pitchFamily="34" charset="0"/>
                <a:ea typeface="Cambria" pitchFamily="34" charset="-122"/>
                <a:cs typeface="Cambria" pitchFamily="34" charset="-120"/>
              </a:rPr>
              <a:t>Hidden-Profit Analyzer</a:t>
            </a:r>
            <a:endParaRPr lang="en-US" sz="1250" dirty="0"/>
          </a:p>
        </p:txBody>
      </p:sp>
      <p:sp>
        <p:nvSpPr>
          <p:cNvPr id="45" name="Text 35"/>
          <p:cNvSpPr/>
          <p:nvPr/>
        </p:nvSpPr>
        <p:spPr>
          <a:xfrm>
            <a:off x="9363456" y="5468112"/>
            <a:ext cx="2322576" cy="457200"/>
          </a:xfrm>
          <a:prstGeom prst="rect">
            <a:avLst/>
          </a:prstGeom>
          <a:noFill/>
          <a:ln/>
        </p:spPr>
        <p:txBody>
          <a:bodyPr wrap="square" rtlCol="0" anchor="ctr"/>
          <a:lstStyle/>
          <a:p>
            <a:pPr indent="0" marL="0">
              <a:lnSpc>
                <a:spcPct val="115000"/>
              </a:lnSpc>
              <a:buNone/>
            </a:pPr>
            <a:r>
              <a:rPr lang="en-US" sz="950" dirty="0">
                <a:solidFill>
                  <a:srgbClr val="4A4A4A"/>
                </a:solidFill>
                <a:latin typeface="Calibri" pitchFamily="34" charset="0"/>
                <a:ea typeface="Calibri" pitchFamily="34" charset="-122"/>
                <a:cs typeface="Calibri" pitchFamily="34" charset="-120"/>
              </a:rPr>
              <a:t>Free public lead magnet — upload a P&amp;L, get real signal back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TOOL EXAMPLE · LIVE &amp; PUBLIC</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06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500" b="1" dirty="0">
                <a:solidFill>
                  <a:srgbClr val="1A1A1A"/>
                </a:solidFill>
                <a:latin typeface="Cambria" pitchFamily="34" charset="0"/>
                <a:ea typeface="Cambria" pitchFamily="34" charset="-122"/>
                <a:cs typeface="Cambria" pitchFamily="34" charset="-120"/>
              </a:rPr>
              <a:t>The Hidden-Profit Analyzer: upload a P&amp;L, see where the money's leaking.</a:t>
            </a:r>
            <a:endParaRPr lang="en-US" sz="2500" dirty="0"/>
          </a:p>
        </p:txBody>
      </p:sp>
      <p:sp>
        <p:nvSpPr>
          <p:cNvPr id="5" name="Text 3"/>
          <p:cNvSpPr/>
          <p:nvPr/>
        </p:nvSpPr>
        <p:spPr>
          <a:xfrm>
            <a:off x="548640" y="1417320"/>
            <a:ext cx="110944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Live at profit-finder-coolhollow.streamlit.app. This is the free front-door tool a prospect can try before they ever talk to us. Example below: a real anonymized run.</a:t>
            </a:r>
            <a:endParaRPr lang="en-US" sz="1350" dirty="0"/>
          </a:p>
        </p:txBody>
      </p:sp>
      <p:sp>
        <p:nvSpPr>
          <p:cNvPr id="6" name="Shape 4"/>
          <p:cNvSpPr/>
          <p:nvPr/>
        </p:nvSpPr>
        <p:spPr>
          <a:xfrm>
            <a:off x="548640" y="2286000"/>
            <a:ext cx="4206240" cy="3931920"/>
          </a:xfrm>
          <a:prstGeom prst="roundRect">
            <a:avLst>
              <a:gd name="adj" fmla="val 1395"/>
            </a:avLst>
          </a:prstGeom>
          <a:solidFill>
            <a:srgbClr val="1A1A1A"/>
          </a:solidFill>
          <a:ln/>
          <a:effectLst>
            <a:outerShdw sx="100000" sy="100000" kx="0" ky="0" algn="bl" rotWithShape="0" blurRad="101600" dist="38100" dir="2700000">
              <a:srgbClr val="000000">
                <a:alpha val="12000"/>
              </a:srgbClr>
            </a:outerShdw>
          </a:effectLst>
        </p:spPr>
      </p:sp>
      <p:sp>
        <p:nvSpPr>
          <p:cNvPr id="7" name="Text 5"/>
          <p:cNvSpPr/>
          <p:nvPr/>
        </p:nvSpPr>
        <p:spPr>
          <a:xfrm>
            <a:off x="868680" y="2560320"/>
            <a:ext cx="3566160" cy="274320"/>
          </a:xfrm>
          <a:prstGeom prst="rect">
            <a:avLst/>
          </a:prstGeom>
          <a:noFill/>
          <a:ln/>
        </p:spPr>
        <p:txBody>
          <a:bodyPr wrap="square" rtlCol="0" anchor="ctr"/>
          <a:lstStyle/>
          <a:p>
            <a:pPr indent="0" marL="0">
              <a:buNone/>
            </a:pPr>
            <a:r>
              <a:rPr lang="en-US" sz="1000" b="1" spc="150" kern="0" dirty="0">
                <a:solidFill>
                  <a:srgbClr val="E8C766"/>
                </a:solidFill>
                <a:latin typeface="Calibri" pitchFamily="34" charset="0"/>
                <a:ea typeface="Calibri" pitchFamily="34" charset="-122"/>
                <a:cs typeface="Calibri" pitchFamily="34" charset="-120"/>
              </a:rPr>
              <a:t>EXAMPLE OUTPUT</a:t>
            </a:r>
            <a:endParaRPr lang="en-US" sz="1000" dirty="0"/>
          </a:p>
        </p:txBody>
      </p:sp>
      <p:sp>
        <p:nvSpPr>
          <p:cNvPr id="8" name="Text 6"/>
          <p:cNvSpPr/>
          <p:nvPr/>
        </p:nvSpPr>
        <p:spPr>
          <a:xfrm>
            <a:off x="868680" y="2852928"/>
            <a:ext cx="356616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“Elite Restoration” — sample P&amp;L</a:t>
            </a:r>
            <a:endParaRPr lang="en-US" sz="1500" dirty="0"/>
          </a:p>
        </p:txBody>
      </p:sp>
      <p:sp>
        <p:nvSpPr>
          <p:cNvPr id="9" name="Text 7"/>
          <p:cNvSpPr/>
          <p:nvPr/>
        </p:nvSpPr>
        <p:spPr>
          <a:xfrm>
            <a:off x="868680" y="3337560"/>
            <a:ext cx="2194560" cy="365760"/>
          </a:xfrm>
          <a:prstGeom prst="rect">
            <a:avLst/>
          </a:prstGeom>
          <a:noFill/>
          <a:ln/>
        </p:spPr>
        <p:txBody>
          <a:bodyPr wrap="square" lIns="0" tIns="0" rIns="0" bIns="0" rtlCol="0" anchor="ctr"/>
          <a:lstStyle/>
          <a:p>
            <a:pPr indent="0" marL="0">
              <a:buNone/>
            </a:pPr>
            <a:r>
              <a:rPr lang="en-US" sz="1200" dirty="0">
                <a:solidFill>
                  <a:srgbClr val="C9C9C9"/>
                </a:solidFill>
                <a:latin typeface="Calibri" pitchFamily="34" charset="0"/>
                <a:ea typeface="Calibri" pitchFamily="34" charset="-122"/>
                <a:cs typeface="Calibri" pitchFamily="34" charset="-120"/>
              </a:rPr>
              <a:t>Revenue</a:t>
            </a:r>
            <a:endParaRPr lang="en-US" sz="1200" dirty="0"/>
          </a:p>
        </p:txBody>
      </p:sp>
      <p:sp>
        <p:nvSpPr>
          <p:cNvPr id="10" name="Text 8"/>
          <p:cNvSpPr/>
          <p:nvPr/>
        </p:nvSpPr>
        <p:spPr>
          <a:xfrm>
            <a:off x="2834640" y="3337560"/>
            <a:ext cx="1600200" cy="365760"/>
          </a:xfrm>
          <a:prstGeom prst="rect">
            <a:avLst/>
          </a:prstGeom>
          <a:noFill/>
          <a:ln/>
        </p:spPr>
        <p:txBody>
          <a:bodyPr wrap="square" lIns="0" tIns="0" rIns="0" bIns="0" rtlCol="0" anchor="ctr"/>
          <a:lstStyle/>
          <a:p>
            <a:pPr algn="r" indent="0" marL="0">
              <a:buNone/>
            </a:pPr>
            <a:r>
              <a:rPr lang="en-US" sz="1600" b="1" dirty="0">
                <a:solidFill>
                  <a:srgbClr val="E8C766"/>
                </a:solidFill>
                <a:latin typeface="Cambria" pitchFamily="34" charset="0"/>
                <a:ea typeface="Cambria" pitchFamily="34" charset="-122"/>
                <a:cs typeface="Cambria" pitchFamily="34" charset="-120"/>
              </a:rPr>
              <a:t>$1,435,139</a:t>
            </a:r>
            <a:endParaRPr lang="en-US" sz="1600" dirty="0"/>
          </a:p>
        </p:txBody>
      </p:sp>
      <p:sp>
        <p:nvSpPr>
          <p:cNvPr id="11" name="Shape 9"/>
          <p:cNvSpPr/>
          <p:nvPr/>
        </p:nvSpPr>
        <p:spPr>
          <a:xfrm>
            <a:off x="868680" y="3886200"/>
            <a:ext cx="3566160" cy="0"/>
          </a:xfrm>
          <a:prstGeom prst="line">
            <a:avLst/>
          </a:prstGeom>
          <a:noFill/>
          <a:ln w="9525">
            <a:solidFill>
              <a:srgbClr val="3A3A3A"/>
            </a:solidFill>
            <a:prstDash val="solid"/>
          </a:ln>
        </p:spPr>
      </p:sp>
      <p:sp>
        <p:nvSpPr>
          <p:cNvPr id="12" name="Text 10"/>
          <p:cNvSpPr/>
          <p:nvPr/>
        </p:nvSpPr>
        <p:spPr>
          <a:xfrm>
            <a:off x="868680" y="3959352"/>
            <a:ext cx="2194560" cy="365760"/>
          </a:xfrm>
          <a:prstGeom prst="rect">
            <a:avLst/>
          </a:prstGeom>
          <a:noFill/>
          <a:ln/>
        </p:spPr>
        <p:txBody>
          <a:bodyPr wrap="square" lIns="0" tIns="0" rIns="0" bIns="0" rtlCol="0" anchor="ctr"/>
          <a:lstStyle/>
          <a:p>
            <a:pPr indent="0" marL="0">
              <a:buNone/>
            </a:pPr>
            <a:r>
              <a:rPr lang="en-US" sz="1200" dirty="0">
                <a:solidFill>
                  <a:srgbClr val="C9C9C9"/>
                </a:solidFill>
                <a:latin typeface="Calibri" pitchFamily="34" charset="0"/>
                <a:ea typeface="Calibri" pitchFamily="34" charset="-122"/>
                <a:cs typeface="Calibri" pitchFamily="34" charset="-120"/>
              </a:rPr>
              <a:t>Gross margin</a:t>
            </a:r>
            <a:endParaRPr lang="en-US" sz="1200" dirty="0"/>
          </a:p>
        </p:txBody>
      </p:sp>
      <p:sp>
        <p:nvSpPr>
          <p:cNvPr id="13" name="Text 11"/>
          <p:cNvSpPr/>
          <p:nvPr/>
        </p:nvSpPr>
        <p:spPr>
          <a:xfrm>
            <a:off x="2834640" y="3959352"/>
            <a:ext cx="1600200" cy="365760"/>
          </a:xfrm>
          <a:prstGeom prst="rect">
            <a:avLst/>
          </a:prstGeom>
          <a:noFill/>
          <a:ln/>
        </p:spPr>
        <p:txBody>
          <a:bodyPr wrap="square" lIns="0" tIns="0" rIns="0" bIns="0" rtlCol="0" anchor="ctr"/>
          <a:lstStyle/>
          <a:p>
            <a:pPr algn="r" indent="0" marL="0">
              <a:buNone/>
            </a:pPr>
            <a:r>
              <a:rPr lang="en-US" sz="1600" b="1" dirty="0">
                <a:solidFill>
                  <a:srgbClr val="E8C766"/>
                </a:solidFill>
                <a:latin typeface="Cambria" pitchFamily="34" charset="0"/>
                <a:ea typeface="Cambria" pitchFamily="34" charset="-122"/>
                <a:cs typeface="Cambria" pitchFamily="34" charset="-120"/>
              </a:rPr>
              <a:t>53%</a:t>
            </a:r>
            <a:endParaRPr lang="en-US" sz="1600" dirty="0"/>
          </a:p>
        </p:txBody>
      </p:sp>
      <p:sp>
        <p:nvSpPr>
          <p:cNvPr id="14" name="Shape 12"/>
          <p:cNvSpPr/>
          <p:nvPr/>
        </p:nvSpPr>
        <p:spPr>
          <a:xfrm>
            <a:off x="868680" y="4507992"/>
            <a:ext cx="3566160" cy="0"/>
          </a:xfrm>
          <a:prstGeom prst="line">
            <a:avLst/>
          </a:prstGeom>
          <a:noFill/>
          <a:ln w="9525">
            <a:solidFill>
              <a:srgbClr val="3A3A3A"/>
            </a:solidFill>
            <a:prstDash val="solid"/>
          </a:ln>
        </p:spPr>
      </p:sp>
      <p:sp>
        <p:nvSpPr>
          <p:cNvPr id="15" name="Text 13"/>
          <p:cNvSpPr/>
          <p:nvPr/>
        </p:nvSpPr>
        <p:spPr>
          <a:xfrm>
            <a:off x="868680" y="4581144"/>
            <a:ext cx="2194560" cy="365760"/>
          </a:xfrm>
          <a:prstGeom prst="rect">
            <a:avLst/>
          </a:prstGeom>
          <a:noFill/>
          <a:ln/>
        </p:spPr>
        <p:txBody>
          <a:bodyPr wrap="square" lIns="0" tIns="0" rIns="0" bIns="0" rtlCol="0" anchor="ctr"/>
          <a:lstStyle/>
          <a:p>
            <a:pPr indent="0" marL="0">
              <a:buNone/>
            </a:pPr>
            <a:r>
              <a:rPr lang="en-US" sz="1200" dirty="0">
                <a:solidFill>
                  <a:srgbClr val="C9C9C9"/>
                </a:solidFill>
                <a:latin typeface="Calibri" pitchFamily="34" charset="0"/>
                <a:ea typeface="Calibri" pitchFamily="34" charset="-122"/>
                <a:cs typeface="Calibri" pitchFamily="34" charset="-120"/>
              </a:rPr>
              <a:t>Operating margin</a:t>
            </a:r>
            <a:endParaRPr lang="en-US" sz="1200" dirty="0"/>
          </a:p>
        </p:txBody>
      </p:sp>
      <p:sp>
        <p:nvSpPr>
          <p:cNvPr id="16" name="Text 14"/>
          <p:cNvSpPr/>
          <p:nvPr/>
        </p:nvSpPr>
        <p:spPr>
          <a:xfrm>
            <a:off x="2834640" y="4581144"/>
            <a:ext cx="1600200" cy="365760"/>
          </a:xfrm>
          <a:prstGeom prst="rect">
            <a:avLst/>
          </a:prstGeom>
          <a:noFill/>
          <a:ln/>
        </p:spPr>
        <p:txBody>
          <a:bodyPr wrap="square" lIns="0" tIns="0" rIns="0" bIns="0" rtlCol="0" anchor="ctr"/>
          <a:lstStyle/>
          <a:p>
            <a:pPr algn="r" indent="0" marL="0">
              <a:buNone/>
            </a:pPr>
            <a:r>
              <a:rPr lang="en-US" sz="1600" b="1" dirty="0">
                <a:solidFill>
                  <a:srgbClr val="E8C766"/>
                </a:solidFill>
                <a:latin typeface="Cambria" pitchFamily="34" charset="0"/>
                <a:ea typeface="Cambria" pitchFamily="34" charset="-122"/>
                <a:cs typeface="Cambria" pitchFamily="34" charset="-120"/>
              </a:rPr>
              <a:t>-5%</a:t>
            </a:r>
            <a:endParaRPr lang="en-US" sz="1600" dirty="0"/>
          </a:p>
        </p:txBody>
      </p:sp>
      <p:sp>
        <p:nvSpPr>
          <p:cNvPr id="17" name="Shape 15"/>
          <p:cNvSpPr/>
          <p:nvPr/>
        </p:nvSpPr>
        <p:spPr>
          <a:xfrm>
            <a:off x="868680" y="5129784"/>
            <a:ext cx="3566160" cy="0"/>
          </a:xfrm>
          <a:prstGeom prst="line">
            <a:avLst/>
          </a:prstGeom>
          <a:noFill/>
          <a:ln w="9525">
            <a:solidFill>
              <a:srgbClr val="3A3A3A"/>
            </a:solidFill>
            <a:prstDash val="solid"/>
          </a:ln>
        </p:spPr>
      </p:sp>
      <p:sp>
        <p:nvSpPr>
          <p:cNvPr id="18" name="Text 16"/>
          <p:cNvSpPr/>
          <p:nvPr/>
        </p:nvSpPr>
        <p:spPr>
          <a:xfrm>
            <a:off x="868680" y="5202936"/>
            <a:ext cx="2194560" cy="365760"/>
          </a:xfrm>
          <a:prstGeom prst="rect">
            <a:avLst/>
          </a:prstGeom>
          <a:noFill/>
          <a:ln/>
        </p:spPr>
        <p:txBody>
          <a:bodyPr wrap="square" lIns="0" tIns="0" rIns="0" bIns="0" rtlCol="0" anchor="ctr"/>
          <a:lstStyle/>
          <a:p>
            <a:pPr indent="0" marL="0">
              <a:buNone/>
            </a:pPr>
            <a:r>
              <a:rPr lang="en-US" sz="1200" dirty="0">
                <a:solidFill>
                  <a:srgbClr val="C9C9C9"/>
                </a:solidFill>
                <a:latin typeface="Calibri" pitchFamily="34" charset="0"/>
                <a:ea typeface="Calibri" pitchFamily="34" charset="-122"/>
                <a:cs typeface="Calibri" pitchFamily="34" charset="-120"/>
              </a:rPr>
              <a:t>Costs as % of revenue</a:t>
            </a:r>
            <a:endParaRPr lang="en-US" sz="1200" dirty="0"/>
          </a:p>
        </p:txBody>
      </p:sp>
      <p:sp>
        <p:nvSpPr>
          <p:cNvPr id="19" name="Text 17"/>
          <p:cNvSpPr/>
          <p:nvPr/>
        </p:nvSpPr>
        <p:spPr>
          <a:xfrm>
            <a:off x="2834640" y="5202936"/>
            <a:ext cx="1600200" cy="365760"/>
          </a:xfrm>
          <a:prstGeom prst="rect">
            <a:avLst/>
          </a:prstGeom>
          <a:noFill/>
          <a:ln/>
        </p:spPr>
        <p:txBody>
          <a:bodyPr wrap="square" lIns="0" tIns="0" rIns="0" bIns="0" rtlCol="0" anchor="ctr"/>
          <a:lstStyle/>
          <a:p>
            <a:pPr algn="r" indent="0" marL="0">
              <a:buNone/>
            </a:pPr>
            <a:r>
              <a:rPr lang="en-US" sz="1600" b="1" dirty="0">
                <a:solidFill>
                  <a:srgbClr val="E8C766"/>
                </a:solidFill>
                <a:latin typeface="Cambria" pitchFamily="34" charset="0"/>
                <a:ea typeface="Cambria" pitchFamily="34" charset="-122"/>
                <a:cs typeface="Cambria" pitchFamily="34" charset="-120"/>
              </a:rPr>
              <a:t>105%</a:t>
            </a:r>
            <a:endParaRPr lang="en-US" sz="1600" dirty="0"/>
          </a:p>
        </p:txBody>
      </p:sp>
      <p:sp>
        <p:nvSpPr>
          <p:cNvPr id="20" name="Text 18"/>
          <p:cNvSpPr/>
          <p:nvPr/>
        </p:nvSpPr>
        <p:spPr>
          <a:xfrm>
            <a:off x="868680" y="5532120"/>
            <a:ext cx="3566160" cy="548640"/>
          </a:xfrm>
          <a:prstGeom prst="rect">
            <a:avLst/>
          </a:prstGeom>
          <a:noFill/>
          <a:ln/>
        </p:spPr>
        <p:txBody>
          <a:bodyPr wrap="square" rtlCol="0" anchor="ctr"/>
          <a:lstStyle/>
          <a:p>
            <a:pPr indent="0" marL="0">
              <a:lnSpc>
                <a:spcPct val="120000"/>
              </a:lnSpc>
              <a:buNone/>
            </a:pPr>
            <a:r>
              <a:rPr lang="en-US" sz="1050" i="1" dirty="0">
                <a:solidFill>
                  <a:srgbClr val="B7B7B7"/>
                </a:solidFill>
                <a:latin typeface="Calibri" pitchFamily="34" charset="0"/>
                <a:ea typeface="Calibri" pitchFamily="34" charset="-122"/>
                <a:cs typeface="Calibri" pitchFamily="34" charset="-120"/>
              </a:rPr>
              <a:t>Operating at 105% of revenue in costs is the signal. That's the conversation opener, not a diagnosis.</a:t>
            </a:r>
            <a:endParaRPr lang="en-US" sz="1050" dirty="0"/>
          </a:p>
        </p:txBody>
      </p:sp>
      <p:graphicFrame>
        <p:nvGraphicFramePr>
          <p:cNvPr id="21" name="Chart 0" descr=""/>
          <p:cNvGraphicFramePr/>
          <p:nvPr/>
        </p:nvGraphicFramePr>
        <p:xfrm>
          <a:off x="5120640" y="2286000"/>
          <a:ext cx="6522415" cy="39319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TOOL EXAMPLE · MILESTONE 3</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07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500" b="1" dirty="0">
                <a:solidFill>
                  <a:srgbClr val="1A1A1A"/>
                </a:solidFill>
                <a:latin typeface="Cambria" pitchFamily="34" charset="0"/>
                <a:ea typeface="Cambria" pitchFamily="34" charset="-122"/>
                <a:cs typeface="Cambria" pitchFamily="34" charset="-120"/>
              </a:rPr>
              <a:t>The Monday Morning Dashboard: five numbers, fifteen minutes, every week.</a:t>
            </a:r>
            <a:endParaRPr lang="en-US" sz="2500" dirty="0"/>
          </a:p>
        </p:txBody>
      </p:sp>
      <p:sp>
        <p:nvSpPr>
          <p:cNvPr id="5" name="Text 3"/>
          <p:cNvSpPr/>
          <p:nvPr/>
        </p:nvSpPr>
        <p:spPr>
          <a:xfrm>
            <a:off x="548640" y="141732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The tool walks an owner to the five metrics that actually matter for their business, sets red/yellow/green thresholds, and flags which ones are leading indicators. Example below: a trades business.</a:t>
            </a:r>
            <a:endParaRPr lang="en-US" sz="1350" dirty="0"/>
          </a:p>
        </p:txBody>
      </p:sp>
      <p:sp>
        <p:nvSpPr>
          <p:cNvPr id="6" name="Shape 4"/>
          <p:cNvSpPr/>
          <p:nvPr/>
        </p:nvSpPr>
        <p:spPr>
          <a:xfrm>
            <a:off x="548640" y="2331720"/>
            <a:ext cx="2084832" cy="3291840"/>
          </a:xfrm>
          <a:prstGeom prst="roundRect">
            <a:avLst>
              <a:gd name="adj" fmla="val 2632"/>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1463040" y="2606040"/>
            <a:ext cx="256032" cy="256032"/>
          </a:xfrm>
          <a:prstGeom prst="ellipse">
            <a:avLst/>
          </a:prstGeom>
          <a:solidFill>
            <a:srgbClr val="C0392B"/>
          </a:solidFill>
          <a:ln/>
        </p:spPr>
      </p:sp>
      <p:sp>
        <p:nvSpPr>
          <p:cNvPr id="8" name="Text 6"/>
          <p:cNvSpPr/>
          <p:nvPr/>
        </p:nvSpPr>
        <p:spPr>
          <a:xfrm>
            <a:off x="640080" y="2953512"/>
            <a:ext cx="1901952" cy="256032"/>
          </a:xfrm>
          <a:prstGeom prst="rect">
            <a:avLst/>
          </a:prstGeom>
          <a:noFill/>
          <a:ln/>
        </p:spPr>
        <p:txBody>
          <a:bodyPr wrap="square" rtlCol="0" anchor="ctr"/>
          <a:lstStyle/>
          <a:p>
            <a:pPr algn="ctr" indent="0" marL="0">
              <a:buNone/>
            </a:pPr>
            <a:r>
              <a:rPr lang="en-US" sz="900" b="1" spc="150" kern="0" dirty="0">
                <a:solidFill>
                  <a:srgbClr val="C0392B"/>
                </a:solidFill>
                <a:latin typeface="Calibri" pitchFamily="34" charset="0"/>
                <a:ea typeface="Calibri" pitchFamily="34" charset="-122"/>
                <a:cs typeface="Calibri" pitchFamily="34" charset="-120"/>
              </a:rPr>
              <a:t>RED</a:t>
            </a:r>
            <a:endParaRPr lang="en-US" sz="900" dirty="0"/>
          </a:p>
        </p:txBody>
      </p:sp>
      <p:sp>
        <p:nvSpPr>
          <p:cNvPr id="9" name="Text 7"/>
          <p:cNvSpPr/>
          <p:nvPr/>
        </p:nvSpPr>
        <p:spPr>
          <a:xfrm>
            <a:off x="640080" y="3383280"/>
            <a:ext cx="1901952" cy="685800"/>
          </a:xfrm>
          <a:prstGeom prst="rect">
            <a:avLst/>
          </a:prstGeom>
          <a:noFill/>
          <a:ln/>
        </p:spPr>
        <p:txBody>
          <a:bodyPr wrap="square" lIns="0" tIns="0" rIns="0" bIns="0" rtlCol="0" anchor="ctr"/>
          <a:lstStyle/>
          <a:p>
            <a:pPr algn="ctr" indent="0" marL="0">
              <a:buNone/>
            </a:pPr>
            <a:r>
              <a:rPr lang="en-US" sz="2600" b="1" dirty="0">
                <a:solidFill>
                  <a:srgbClr val="1A1A1A"/>
                </a:solidFill>
                <a:latin typeface="Cambria" pitchFamily="34" charset="0"/>
                <a:ea typeface="Cambria" pitchFamily="34" charset="-122"/>
                <a:cs typeface="Cambria" pitchFamily="34" charset="-120"/>
              </a:rPr>
              <a:t>18 days</a:t>
            </a:r>
            <a:endParaRPr lang="en-US" sz="2600" dirty="0"/>
          </a:p>
        </p:txBody>
      </p:sp>
      <p:sp>
        <p:nvSpPr>
          <p:cNvPr id="10" name="Text 8"/>
          <p:cNvSpPr/>
          <p:nvPr/>
        </p:nvSpPr>
        <p:spPr>
          <a:xfrm>
            <a:off x="685800" y="4206240"/>
            <a:ext cx="1810512" cy="548640"/>
          </a:xfrm>
          <a:prstGeom prst="rect">
            <a:avLst/>
          </a:prstGeom>
          <a:noFill/>
          <a:ln/>
        </p:spPr>
        <p:txBody>
          <a:bodyPr wrap="square" rtlCol="0" anchor="ctr"/>
          <a:lstStyle/>
          <a:p>
            <a:pPr algn="ctr" indent="0" marL="0">
              <a:lnSpc>
                <a:spcPct val="115000"/>
              </a:lnSpc>
              <a:buNone/>
            </a:pPr>
            <a:r>
              <a:rPr lang="en-US" sz="1100" dirty="0">
                <a:solidFill>
                  <a:srgbClr val="4A4A4A"/>
                </a:solidFill>
                <a:latin typeface="Calibri" pitchFamily="34" charset="0"/>
                <a:ea typeface="Calibri" pitchFamily="34" charset="-122"/>
                <a:cs typeface="Calibri" pitchFamily="34" charset="-120"/>
              </a:rPr>
              <a:t>Cash on hand</a:t>
            </a:r>
            <a:endParaRPr lang="en-US" sz="1100" dirty="0"/>
          </a:p>
        </p:txBody>
      </p:sp>
      <p:sp>
        <p:nvSpPr>
          <p:cNvPr id="11" name="Shape 9"/>
          <p:cNvSpPr/>
          <p:nvPr/>
        </p:nvSpPr>
        <p:spPr>
          <a:xfrm>
            <a:off x="822960" y="5029200"/>
            <a:ext cx="1536192" cy="0"/>
          </a:xfrm>
          <a:prstGeom prst="line">
            <a:avLst/>
          </a:prstGeom>
          <a:noFill/>
          <a:ln w="9525">
            <a:solidFill>
              <a:srgbClr val="E4E1D8"/>
            </a:solidFill>
            <a:prstDash val="solid"/>
          </a:ln>
        </p:spPr>
      </p:sp>
      <p:sp>
        <p:nvSpPr>
          <p:cNvPr id="12" name="Text 10"/>
          <p:cNvSpPr/>
          <p:nvPr/>
        </p:nvSpPr>
        <p:spPr>
          <a:xfrm>
            <a:off x="685800" y="5120640"/>
            <a:ext cx="1810512" cy="365760"/>
          </a:xfrm>
          <a:prstGeom prst="rect">
            <a:avLst/>
          </a:prstGeom>
          <a:noFill/>
          <a:ln/>
        </p:spPr>
        <p:txBody>
          <a:bodyPr wrap="square" rtlCol="0" anchor="ctr"/>
          <a:lstStyle/>
          <a:p>
            <a:pPr algn="ctr" indent="0" marL="0">
              <a:buNone/>
            </a:pPr>
            <a:r>
              <a:rPr lang="en-US" sz="850" i="1" dirty="0">
                <a:solidFill>
                  <a:srgbClr val="8A8A8A"/>
                </a:solidFill>
                <a:latin typeface="Calibri" pitchFamily="34" charset="0"/>
                <a:ea typeface="Calibri" pitchFamily="34" charset="-122"/>
                <a:cs typeface="Calibri" pitchFamily="34" charset="-120"/>
              </a:rPr>
              <a:t>Lagging indicator</a:t>
            </a:r>
            <a:endParaRPr lang="en-US" sz="850" dirty="0"/>
          </a:p>
        </p:txBody>
      </p:sp>
      <p:sp>
        <p:nvSpPr>
          <p:cNvPr id="13" name="Shape 11"/>
          <p:cNvSpPr/>
          <p:nvPr/>
        </p:nvSpPr>
        <p:spPr>
          <a:xfrm>
            <a:off x="2798064" y="2331720"/>
            <a:ext cx="2084832" cy="3291840"/>
          </a:xfrm>
          <a:prstGeom prst="roundRect">
            <a:avLst>
              <a:gd name="adj" fmla="val 2632"/>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4" name="Shape 12"/>
          <p:cNvSpPr/>
          <p:nvPr/>
        </p:nvSpPr>
        <p:spPr>
          <a:xfrm>
            <a:off x="3712464" y="2606040"/>
            <a:ext cx="256032" cy="256032"/>
          </a:xfrm>
          <a:prstGeom prst="ellipse">
            <a:avLst/>
          </a:prstGeom>
          <a:solidFill>
            <a:srgbClr val="2E7D32"/>
          </a:solidFill>
          <a:ln/>
        </p:spPr>
      </p:sp>
      <p:sp>
        <p:nvSpPr>
          <p:cNvPr id="15" name="Text 13"/>
          <p:cNvSpPr/>
          <p:nvPr/>
        </p:nvSpPr>
        <p:spPr>
          <a:xfrm>
            <a:off x="2889504" y="2953512"/>
            <a:ext cx="1901952" cy="256032"/>
          </a:xfrm>
          <a:prstGeom prst="rect">
            <a:avLst/>
          </a:prstGeom>
          <a:noFill/>
          <a:ln/>
        </p:spPr>
        <p:txBody>
          <a:bodyPr wrap="square" rtlCol="0" anchor="ctr"/>
          <a:lstStyle/>
          <a:p>
            <a:pPr algn="ctr" indent="0" marL="0">
              <a:buNone/>
            </a:pPr>
            <a:r>
              <a:rPr lang="en-US" sz="900" b="1" spc="150" kern="0" dirty="0">
                <a:solidFill>
                  <a:srgbClr val="2E7D32"/>
                </a:solidFill>
                <a:latin typeface="Calibri" pitchFamily="34" charset="0"/>
                <a:ea typeface="Calibri" pitchFamily="34" charset="-122"/>
                <a:cs typeface="Calibri" pitchFamily="34" charset="-120"/>
              </a:rPr>
              <a:t>GREEN</a:t>
            </a:r>
            <a:endParaRPr lang="en-US" sz="900" dirty="0"/>
          </a:p>
        </p:txBody>
      </p:sp>
      <p:sp>
        <p:nvSpPr>
          <p:cNvPr id="16" name="Text 14"/>
          <p:cNvSpPr/>
          <p:nvPr/>
        </p:nvSpPr>
        <p:spPr>
          <a:xfrm>
            <a:off x="2889504" y="3383280"/>
            <a:ext cx="1901952" cy="685800"/>
          </a:xfrm>
          <a:prstGeom prst="rect">
            <a:avLst/>
          </a:prstGeom>
          <a:noFill/>
          <a:ln/>
        </p:spPr>
        <p:txBody>
          <a:bodyPr wrap="square" lIns="0" tIns="0" rIns="0" bIns="0" rtlCol="0" anchor="ctr"/>
          <a:lstStyle/>
          <a:p>
            <a:pPr algn="ctr" indent="0" marL="0">
              <a:buNone/>
            </a:pPr>
            <a:r>
              <a:rPr lang="en-US" sz="2600" b="1" dirty="0">
                <a:solidFill>
                  <a:srgbClr val="1A1A1A"/>
                </a:solidFill>
                <a:latin typeface="Cambria" pitchFamily="34" charset="0"/>
                <a:ea typeface="Cambria" pitchFamily="34" charset="-122"/>
                <a:cs typeface="Cambria" pitchFamily="34" charset="-120"/>
              </a:rPr>
              <a:t>42%</a:t>
            </a:r>
            <a:endParaRPr lang="en-US" sz="2600" dirty="0"/>
          </a:p>
        </p:txBody>
      </p:sp>
      <p:sp>
        <p:nvSpPr>
          <p:cNvPr id="17" name="Text 15"/>
          <p:cNvSpPr/>
          <p:nvPr/>
        </p:nvSpPr>
        <p:spPr>
          <a:xfrm>
            <a:off x="2935224" y="4206240"/>
            <a:ext cx="1810512" cy="548640"/>
          </a:xfrm>
          <a:prstGeom prst="rect">
            <a:avLst/>
          </a:prstGeom>
          <a:noFill/>
          <a:ln/>
        </p:spPr>
        <p:txBody>
          <a:bodyPr wrap="square" rtlCol="0" anchor="ctr"/>
          <a:lstStyle/>
          <a:p>
            <a:pPr algn="ctr" indent="0" marL="0">
              <a:lnSpc>
                <a:spcPct val="115000"/>
              </a:lnSpc>
              <a:buNone/>
            </a:pPr>
            <a:r>
              <a:rPr lang="en-US" sz="1100" dirty="0">
                <a:solidFill>
                  <a:srgbClr val="4A4A4A"/>
                </a:solidFill>
                <a:latin typeface="Calibri" pitchFamily="34" charset="0"/>
                <a:ea typeface="Calibri" pitchFamily="34" charset="-122"/>
                <a:cs typeface="Calibri" pitchFamily="34" charset="-120"/>
              </a:rPr>
              <a:t>Gross margin</a:t>
            </a:r>
            <a:endParaRPr lang="en-US" sz="1100" dirty="0"/>
          </a:p>
        </p:txBody>
      </p:sp>
      <p:sp>
        <p:nvSpPr>
          <p:cNvPr id="18" name="Shape 16"/>
          <p:cNvSpPr/>
          <p:nvPr/>
        </p:nvSpPr>
        <p:spPr>
          <a:xfrm>
            <a:off x="3072384" y="5029200"/>
            <a:ext cx="1536192" cy="0"/>
          </a:xfrm>
          <a:prstGeom prst="line">
            <a:avLst/>
          </a:prstGeom>
          <a:noFill/>
          <a:ln w="9525">
            <a:solidFill>
              <a:srgbClr val="E4E1D8"/>
            </a:solidFill>
            <a:prstDash val="solid"/>
          </a:ln>
        </p:spPr>
      </p:sp>
      <p:sp>
        <p:nvSpPr>
          <p:cNvPr id="19" name="Text 17"/>
          <p:cNvSpPr/>
          <p:nvPr/>
        </p:nvSpPr>
        <p:spPr>
          <a:xfrm>
            <a:off x="2935224" y="5120640"/>
            <a:ext cx="1810512" cy="365760"/>
          </a:xfrm>
          <a:prstGeom prst="rect">
            <a:avLst/>
          </a:prstGeom>
          <a:noFill/>
          <a:ln/>
        </p:spPr>
        <p:txBody>
          <a:bodyPr wrap="square" rtlCol="0" anchor="ctr"/>
          <a:lstStyle/>
          <a:p>
            <a:pPr algn="ctr" indent="0" marL="0">
              <a:buNone/>
            </a:pPr>
            <a:r>
              <a:rPr lang="en-US" sz="850" i="1" dirty="0">
                <a:solidFill>
                  <a:srgbClr val="8A8A8A"/>
                </a:solidFill>
                <a:latin typeface="Calibri" pitchFamily="34" charset="0"/>
                <a:ea typeface="Calibri" pitchFamily="34" charset="-122"/>
                <a:cs typeface="Calibri" pitchFamily="34" charset="-120"/>
              </a:rPr>
              <a:t>Lagging indicator</a:t>
            </a:r>
            <a:endParaRPr lang="en-US" sz="850" dirty="0"/>
          </a:p>
        </p:txBody>
      </p:sp>
      <p:sp>
        <p:nvSpPr>
          <p:cNvPr id="20" name="Shape 18"/>
          <p:cNvSpPr/>
          <p:nvPr/>
        </p:nvSpPr>
        <p:spPr>
          <a:xfrm>
            <a:off x="5047488" y="2331720"/>
            <a:ext cx="2084832" cy="3291840"/>
          </a:xfrm>
          <a:prstGeom prst="roundRect">
            <a:avLst>
              <a:gd name="adj" fmla="val 2632"/>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5961888" y="2606040"/>
            <a:ext cx="256032" cy="256032"/>
          </a:xfrm>
          <a:prstGeom prst="ellipse">
            <a:avLst/>
          </a:prstGeom>
          <a:solidFill>
            <a:srgbClr val="C8A227"/>
          </a:solidFill>
          <a:ln/>
        </p:spPr>
      </p:sp>
      <p:sp>
        <p:nvSpPr>
          <p:cNvPr id="22" name="Text 20"/>
          <p:cNvSpPr/>
          <p:nvPr/>
        </p:nvSpPr>
        <p:spPr>
          <a:xfrm>
            <a:off x="5138928" y="2953512"/>
            <a:ext cx="1901952" cy="256032"/>
          </a:xfrm>
          <a:prstGeom prst="rect">
            <a:avLst/>
          </a:prstGeom>
          <a:noFill/>
          <a:ln/>
        </p:spPr>
        <p:txBody>
          <a:bodyPr wrap="square" rtlCol="0" anchor="ctr"/>
          <a:lstStyle/>
          <a:p>
            <a:pPr algn="ctr" indent="0" marL="0">
              <a:buNone/>
            </a:pPr>
            <a:r>
              <a:rPr lang="en-US" sz="900" b="1" spc="150" kern="0" dirty="0">
                <a:solidFill>
                  <a:srgbClr val="C8A227"/>
                </a:solidFill>
                <a:latin typeface="Calibri" pitchFamily="34" charset="0"/>
                <a:ea typeface="Calibri" pitchFamily="34" charset="-122"/>
                <a:cs typeface="Calibri" pitchFamily="34" charset="-120"/>
              </a:rPr>
              <a:t>YELLOW</a:t>
            </a:r>
            <a:endParaRPr lang="en-US" sz="900" dirty="0"/>
          </a:p>
        </p:txBody>
      </p:sp>
      <p:sp>
        <p:nvSpPr>
          <p:cNvPr id="23" name="Text 21"/>
          <p:cNvSpPr/>
          <p:nvPr/>
        </p:nvSpPr>
        <p:spPr>
          <a:xfrm>
            <a:off x="5138928" y="3383280"/>
            <a:ext cx="1901952" cy="685800"/>
          </a:xfrm>
          <a:prstGeom prst="rect">
            <a:avLst/>
          </a:prstGeom>
          <a:noFill/>
          <a:ln/>
        </p:spPr>
        <p:txBody>
          <a:bodyPr wrap="square" lIns="0" tIns="0" rIns="0" bIns="0" rtlCol="0" anchor="ctr"/>
          <a:lstStyle/>
          <a:p>
            <a:pPr algn="ctr" indent="0" marL="0">
              <a:buNone/>
            </a:pPr>
            <a:r>
              <a:rPr lang="en-US" sz="2600" b="1" dirty="0">
                <a:solidFill>
                  <a:srgbClr val="1A1A1A"/>
                </a:solidFill>
                <a:latin typeface="Cambria" pitchFamily="34" charset="0"/>
                <a:ea typeface="Cambria" pitchFamily="34" charset="-122"/>
                <a:cs typeface="Cambria" pitchFamily="34" charset="-120"/>
              </a:rPr>
              <a:t>6.2 weeks</a:t>
            </a:r>
            <a:endParaRPr lang="en-US" sz="2600" dirty="0"/>
          </a:p>
        </p:txBody>
      </p:sp>
      <p:sp>
        <p:nvSpPr>
          <p:cNvPr id="24" name="Text 22"/>
          <p:cNvSpPr/>
          <p:nvPr/>
        </p:nvSpPr>
        <p:spPr>
          <a:xfrm>
            <a:off x="5184648" y="4206240"/>
            <a:ext cx="1810512" cy="548640"/>
          </a:xfrm>
          <a:prstGeom prst="rect">
            <a:avLst/>
          </a:prstGeom>
          <a:noFill/>
          <a:ln/>
        </p:spPr>
        <p:txBody>
          <a:bodyPr wrap="square" rtlCol="0" anchor="ctr"/>
          <a:lstStyle/>
          <a:p>
            <a:pPr algn="ctr" indent="0" marL="0">
              <a:lnSpc>
                <a:spcPct val="115000"/>
              </a:lnSpc>
              <a:buNone/>
            </a:pPr>
            <a:r>
              <a:rPr lang="en-US" sz="1100" dirty="0">
                <a:solidFill>
                  <a:srgbClr val="4A4A4A"/>
                </a:solidFill>
                <a:latin typeface="Calibri" pitchFamily="34" charset="0"/>
                <a:ea typeface="Calibri" pitchFamily="34" charset="-122"/>
                <a:cs typeface="Calibri" pitchFamily="34" charset="-120"/>
              </a:rPr>
              <a:t>Backlog</a:t>
            </a:r>
            <a:endParaRPr lang="en-US" sz="1100" dirty="0"/>
          </a:p>
        </p:txBody>
      </p:sp>
      <p:sp>
        <p:nvSpPr>
          <p:cNvPr id="25" name="Shape 23"/>
          <p:cNvSpPr/>
          <p:nvPr/>
        </p:nvSpPr>
        <p:spPr>
          <a:xfrm>
            <a:off x="5321808" y="5029200"/>
            <a:ext cx="1536192" cy="0"/>
          </a:xfrm>
          <a:prstGeom prst="line">
            <a:avLst/>
          </a:prstGeom>
          <a:noFill/>
          <a:ln w="9525">
            <a:solidFill>
              <a:srgbClr val="E4E1D8"/>
            </a:solidFill>
            <a:prstDash val="solid"/>
          </a:ln>
        </p:spPr>
      </p:sp>
      <p:sp>
        <p:nvSpPr>
          <p:cNvPr id="26" name="Text 24"/>
          <p:cNvSpPr/>
          <p:nvPr/>
        </p:nvSpPr>
        <p:spPr>
          <a:xfrm>
            <a:off x="5184648" y="5120640"/>
            <a:ext cx="1810512" cy="365760"/>
          </a:xfrm>
          <a:prstGeom prst="rect">
            <a:avLst/>
          </a:prstGeom>
          <a:noFill/>
          <a:ln/>
        </p:spPr>
        <p:txBody>
          <a:bodyPr wrap="square" rtlCol="0" anchor="ctr"/>
          <a:lstStyle/>
          <a:p>
            <a:pPr algn="ctr" indent="0" marL="0">
              <a:buNone/>
            </a:pPr>
            <a:r>
              <a:rPr lang="en-US" sz="850" i="1" dirty="0">
                <a:solidFill>
                  <a:srgbClr val="8A8A8A"/>
                </a:solidFill>
                <a:latin typeface="Calibri" pitchFamily="34" charset="0"/>
                <a:ea typeface="Calibri" pitchFamily="34" charset="-122"/>
                <a:cs typeface="Calibri" pitchFamily="34" charset="-120"/>
              </a:rPr>
              <a:t>Leading indicator</a:t>
            </a:r>
            <a:endParaRPr lang="en-US" sz="850" dirty="0"/>
          </a:p>
        </p:txBody>
      </p:sp>
      <p:sp>
        <p:nvSpPr>
          <p:cNvPr id="27" name="Shape 25"/>
          <p:cNvSpPr/>
          <p:nvPr/>
        </p:nvSpPr>
        <p:spPr>
          <a:xfrm>
            <a:off x="7296912" y="2331720"/>
            <a:ext cx="2084832" cy="3291840"/>
          </a:xfrm>
          <a:prstGeom prst="roundRect">
            <a:avLst>
              <a:gd name="adj" fmla="val 2632"/>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28" name="Shape 26"/>
          <p:cNvSpPr/>
          <p:nvPr/>
        </p:nvSpPr>
        <p:spPr>
          <a:xfrm>
            <a:off x="8211312" y="2606040"/>
            <a:ext cx="256032" cy="256032"/>
          </a:xfrm>
          <a:prstGeom prst="ellipse">
            <a:avLst/>
          </a:prstGeom>
          <a:solidFill>
            <a:srgbClr val="2E7D32"/>
          </a:solidFill>
          <a:ln/>
        </p:spPr>
      </p:sp>
      <p:sp>
        <p:nvSpPr>
          <p:cNvPr id="29" name="Text 27"/>
          <p:cNvSpPr/>
          <p:nvPr/>
        </p:nvSpPr>
        <p:spPr>
          <a:xfrm>
            <a:off x="7388352" y="2953512"/>
            <a:ext cx="1901952" cy="256032"/>
          </a:xfrm>
          <a:prstGeom prst="rect">
            <a:avLst/>
          </a:prstGeom>
          <a:noFill/>
          <a:ln/>
        </p:spPr>
        <p:txBody>
          <a:bodyPr wrap="square" rtlCol="0" anchor="ctr"/>
          <a:lstStyle/>
          <a:p>
            <a:pPr algn="ctr" indent="0" marL="0">
              <a:buNone/>
            </a:pPr>
            <a:r>
              <a:rPr lang="en-US" sz="900" b="1" spc="150" kern="0" dirty="0">
                <a:solidFill>
                  <a:srgbClr val="2E7D32"/>
                </a:solidFill>
                <a:latin typeface="Calibri" pitchFamily="34" charset="0"/>
                <a:ea typeface="Calibri" pitchFamily="34" charset="-122"/>
                <a:cs typeface="Calibri" pitchFamily="34" charset="-120"/>
              </a:rPr>
              <a:t>GREEN</a:t>
            </a:r>
            <a:endParaRPr lang="en-US" sz="900" dirty="0"/>
          </a:p>
        </p:txBody>
      </p:sp>
      <p:sp>
        <p:nvSpPr>
          <p:cNvPr id="30" name="Text 28"/>
          <p:cNvSpPr/>
          <p:nvPr/>
        </p:nvSpPr>
        <p:spPr>
          <a:xfrm>
            <a:off x="7388352" y="3383280"/>
            <a:ext cx="1901952" cy="685800"/>
          </a:xfrm>
          <a:prstGeom prst="rect">
            <a:avLst/>
          </a:prstGeom>
          <a:noFill/>
          <a:ln/>
        </p:spPr>
        <p:txBody>
          <a:bodyPr wrap="square" lIns="0" tIns="0" rIns="0" bIns="0" rtlCol="0" anchor="ctr"/>
          <a:lstStyle/>
          <a:p>
            <a:pPr algn="ctr" indent="0" marL="0">
              <a:buNone/>
            </a:pPr>
            <a:r>
              <a:rPr lang="en-US" sz="2600" b="1" dirty="0">
                <a:solidFill>
                  <a:srgbClr val="1A1A1A"/>
                </a:solidFill>
                <a:latin typeface="Cambria" pitchFamily="34" charset="0"/>
                <a:ea typeface="Cambria" pitchFamily="34" charset="-122"/>
                <a:cs typeface="Cambria" pitchFamily="34" charset="-120"/>
              </a:rPr>
              <a:t>88%</a:t>
            </a:r>
            <a:endParaRPr lang="en-US" sz="2600" dirty="0"/>
          </a:p>
        </p:txBody>
      </p:sp>
      <p:sp>
        <p:nvSpPr>
          <p:cNvPr id="31" name="Text 29"/>
          <p:cNvSpPr/>
          <p:nvPr/>
        </p:nvSpPr>
        <p:spPr>
          <a:xfrm>
            <a:off x="7434072" y="4206240"/>
            <a:ext cx="1810512" cy="548640"/>
          </a:xfrm>
          <a:prstGeom prst="rect">
            <a:avLst/>
          </a:prstGeom>
          <a:noFill/>
          <a:ln/>
        </p:spPr>
        <p:txBody>
          <a:bodyPr wrap="square" rtlCol="0" anchor="ctr"/>
          <a:lstStyle/>
          <a:p>
            <a:pPr algn="ctr" indent="0" marL="0">
              <a:lnSpc>
                <a:spcPct val="115000"/>
              </a:lnSpc>
              <a:buNone/>
            </a:pPr>
            <a:r>
              <a:rPr lang="en-US" sz="1100" dirty="0">
                <a:solidFill>
                  <a:srgbClr val="4A4A4A"/>
                </a:solidFill>
                <a:latin typeface="Calibri" pitchFamily="34" charset="0"/>
                <a:ea typeface="Calibri" pitchFamily="34" charset="-122"/>
                <a:cs typeface="Calibri" pitchFamily="34" charset="-120"/>
              </a:rPr>
              <a:t>On-time jobs</a:t>
            </a:r>
            <a:endParaRPr lang="en-US" sz="1100" dirty="0"/>
          </a:p>
        </p:txBody>
      </p:sp>
      <p:sp>
        <p:nvSpPr>
          <p:cNvPr id="32" name="Shape 30"/>
          <p:cNvSpPr/>
          <p:nvPr/>
        </p:nvSpPr>
        <p:spPr>
          <a:xfrm>
            <a:off x="7571232" y="5029200"/>
            <a:ext cx="1536192" cy="0"/>
          </a:xfrm>
          <a:prstGeom prst="line">
            <a:avLst/>
          </a:prstGeom>
          <a:noFill/>
          <a:ln w="9525">
            <a:solidFill>
              <a:srgbClr val="E4E1D8"/>
            </a:solidFill>
            <a:prstDash val="solid"/>
          </a:ln>
        </p:spPr>
      </p:sp>
      <p:sp>
        <p:nvSpPr>
          <p:cNvPr id="33" name="Text 31"/>
          <p:cNvSpPr/>
          <p:nvPr/>
        </p:nvSpPr>
        <p:spPr>
          <a:xfrm>
            <a:off x="7434072" y="5120640"/>
            <a:ext cx="1810512" cy="365760"/>
          </a:xfrm>
          <a:prstGeom prst="rect">
            <a:avLst/>
          </a:prstGeom>
          <a:noFill/>
          <a:ln/>
        </p:spPr>
        <p:txBody>
          <a:bodyPr wrap="square" rtlCol="0" anchor="ctr"/>
          <a:lstStyle/>
          <a:p>
            <a:pPr algn="ctr" indent="0" marL="0">
              <a:buNone/>
            </a:pPr>
            <a:r>
              <a:rPr lang="en-US" sz="850" i="1" dirty="0">
                <a:solidFill>
                  <a:srgbClr val="8A8A8A"/>
                </a:solidFill>
                <a:latin typeface="Calibri" pitchFamily="34" charset="0"/>
                <a:ea typeface="Calibri" pitchFamily="34" charset="-122"/>
                <a:cs typeface="Calibri" pitchFamily="34" charset="-120"/>
              </a:rPr>
              <a:t>Lagging indicator</a:t>
            </a:r>
            <a:endParaRPr lang="en-US" sz="850" dirty="0"/>
          </a:p>
        </p:txBody>
      </p:sp>
      <p:sp>
        <p:nvSpPr>
          <p:cNvPr id="34" name="Shape 32"/>
          <p:cNvSpPr/>
          <p:nvPr/>
        </p:nvSpPr>
        <p:spPr>
          <a:xfrm>
            <a:off x="9546336" y="2331720"/>
            <a:ext cx="2084832" cy="3291840"/>
          </a:xfrm>
          <a:prstGeom prst="roundRect">
            <a:avLst>
              <a:gd name="adj" fmla="val 2632"/>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35" name="Shape 33"/>
          <p:cNvSpPr/>
          <p:nvPr/>
        </p:nvSpPr>
        <p:spPr>
          <a:xfrm>
            <a:off x="10460736" y="2606040"/>
            <a:ext cx="256032" cy="256032"/>
          </a:xfrm>
          <a:prstGeom prst="ellipse">
            <a:avLst/>
          </a:prstGeom>
          <a:solidFill>
            <a:srgbClr val="C8A227"/>
          </a:solidFill>
          <a:ln/>
        </p:spPr>
      </p:sp>
      <p:sp>
        <p:nvSpPr>
          <p:cNvPr id="36" name="Text 34"/>
          <p:cNvSpPr/>
          <p:nvPr/>
        </p:nvSpPr>
        <p:spPr>
          <a:xfrm>
            <a:off x="9637776" y="2953512"/>
            <a:ext cx="1901952" cy="256032"/>
          </a:xfrm>
          <a:prstGeom prst="rect">
            <a:avLst/>
          </a:prstGeom>
          <a:noFill/>
          <a:ln/>
        </p:spPr>
        <p:txBody>
          <a:bodyPr wrap="square" rtlCol="0" anchor="ctr"/>
          <a:lstStyle/>
          <a:p>
            <a:pPr algn="ctr" indent="0" marL="0">
              <a:buNone/>
            </a:pPr>
            <a:r>
              <a:rPr lang="en-US" sz="900" b="1" spc="150" kern="0" dirty="0">
                <a:solidFill>
                  <a:srgbClr val="C8A227"/>
                </a:solidFill>
                <a:latin typeface="Calibri" pitchFamily="34" charset="0"/>
                <a:ea typeface="Calibri" pitchFamily="34" charset="-122"/>
                <a:cs typeface="Calibri" pitchFamily="34" charset="-120"/>
              </a:rPr>
              <a:t>YELLOW</a:t>
            </a:r>
            <a:endParaRPr lang="en-US" sz="900" dirty="0"/>
          </a:p>
        </p:txBody>
      </p:sp>
      <p:sp>
        <p:nvSpPr>
          <p:cNvPr id="37" name="Text 35"/>
          <p:cNvSpPr/>
          <p:nvPr/>
        </p:nvSpPr>
        <p:spPr>
          <a:xfrm>
            <a:off x="9637776" y="3383280"/>
            <a:ext cx="1901952" cy="685800"/>
          </a:xfrm>
          <a:prstGeom prst="rect">
            <a:avLst/>
          </a:prstGeom>
          <a:noFill/>
          <a:ln/>
        </p:spPr>
        <p:txBody>
          <a:bodyPr wrap="square" lIns="0" tIns="0" rIns="0" bIns="0" rtlCol="0" anchor="ctr"/>
          <a:lstStyle/>
          <a:p>
            <a:pPr algn="ctr" indent="0" marL="0">
              <a:buNone/>
            </a:pPr>
            <a:r>
              <a:rPr lang="en-US" sz="2600" b="1" dirty="0">
                <a:solidFill>
                  <a:srgbClr val="1A1A1A"/>
                </a:solidFill>
                <a:latin typeface="Cambria" pitchFamily="34" charset="0"/>
                <a:ea typeface="Cambria" pitchFamily="34" charset="-122"/>
                <a:cs typeface="Cambria" pitchFamily="34" charset="-120"/>
              </a:rPr>
              <a:t>11</a:t>
            </a:r>
            <a:endParaRPr lang="en-US" sz="2600" dirty="0"/>
          </a:p>
        </p:txBody>
      </p:sp>
      <p:sp>
        <p:nvSpPr>
          <p:cNvPr id="38" name="Text 36"/>
          <p:cNvSpPr/>
          <p:nvPr/>
        </p:nvSpPr>
        <p:spPr>
          <a:xfrm>
            <a:off x="9683496" y="4206240"/>
            <a:ext cx="1810512" cy="548640"/>
          </a:xfrm>
          <a:prstGeom prst="rect">
            <a:avLst/>
          </a:prstGeom>
          <a:noFill/>
          <a:ln/>
        </p:spPr>
        <p:txBody>
          <a:bodyPr wrap="square" rtlCol="0" anchor="ctr"/>
          <a:lstStyle/>
          <a:p>
            <a:pPr algn="ctr" indent="0" marL="0">
              <a:lnSpc>
                <a:spcPct val="115000"/>
              </a:lnSpc>
              <a:buNone/>
            </a:pPr>
            <a:r>
              <a:rPr lang="en-US" sz="1100" dirty="0">
                <a:solidFill>
                  <a:srgbClr val="4A4A4A"/>
                </a:solidFill>
                <a:latin typeface="Calibri" pitchFamily="34" charset="0"/>
                <a:ea typeface="Calibri" pitchFamily="34" charset="-122"/>
                <a:cs typeface="Calibri" pitchFamily="34" charset="-120"/>
              </a:rPr>
              <a:t>New leads / wk</a:t>
            </a:r>
            <a:endParaRPr lang="en-US" sz="1100" dirty="0"/>
          </a:p>
        </p:txBody>
      </p:sp>
      <p:sp>
        <p:nvSpPr>
          <p:cNvPr id="39" name="Shape 37"/>
          <p:cNvSpPr/>
          <p:nvPr/>
        </p:nvSpPr>
        <p:spPr>
          <a:xfrm>
            <a:off x="9820656" y="5029200"/>
            <a:ext cx="1536192" cy="0"/>
          </a:xfrm>
          <a:prstGeom prst="line">
            <a:avLst/>
          </a:prstGeom>
          <a:noFill/>
          <a:ln w="9525">
            <a:solidFill>
              <a:srgbClr val="E4E1D8"/>
            </a:solidFill>
            <a:prstDash val="solid"/>
          </a:ln>
        </p:spPr>
      </p:sp>
      <p:sp>
        <p:nvSpPr>
          <p:cNvPr id="40" name="Text 38"/>
          <p:cNvSpPr/>
          <p:nvPr/>
        </p:nvSpPr>
        <p:spPr>
          <a:xfrm>
            <a:off x="9683496" y="5120640"/>
            <a:ext cx="1810512" cy="365760"/>
          </a:xfrm>
          <a:prstGeom prst="rect">
            <a:avLst/>
          </a:prstGeom>
          <a:noFill/>
          <a:ln/>
        </p:spPr>
        <p:txBody>
          <a:bodyPr wrap="square" rtlCol="0" anchor="ctr"/>
          <a:lstStyle/>
          <a:p>
            <a:pPr algn="ctr" indent="0" marL="0">
              <a:buNone/>
            </a:pPr>
            <a:r>
              <a:rPr lang="en-US" sz="850" i="1" dirty="0">
                <a:solidFill>
                  <a:srgbClr val="8A8A8A"/>
                </a:solidFill>
                <a:latin typeface="Calibri" pitchFamily="34" charset="0"/>
                <a:ea typeface="Calibri" pitchFamily="34" charset="-122"/>
                <a:cs typeface="Calibri" pitchFamily="34" charset="-120"/>
              </a:rPr>
              <a:t>Leading indicator</a:t>
            </a:r>
            <a:endParaRPr lang="en-US" sz="850" dirty="0"/>
          </a:p>
        </p:txBody>
      </p:sp>
      <p:sp>
        <p:nvSpPr>
          <p:cNvPr id="41" name="Text 39"/>
          <p:cNvSpPr/>
          <p:nvPr/>
        </p:nvSpPr>
        <p:spPr>
          <a:xfrm>
            <a:off x="548640" y="5852160"/>
            <a:ext cx="11094415" cy="457200"/>
          </a:xfrm>
          <a:prstGeom prst="rect">
            <a:avLst/>
          </a:prstGeom>
          <a:noFill/>
          <a:ln/>
        </p:spPr>
        <p:txBody>
          <a:bodyPr wrap="square" rtlCol="0" anchor="ctr"/>
          <a:lstStyle/>
          <a:p>
            <a:pPr indent="0" marL="0">
              <a:buNone/>
            </a:pPr>
            <a:r>
              <a:rPr lang="en-US" sz="1150" i="1" dirty="0">
                <a:solidFill>
                  <a:srgbClr val="4A4A4A"/>
                </a:solidFill>
                <a:latin typeface="Calibri" pitchFamily="34" charset="0"/>
                <a:ea typeface="Calibri" pitchFamily="34" charset="-122"/>
                <a:cs typeface="Calibri" pitchFamily="34" charset="-120"/>
              </a:rPr>
              <a:t>Two metrics flagged yellow here: backlog and lead flow. That's exactly the kind of early warning this dashboard exists to catch before it becomes a red.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TOOL EXAMPLE · MILESTONE 6</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08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700" b="1" dirty="0">
                <a:solidFill>
                  <a:srgbClr val="1A1A1A"/>
                </a:solidFill>
                <a:latin typeface="Cambria" pitchFamily="34" charset="0"/>
                <a:ea typeface="Cambria" pitchFamily="34" charset="-122"/>
                <a:cs typeface="Cambria" pitchFamily="34" charset="-120"/>
              </a:rPr>
              <a:t>Cash Confidence: a 13-week forecast, so the owner can actually sleep.</a:t>
            </a:r>
            <a:endParaRPr lang="en-US" sz="2700" dirty="0"/>
          </a:p>
        </p:txBody>
      </p:sp>
      <p:sp>
        <p:nvSpPr>
          <p:cNvPr id="5" name="Text 3"/>
          <p:cNvSpPr/>
          <p:nvPr/>
        </p:nvSpPr>
        <p:spPr>
          <a:xfrm>
            <a:off x="548640" y="141732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Projects cash position 13 weeks out and layers in a receivables-timing check, naming exactly how much cash is overdue against the client's own payment terms.</a:t>
            </a:r>
            <a:endParaRPr lang="en-US" sz="1350" dirty="0"/>
          </a:p>
        </p:txBody>
      </p:sp>
      <p:graphicFrame>
        <p:nvGraphicFramePr>
          <p:cNvPr id="6" name="Chart 0" descr=""/>
          <p:cNvGraphicFramePr/>
          <p:nvPr/>
        </p:nvGraphicFramePr>
        <p:xfrm>
          <a:off x="548640" y="2331720"/>
          <a:ext cx="786384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778240" y="2331720"/>
            <a:ext cx="2864815" cy="3566160"/>
          </a:xfrm>
          <a:prstGeom prst="roundRect">
            <a:avLst>
              <a:gd name="adj" fmla="val 1915"/>
            </a:avLst>
          </a:prstGeom>
          <a:solidFill>
            <a:srgbClr val="1A1A1A"/>
          </a:solidFill>
          <a:ln/>
          <a:effectLst>
            <a:outerShdw sx="100000" sy="100000" kx="0" ky="0" algn="bl" rotWithShape="0" blurRad="101600" dist="38100" dir="2700000">
              <a:srgbClr val="000000">
                <a:alpha val="12000"/>
              </a:srgbClr>
            </a:outerShdw>
          </a:effectLst>
        </p:spPr>
      </p:sp>
      <p:sp>
        <p:nvSpPr>
          <p:cNvPr id="8" name="Text 5"/>
          <p:cNvSpPr/>
          <p:nvPr/>
        </p:nvSpPr>
        <p:spPr>
          <a:xfrm>
            <a:off x="9034272" y="2606040"/>
            <a:ext cx="2352751" cy="274320"/>
          </a:xfrm>
          <a:prstGeom prst="rect">
            <a:avLst/>
          </a:prstGeom>
          <a:noFill/>
          <a:ln/>
        </p:spPr>
        <p:txBody>
          <a:bodyPr wrap="square" rtlCol="0" anchor="ctr"/>
          <a:lstStyle/>
          <a:p>
            <a:pPr indent="0" marL="0">
              <a:buNone/>
            </a:pPr>
            <a:r>
              <a:rPr lang="en-US" sz="950" b="1" spc="120" kern="0" dirty="0">
                <a:solidFill>
                  <a:srgbClr val="E8C766"/>
                </a:solidFill>
                <a:latin typeface="Calibri" pitchFamily="34" charset="0"/>
                <a:ea typeface="Calibri" pitchFamily="34" charset="-122"/>
                <a:cs typeface="Calibri" pitchFamily="34" charset="-120"/>
              </a:rPr>
              <a:t>RECEIVABLES CHECK</a:t>
            </a:r>
            <a:endParaRPr lang="en-US" sz="950" dirty="0"/>
          </a:p>
        </p:txBody>
      </p:sp>
      <p:sp>
        <p:nvSpPr>
          <p:cNvPr id="9" name="Text 6"/>
          <p:cNvSpPr/>
          <p:nvPr/>
        </p:nvSpPr>
        <p:spPr>
          <a:xfrm>
            <a:off x="9034272" y="2880360"/>
            <a:ext cx="2352751"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Overdue against terms</a:t>
            </a:r>
            <a:endParaRPr lang="en-US" sz="1400" dirty="0"/>
          </a:p>
        </p:txBody>
      </p:sp>
      <p:sp>
        <p:nvSpPr>
          <p:cNvPr id="10" name="Text 7"/>
          <p:cNvSpPr/>
          <p:nvPr/>
        </p:nvSpPr>
        <p:spPr>
          <a:xfrm>
            <a:off x="9034272" y="3246120"/>
            <a:ext cx="2352751" cy="640080"/>
          </a:xfrm>
          <a:prstGeom prst="rect">
            <a:avLst/>
          </a:prstGeom>
          <a:noFill/>
          <a:ln/>
        </p:spPr>
        <p:txBody>
          <a:bodyPr wrap="square" lIns="0" tIns="0" rIns="0" bIns="0" rtlCol="0" anchor="ctr"/>
          <a:lstStyle/>
          <a:p>
            <a:pPr indent="0" marL="0">
              <a:buNone/>
            </a:pPr>
            <a:r>
              <a:rPr lang="en-US" sz="3200" b="1" dirty="0">
                <a:solidFill>
                  <a:srgbClr val="E8C766"/>
                </a:solidFill>
                <a:latin typeface="Cambria" pitchFamily="34" charset="0"/>
                <a:ea typeface="Cambria" pitchFamily="34" charset="-122"/>
                <a:cs typeface="Cambria" pitchFamily="34" charset="-120"/>
              </a:rPr>
              <a:t>$18,400</a:t>
            </a:r>
            <a:endParaRPr lang="en-US" sz="3200" dirty="0"/>
          </a:p>
        </p:txBody>
      </p:sp>
      <p:sp>
        <p:nvSpPr>
          <p:cNvPr id="11" name="Text 8"/>
          <p:cNvSpPr/>
          <p:nvPr/>
        </p:nvSpPr>
        <p:spPr>
          <a:xfrm>
            <a:off x="9034272" y="3977640"/>
            <a:ext cx="2352751" cy="822960"/>
          </a:xfrm>
          <a:prstGeom prst="rect">
            <a:avLst/>
          </a:prstGeom>
          <a:noFill/>
          <a:ln/>
        </p:spPr>
        <p:txBody>
          <a:bodyPr wrap="square" rtlCol="0" anchor="ctr"/>
          <a:lstStyle/>
          <a:p>
            <a:pPr indent="0" marL="0">
              <a:lnSpc>
                <a:spcPct val="125000"/>
              </a:lnSpc>
              <a:buNone/>
            </a:pPr>
            <a:r>
              <a:rPr lang="en-US" sz="1050" dirty="0">
                <a:solidFill>
                  <a:srgbClr val="C9C9C9"/>
                </a:solidFill>
                <a:latin typeface="Calibri" pitchFamily="34" charset="0"/>
                <a:ea typeface="Calibri" pitchFamily="34" charset="-122"/>
                <a:cs typeface="Calibri" pitchFamily="34" charset="-120"/>
              </a:rPr>
              <a:t>Net-30 terms, 22 days overdue on average across 4 accounts.</a:t>
            </a:r>
            <a:endParaRPr lang="en-US" sz="1050" dirty="0"/>
          </a:p>
        </p:txBody>
      </p:sp>
      <p:sp>
        <p:nvSpPr>
          <p:cNvPr id="12" name="Shape 9"/>
          <p:cNvSpPr/>
          <p:nvPr/>
        </p:nvSpPr>
        <p:spPr>
          <a:xfrm>
            <a:off x="9034272" y="4892040"/>
            <a:ext cx="2352751" cy="0"/>
          </a:xfrm>
          <a:prstGeom prst="line">
            <a:avLst/>
          </a:prstGeom>
          <a:noFill/>
          <a:ln w="9525">
            <a:solidFill>
              <a:srgbClr val="3A3A3A"/>
            </a:solidFill>
            <a:prstDash val="solid"/>
          </a:ln>
        </p:spPr>
      </p:sp>
      <p:sp>
        <p:nvSpPr>
          <p:cNvPr id="13" name="Text 10"/>
          <p:cNvSpPr/>
          <p:nvPr/>
        </p:nvSpPr>
        <p:spPr>
          <a:xfrm>
            <a:off x="9034272" y="5029200"/>
            <a:ext cx="2352751" cy="685800"/>
          </a:xfrm>
          <a:prstGeom prst="rect">
            <a:avLst/>
          </a:prstGeom>
          <a:noFill/>
          <a:ln/>
        </p:spPr>
        <p:txBody>
          <a:bodyPr wrap="square" rtlCol="0" anchor="ctr"/>
          <a:lstStyle/>
          <a:p>
            <a:pPr indent="0" marL="0">
              <a:lnSpc>
                <a:spcPct val="120000"/>
              </a:lnSpc>
              <a:buNone/>
            </a:pPr>
            <a:r>
              <a:rPr lang="en-US" sz="950" i="1" dirty="0">
                <a:solidFill>
                  <a:srgbClr val="9A9A9A"/>
                </a:solidFill>
                <a:latin typeface="Calibri" pitchFamily="34" charset="0"/>
                <a:ea typeface="Calibri" pitchFamily="34" charset="-122"/>
                <a:cs typeface="Calibri" pitchFamily="34" charset="-120"/>
              </a:rPr>
              <a:t>All numbers on this slide are a worked sample, not a real client's book.</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WHAT'S BEEN BUILT · GETTING FOUND</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09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700" b="1" dirty="0">
                <a:solidFill>
                  <a:srgbClr val="1A1A1A"/>
                </a:solidFill>
                <a:latin typeface="Cambria" pitchFamily="34" charset="0"/>
                <a:ea typeface="Cambria" pitchFamily="34" charset="-122"/>
                <a:cs typeface="Cambria" pitchFamily="34" charset="-120"/>
              </a:rPr>
              <a:t>The front door is open. People can already find us.</a:t>
            </a:r>
            <a:endParaRPr lang="en-US" sz="2700" dirty="0"/>
          </a:p>
        </p:txBody>
      </p:sp>
      <p:sp>
        <p:nvSpPr>
          <p:cNvPr id="5" name="Text 3"/>
          <p:cNvSpPr/>
          <p:nvPr/>
        </p:nvSpPr>
        <p:spPr>
          <a:xfrm>
            <a:off x="548640" y="146304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Social first, not the website. Instagram is live, the link-in-bio hub is live and self-hosted, and the funnel site is drafted around a proven pattern: free diagnostic, email gate, then a fit application before any sales conversation.</a:t>
            </a:r>
            <a:endParaRPr lang="en-US" sz="1350" dirty="0"/>
          </a:p>
        </p:txBody>
      </p:sp>
      <p:sp>
        <p:nvSpPr>
          <p:cNvPr id="6" name="Shape 4"/>
          <p:cNvSpPr/>
          <p:nvPr/>
        </p:nvSpPr>
        <p:spPr>
          <a:xfrm>
            <a:off x="548640" y="2468880"/>
            <a:ext cx="2724912" cy="2651760"/>
          </a:xfrm>
          <a:prstGeom prst="roundRect">
            <a:avLst>
              <a:gd name="adj" fmla="val 2069"/>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804672" y="2724912"/>
            <a:ext cx="502920" cy="502920"/>
          </a:xfrm>
          <a:prstGeom prst="ellipse">
            <a:avLst/>
          </a:prstGeom>
          <a:solidFill>
            <a:srgbClr val="F7EFD6"/>
          </a:solidFill>
          <a:ln/>
        </p:spPr>
      </p:sp>
      <p:pic>
        <p:nvPicPr>
          <p:cNvPr id="8" name="Image 0" descr="preencoded.png">    </p:cNvPr>
          <p:cNvPicPr>
            <a:picLocks noChangeAspect="1"/>
          </p:cNvPicPr>
          <p:nvPr/>
        </p:nvPicPr>
        <p:blipFill>
          <a:blip r:embed="rId1"/>
          <a:stretch>
            <a:fillRect/>
          </a:stretch>
        </p:blipFill>
        <p:spPr>
          <a:xfrm>
            <a:off x="932688" y="2852928"/>
            <a:ext cx="256032" cy="256032"/>
          </a:xfrm>
          <a:prstGeom prst="rect">
            <a:avLst/>
          </a:prstGeom>
        </p:spPr>
      </p:pic>
      <p:sp>
        <p:nvSpPr>
          <p:cNvPr id="9" name="Text 6"/>
          <p:cNvSpPr/>
          <p:nvPr/>
        </p:nvSpPr>
        <p:spPr>
          <a:xfrm>
            <a:off x="777240" y="3383280"/>
            <a:ext cx="2267712" cy="594360"/>
          </a:xfrm>
          <a:prstGeom prst="rect">
            <a:avLst/>
          </a:prstGeom>
          <a:noFill/>
          <a:ln/>
        </p:spPr>
        <p:txBody>
          <a:bodyPr wrap="square" lIns="0" tIns="0" rIns="0" bIns="0" rtlCol="0" anchor="ctr"/>
          <a:lstStyle/>
          <a:p>
            <a:pPr indent="0" marL="0">
              <a:lnSpc>
                <a:spcPct val="110000"/>
              </a:lnSpc>
              <a:buNone/>
            </a:pPr>
            <a:r>
              <a:rPr lang="en-US" sz="1400" b="1" dirty="0">
                <a:solidFill>
                  <a:srgbClr val="1A1A1A"/>
                </a:solidFill>
                <a:latin typeface="Cambria" pitchFamily="34" charset="0"/>
                <a:ea typeface="Cambria" pitchFamily="34" charset="-122"/>
                <a:cs typeface="Cambria" pitchFamily="34" charset="-120"/>
              </a:rPr>
              <a:t>@businesswithoutyou</a:t>
            </a:r>
            <a:endParaRPr lang="en-US" sz="1400" dirty="0"/>
          </a:p>
        </p:txBody>
      </p:sp>
      <p:sp>
        <p:nvSpPr>
          <p:cNvPr id="10" name="Text 7"/>
          <p:cNvSpPr/>
          <p:nvPr/>
        </p:nvSpPr>
        <p:spPr>
          <a:xfrm>
            <a:off x="777240" y="3977640"/>
            <a:ext cx="2267712" cy="100584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Instagram page live, first content posted, built around real owner pain points.</a:t>
            </a:r>
            <a:endParaRPr lang="en-US" sz="1050" dirty="0"/>
          </a:p>
        </p:txBody>
      </p:sp>
      <p:sp>
        <p:nvSpPr>
          <p:cNvPr id="11" name="Shape 8"/>
          <p:cNvSpPr/>
          <p:nvPr/>
        </p:nvSpPr>
        <p:spPr>
          <a:xfrm>
            <a:off x="3419856" y="2468880"/>
            <a:ext cx="2724912" cy="2651760"/>
          </a:xfrm>
          <a:prstGeom prst="roundRect">
            <a:avLst>
              <a:gd name="adj" fmla="val 2069"/>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2" name="Shape 9"/>
          <p:cNvSpPr/>
          <p:nvPr/>
        </p:nvSpPr>
        <p:spPr>
          <a:xfrm>
            <a:off x="3675888" y="2724912"/>
            <a:ext cx="502920" cy="502920"/>
          </a:xfrm>
          <a:prstGeom prst="ellipse">
            <a:avLst/>
          </a:prstGeom>
          <a:solidFill>
            <a:srgbClr val="F7EFD6"/>
          </a:solidFill>
          <a:ln/>
        </p:spPr>
      </p:sp>
      <p:pic>
        <p:nvPicPr>
          <p:cNvPr id="13" name="Image 1" descr="preencoded.png">    </p:cNvPr>
          <p:cNvPicPr>
            <a:picLocks noChangeAspect="1"/>
          </p:cNvPicPr>
          <p:nvPr/>
        </p:nvPicPr>
        <p:blipFill>
          <a:blip r:embed="rId2"/>
          <a:stretch>
            <a:fillRect/>
          </a:stretch>
        </p:blipFill>
        <p:spPr>
          <a:xfrm>
            <a:off x="3803904" y="2852928"/>
            <a:ext cx="256032" cy="256032"/>
          </a:xfrm>
          <a:prstGeom prst="rect">
            <a:avLst/>
          </a:prstGeom>
        </p:spPr>
      </p:pic>
      <p:sp>
        <p:nvSpPr>
          <p:cNvPr id="14" name="Text 10"/>
          <p:cNvSpPr/>
          <p:nvPr/>
        </p:nvSpPr>
        <p:spPr>
          <a:xfrm>
            <a:off x="3648456" y="3383280"/>
            <a:ext cx="2267712" cy="594360"/>
          </a:xfrm>
          <a:prstGeom prst="rect">
            <a:avLst/>
          </a:prstGeom>
          <a:noFill/>
          <a:ln/>
        </p:spPr>
        <p:txBody>
          <a:bodyPr wrap="square" lIns="0" tIns="0" rIns="0" bIns="0" rtlCol="0" anchor="ctr"/>
          <a:lstStyle/>
          <a:p>
            <a:pPr indent="0" marL="0">
              <a:lnSpc>
                <a:spcPct val="110000"/>
              </a:lnSpc>
              <a:buNone/>
            </a:pPr>
            <a:r>
              <a:rPr lang="en-US" sz="1400" b="1" dirty="0">
                <a:solidFill>
                  <a:srgbClr val="1A1A1A"/>
                </a:solidFill>
                <a:latin typeface="Cambria" pitchFamily="34" charset="0"/>
                <a:ea typeface="Cambria" pitchFamily="34" charset="-122"/>
                <a:cs typeface="Cambria" pitchFamily="34" charset="-120"/>
              </a:rPr>
              <a:t>Link-in-bio hub</a:t>
            </a:r>
            <a:endParaRPr lang="en-US" sz="1400" dirty="0"/>
          </a:p>
        </p:txBody>
      </p:sp>
      <p:sp>
        <p:nvSpPr>
          <p:cNvPr id="15" name="Text 11"/>
          <p:cNvSpPr/>
          <p:nvPr/>
        </p:nvSpPr>
        <p:spPr>
          <a:xfrm>
            <a:off x="3648456" y="3977640"/>
            <a:ext cx="2267712" cy="100584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Self-hosted and branded, no third-party fee or logo. Live on Cloudflare Pages.</a:t>
            </a:r>
            <a:endParaRPr lang="en-US" sz="1050" dirty="0"/>
          </a:p>
        </p:txBody>
      </p:sp>
      <p:sp>
        <p:nvSpPr>
          <p:cNvPr id="16" name="Shape 12"/>
          <p:cNvSpPr/>
          <p:nvPr/>
        </p:nvSpPr>
        <p:spPr>
          <a:xfrm>
            <a:off x="6291072" y="2468880"/>
            <a:ext cx="2724912" cy="2651760"/>
          </a:xfrm>
          <a:prstGeom prst="roundRect">
            <a:avLst>
              <a:gd name="adj" fmla="val 2069"/>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7" name="Shape 13"/>
          <p:cNvSpPr/>
          <p:nvPr/>
        </p:nvSpPr>
        <p:spPr>
          <a:xfrm>
            <a:off x="6547104" y="2724912"/>
            <a:ext cx="502920" cy="502920"/>
          </a:xfrm>
          <a:prstGeom prst="ellipse">
            <a:avLst/>
          </a:prstGeom>
          <a:solidFill>
            <a:srgbClr val="F7EFD6"/>
          </a:solidFill>
          <a:ln/>
        </p:spPr>
      </p:sp>
      <p:pic>
        <p:nvPicPr>
          <p:cNvPr id="18" name="Image 2" descr="preencoded.png">    </p:cNvPr>
          <p:cNvPicPr>
            <a:picLocks noChangeAspect="1"/>
          </p:cNvPicPr>
          <p:nvPr/>
        </p:nvPicPr>
        <p:blipFill>
          <a:blip r:embed="rId3"/>
          <a:stretch>
            <a:fillRect/>
          </a:stretch>
        </p:blipFill>
        <p:spPr>
          <a:xfrm>
            <a:off x="6675120" y="2852928"/>
            <a:ext cx="256032" cy="256032"/>
          </a:xfrm>
          <a:prstGeom prst="rect">
            <a:avLst/>
          </a:prstGeom>
        </p:spPr>
      </p:pic>
      <p:sp>
        <p:nvSpPr>
          <p:cNvPr id="19" name="Text 14"/>
          <p:cNvSpPr/>
          <p:nvPr/>
        </p:nvSpPr>
        <p:spPr>
          <a:xfrm>
            <a:off x="6519672" y="3383280"/>
            <a:ext cx="2267712" cy="594360"/>
          </a:xfrm>
          <a:prstGeom prst="rect">
            <a:avLst/>
          </a:prstGeom>
          <a:noFill/>
          <a:ln/>
        </p:spPr>
        <p:txBody>
          <a:bodyPr wrap="square" lIns="0" tIns="0" rIns="0" bIns="0" rtlCol="0" anchor="ctr"/>
          <a:lstStyle/>
          <a:p>
            <a:pPr indent="0" marL="0">
              <a:lnSpc>
                <a:spcPct val="110000"/>
              </a:lnSpc>
              <a:buNone/>
            </a:pPr>
            <a:r>
              <a:rPr lang="en-US" sz="1400" b="1" dirty="0">
                <a:solidFill>
                  <a:srgbClr val="1A1A1A"/>
                </a:solidFill>
                <a:latin typeface="Cambria" pitchFamily="34" charset="0"/>
                <a:ea typeface="Cambria" pitchFamily="34" charset="-122"/>
                <a:cs typeface="Cambria" pitchFamily="34" charset="-120"/>
              </a:rPr>
              <a:t>Diagnostic-first funnel</a:t>
            </a:r>
            <a:endParaRPr lang="en-US" sz="1400" dirty="0"/>
          </a:p>
        </p:txBody>
      </p:sp>
      <p:sp>
        <p:nvSpPr>
          <p:cNvPr id="20" name="Text 15"/>
          <p:cNvSpPr/>
          <p:nvPr/>
        </p:nvSpPr>
        <p:spPr>
          <a:xfrm>
            <a:off x="6519672" y="3977640"/>
            <a:ext cx="2267712" cy="100584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Free tool, then email, then a fit-checked application. Drafted, ready to iterate.</a:t>
            </a:r>
            <a:endParaRPr lang="en-US" sz="1050" dirty="0"/>
          </a:p>
        </p:txBody>
      </p:sp>
      <p:sp>
        <p:nvSpPr>
          <p:cNvPr id="21" name="Shape 16"/>
          <p:cNvSpPr/>
          <p:nvPr/>
        </p:nvSpPr>
        <p:spPr>
          <a:xfrm>
            <a:off x="9162288" y="2468880"/>
            <a:ext cx="2724912" cy="2651760"/>
          </a:xfrm>
          <a:prstGeom prst="roundRect">
            <a:avLst>
              <a:gd name="adj" fmla="val 2069"/>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22" name="Shape 17"/>
          <p:cNvSpPr/>
          <p:nvPr/>
        </p:nvSpPr>
        <p:spPr>
          <a:xfrm>
            <a:off x="9418320" y="2724912"/>
            <a:ext cx="502920" cy="502920"/>
          </a:xfrm>
          <a:prstGeom prst="ellipse">
            <a:avLst/>
          </a:prstGeom>
          <a:solidFill>
            <a:srgbClr val="F7EFD6"/>
          </a:solidFill>
          <a:ln/>
        </p:spPr>
      </p:sp>
      <p:pic>
        <p:nvPicPr>
          <p:cNvPr id="23" name="Image 3" descr="preencoded.png">    </p:cNvPr>
          <p:cNvPicPr>
            <a:picLocks noChangeAspect="1"/>
          </p:cNvPicPr>
          <p:nvPr/>
        </p:nvPicPr>
        <p:blipFill>
          <a:blip r:embed="rId4"/>
          <a:stretch>
            <a:fillRect/>
          </a:stretch>
        </p:blipFill>
        <p:spPr>
          <a:xfrm>
            <a:off x="9546336" y="2852928"/>
            <a:ext cx="256032" cy="256032"/>
          </a:xfrm>
          <a:prstGeom prst="rect">
            <a:avLst/>
          </a:prstGeom>
        </p:spPr>
      </p:pic>
      <p:sp>
        <p:nvSpPr>
          <p:cNvPr id="24" name="Text 18"/>
          <p:cNvSpPr/>
          <p:nvPr/>
        </p:nvSpPr>
        <p:spPr>
          <a:xfrm>
            <a:off x="9390888" y="3383280"/>
            <a:ext cx="2267712" cy="594360"/>
          </a:xfrm>
          <a:prstGeom prst="rect">
            <a:avLst/>
          </a:prstGeom>
          <a:noFill/>
          <a:ln/>
        </p:spPr>
        <p:txBody>
          <a:bodyPr wrap="square" lIns="0" tIns="0" rIns="0" bIns="0" rtlCol="0" anchor="ctr"/>
          <a:lstStyle/>
          <a:p>
            <a:pPr indent="0" marL="0">
              <a:lnSpc>
                <a:spcPct val="110000"/>
              </a:lnSpc>
              <a:buNone/>
            </a:pPr>
            <a:r>
              <a:rPr lang="en-US" sz="1400" b="1" dirty="0">
                <a:solidFill>
                  <a:srgbClr val="1A1A1A"/>
                </a:solidFill>
                <a:latin typeface="Cambria" pitchFamily="34" charset="0"/>
                <a:ea typeface="Cambria" pitchFamily="34" charset="-122"/>
                <a:cs typeface="Cambria" pitchFamily="34" charset="-120"/>
              </a:rPr>
              <a:t>First content live</a:t>
            </a:r>
            <a:endParaRPr lang="en-US" sz="1400" dirty="0"/>
          </a:p>
        </p:txBody>
      </p:sp>
      <p:sp>
        <p:nvSpPr>
          <p:cNvPr id="25" name="Text 19"/>
          <p:cNvSpPr/>
          <p:nvPr/>
        </p:nvSpPr>
        <p:spPr>
          <a:xfrm>
            <a:off x="9390888" y="3977640"/>
            <a:ext cx="2267712" cy="100584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Real posts published, borrowing credibility from Cool Hollow Solutions to warm the cold start.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HOW WE GET FOUND · THE PLAYBOOK</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10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500" b="1" dirty="0">
                <a:solidFill>
                  <a:srgbClr val="1A1A1A"/>
                </a:solidFill>
                <a:latin typeface="Cambria" pitchFamily="34" charset="0"/>
                <a:ea typeface="Cambria" pitchFamily="34" charset="-122"/>
                <a:cs typeface="Cambria" pitchFamily="34" charset="-120"/>
              </a:rPr>
              <a:t>Our organic funnel, pressure-tested against Hormozi and Cardone.</a:t>
            </a:r>
            <a:endParaRPr lang="en-US" sz="2500" dirty="0"/>
          </a:p>
        </p:txBody>
      </p:sp>
      <p:sp>
        <p:nvSpPr>
          <p:cNvPr id="5" name="Text 3"/>
          <p:cNvSpPr/>
          <p:nvPr/>
        </p:nvSpPr>
        <p:spPr>
          <a:xfrm>
            <a:off x="548640" y="1463040"/>
            <a:ext cx="110944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We studied the best in the business-coaching space and kept only what fits a practical, finance-led brand. Left: the mechanism. Right: how we show up so it actually converts.</a:t>
            </a:r>
            <a:endParaRPr lang="en-US" sz="1350" dirty="0"/>
          </a:p>
        </p:txBody>
      </p:sp>
      <p:sp>
        <p:nvSpPr>
          <p:cNvPr id="6" name="Shape 4"/>
          <p:cNvSpPr/>
          <p:nvPr/>
        </p:nvSpPr>
        <p:spPr>
          <a:xfrm>
            <a:off x="548640" y="2377440"/>
            <a:ext cx="3611880" cy="658368"/>
          </a:xfrm>
          <a:prstGeom prst="roundRect">
            <a:avLst>
              <a:gd name="adj" fmla="val 6944"/>
            </a:avLst>
          </a:prstGeom>
          <a:solidFill>
            <a:srgbClr val="1A1A1A"/>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749808" y="2459736"/>
            <a:ext cx="3209544"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Instagram</a:t>
            </a:r>
            <a:endParaRPr lang="en-US" sz="1300" dirty="0"/>
          </a:p>
        </p:txBody>
      </p:sp>
      <p:sp>
        <p:nvSpPr>
          <p:cNvPr id="8" name="Text 6"/>
          <p:cNvSpPr/>
          <p:nvPr/>
        </p:nvSpPr>
        <p:spPr>
          <a:xfrm>
            <a:off x="749808" y="2724912"/>
            <a:ext cx="3209544" cy="256032"/>
          </a:xfrm>
          <a:prstGeom prst="rect">
            <a:avLst/>
          </a:prstGeom>
          <a:noFill/>
          <a:ln/>
        </p:spPr>
        <p:txBody>
          <a:bodyPr wrap="square" lIns="0" tIns="0" rIns="0" bIns="0" rtlCol="0" anchor="ctr"/>
          <a:lstStyle/>
          <a:p>
            <a:pPr indent="0" marL="0">
              <a:buNone/>
            </a:pPr>
            <a:r>
              <a:rPr lang="en-US" sz="850" dirty="0">
                <a:solidFill>
                  <a:srgbClr val="C9C9C9"/>
                </a:solidFill>
                <a:latin typeface="Calibri" pitchFamily="34" charset="0"/>
                <a:ea typeface="Calibri" pitchFamily="34" charset="-122"/>
                <a:cs typeface="Calibri" pitchFamily="34" charset="-120"/>
              </a:rPr>
              <a:t>2 posts/day, value only, one link in bio</a:t>
            </a:r>
            <a:endParaRPr lang="en-US" sz="850" dirty="0"/>
          </a:p>
        </p:txBody>
      </p:sp>
      <p:sp>
        <p:nvSpPr>
          <p:cNvPr id="9" name="Shape 7"/>
          <p:cNvSpPr/>
          <p:nvPr/>
        </p:nvSpPr>
        <p:spPr>
          <a:xfrm>
            <a:off x="731520" y="3163824"/>
            <a:ext cx="3246120" cy="658368"/>
          </a:xfrm>
          <a:prstGeom prst="roundRect">
            <a:avLst>
              <a:gd name="adj" fmla="val 694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932688" y="3246120"/>
            <a:ext cx="2843784" cy="256032"/>
          </a:xfrm>
          <a:prstGeom prst="rect">
            <a:avLst/>
          </a:prstGeom>
          <a:noFill/>
          <a:ln/>
        </p:spPr>
        <p:txBody>
          <a:bodyPr wrap="square" lIns="0" tIns="0" rIns="0" bIns="0"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Free analyzer</a:t>
            </a:r>
            <a:endParaRPr lang="en-US" sz="1300" dirty="0"/>
          </a:p>
        </p:txBody>
      </p:sp>
      <p:sp>
        <p:nvSpPr>
          <p:cNvPr id="11" name="Text 9"/>
          <p:cNvSpPr/>
          <p:nvPr/>
        </p:nvSpPr>
        <p:spPr>
          <a:xfrm>
            <a:off x="932688" y="3511296"/>
            <a:ext cx="2843784" cy="256032"/>
          </a:xfrm>
          <a:prstGeom prst="rect">
            <a:avLst/>
          </a:prstGeom>
          <a:noFill/>
          <a:ln/>
        </p:spPr>
        <p:txBody>
          <a:bodyPr wrap="square" lIns="0" tIns="0" rIns="0" bIns="0" rtlCol="0" anchor="ctr"/>
          <a:lstStyle/>
          <a:p>
            <a:pPr indent="0" marL="0">
              <a:buNone/>
            </a:pPr>
            <a:r>
              <a:rPr lang="en-US" sz="850" dirty="0">
                <a:solidFill>
                  <a:srgbClr val="4A4A4A"/>
                </a:solidFill>
                <a:latin typeface="Calibri" pitchFamily="34" charset="0"/>
                <a:ea typeface="Calibri" pitchFamily="34" charset="-122"/>
                <a:cs typeface="Calibri" pitchFamily="34" charset="-120"/>
              </a:rPr>
              <a:t>Upload a P&amp;L. Email captured before the result</a:t>
            </a:r>
            <a:endParaRPr lang="en-US" sz="850" dirty="0"/>
          </a:p>
        </p:txBody>
      </p:sp>
      <p:sp>
        <p:nvSpPr>
          <p:cNvPr id="12" name="Shape 10"/>
          <p:cNvSpPr/>
          <p:nvPr/>
        </p:nvSpPr>
        <p:spPr>
          <a:xfrm>
            <a:off x="914400" y="3950208"/>
            <a:ext cx="2880360" cy="658368"/>
          </a:xfrm>
          <a:prstGeom prst="roundRect">
            <a:avLst>
              <a:gd name="adj" fmla="val 694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1115568" y="4032504"/>
            <a:ext cx="2478024" cy="256032"/>
          </a:xfrm>
          <a:prstGeom prst="rect">
            <a:avLst/>
          </a:prstGeom>
          <a:noFill/>
          <a:ln/>
        </p:spPr>
        <p:txBody>
          <a:bodyPr wrap="square" lIns="0" tIns="0" rIns="0" bIns="0"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Results + VSL</a:t>
            </a:r>
            <a:endParaRPr lang="en-US" sz="1300" dirty="0"/>
          </a:p>
        </p:txBody>
      </p:sp>
      <p:sp>
        <p:nvSpPr>
          <p:cNvPr id="14" name="Text 12"/>
          <p:cNvSpPr/>
          <p:nvPr/>
        </p:nvSpPr>
        <p:spPr>
          <a:xfrm>
            <a:off x="1115568" y="4297680"/>
            <a:ext cx="2478024" cy="256032"/>
          </a:xfrm>
          <a:prstGeom prst="rect">
            <a:avLst/>
          </a:prstGeom>
          <a:noFill/>
          <a:ln/>
        </p:spPr>
        <p:txBody>
          <a:bodyPr wrap="square" lIns="0" tIns="0" rIns="0" bIns="0" rtlCol="0" anchor="ctr"/>
          <a:lstStyle/>
          <a:p>
            <a:pPr indent="0" marL="0">
              <a:buNone/>
            </a:pPr>
            <a:r>
              <a:rPr lang="en-US" sz="850" dirty="0">
                <a:solidFill>
                  <a:srgbClr val="4A4A4A"/>
                </a:solidFill>
                <a:latin typeface="Calibri" pitchFamily="34" charset="0"/>
                <a:ea typeface="Calibri" pitchFamily="34" charset="-122"/>
                <a:cs typeface="Calibri" pitchFamily="34" charset="-120"/>
              </a:rPr>
              <a:t>“$X is leaking.” Mark on camera at peak intent</a:t>
            </a:r>
            <a:endParaRPr lang="en-US" sz="850" dirty="0"/>
          </a:p>
        </p:txBody>
      </p:sp>
      <p:sp>
        <p:nvSpPr>
          <p:cNvPr id="15" name="Shape 13"/>
          <p:cNvSpPr/>
          <p:nvPr/>
        </p:nvSpPr>
        <p:spPr>
          <a:xfrm>
            <a:off x="1097280" y="4736592"/>
            <a:ext cx="2514600" cy="658368"/>
          </a:xfrm>
          <a:prstGeom prst="roundRect">
            <a:avLst>
              <a:gd name="adj" fmla="val 694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1298448" y="4818888"/>
            <a:ext cx="2112264" cy="256032"/>
          </a:xfrm>
          <a:prstGeom prst="rect">
            <a:avLst/>
          </a:prstGeom>
          <a:noFill/>
          <a:ln/>
        </p:spPr>
        <p:txBody>
          <a:bodyPr wrap="square" lIns="0" tIns="0" rIns="0" bIns="0"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Fit application</a:t>
            </a:r>
            <a:endParaRPr lang="en-US" sz="1300" dirty="0"/>
          </a:p>
        </p:txBody>
      </p:sp>
      <p:sp>
        <p:nvSpPr>
          <p:cNvPr id="17" name="Text 15"/>
          <p:cNvSpPr/>
          <p:nvPr/>
        </p:nvSpPr>
        <p:spPr>
          <a:xfrm>
            <a:off x="1298448" y="5084064"/>
            <a:ext cx="2112264" cy="256032"/>
          </a:xfrm>
          <a:prstGeom prst="rect">
            <a:avLst/>
          </a:prstGeom>
          <a:noFill/>
          <a:ln/>
        </p:spPr>
        <p:txBody>
          <a:bodyPr wrap="square" lIns="0" tIns="0" rIns="0" bIns="0" rtlCol="0" anchor="ctr"/>
          <a:lstStyle/>
          <a:p>
            <a:pPr indent="0" marL="0">
              <a:buNone/>
            </a:pPr>
            <a:r>
              <a:rPr lang="en-US" sz="850" dirty="0">
                <a:solidFill>
                  <a:srgbClr val="4A4A4A"/>
                </a:solidFill>
                <a:latin typeface="Calibri" pitchFamily="34" charset="0"/>
                <a:ea typeface="Calibri" pitchFamily="34" charset="-122"/>
                <a:cs typeface="Calibri" pitchFamily="34" charset="-120"/>
              </a:rPr>
              <a:t>Not a sales form. Qualify, don't sell</a:t>
            </a:r>
            <a:endParaRPr lang="en-US" sz="850" dirty="0"/>
          </a:p>
        </p:txBody>
      </p:sp>
      <p:sp>
        <p:nvSpPr>
          <p:cNvPr id="18" name="Shape 16"/>
          <p:cNvSpPr/>
          <p:nvPr/>
        </p:nvSpPr>
        <p:spPr>
          <a:xfrm>
            <a:off x="1280160" y="5522976"/>
            <a:ext cx="2148840" cy="658368"/>
          </a:xfrm>
          <a:prstGeom prst="roundRect">
            <a:avLst>
              <a:gd name="adj" fmla="val 6944"/>
            </a:avLst>
          </a:prstGeom>
          <a:solidFill>
            <a:srgbClr val="C8A227"/>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1481328" y="5605272"/>
            <a:ext cx="1746504" cy="256032"/>
          </a:xfrm>
          <a:prstGeom prst="rect">
            <a:avLst/>
          </a:prstGeom>
          <a:noFill/>
          <a:ln/>
        </p:spPr>
        <p:txBody>
          <a:bodyPr wrap="square" lIns="0" tIns="0" rIns="0" bIns="0" rtlCol="0" anchor="ctr"/>
          <a:lstStyle/>
          <a:p>
            <a:pPr indent="0" marL="0">
              <a:buNone/>
            </a:pPr>
            <a:r>
              <a:rPr lang="en-US" sz="1300" b="1" dirty="0">
                <a:solidFill>
                  <a:srgbClr val="1A1A1A"/>
                </a:solidFill>
                <a:latin typeface="Cambria" pitchFamily="34" charset="0"/>
                <a:ea typeface="Cambria" pitchFamily="34" charset="-122"/>
                <a:cs typeface="Cambria" pitchFamily="34" charset="-120"/>
              </a:rPr>
              <a:t>Booked call</a:t>
            </a:r>
            <a:endParaRPr lang="en-US" sz="1300" dirty="0"/>
          </a:p>
        </p:txBody>
      </p:sp>
      <p:sp>
        <p:nvSpPr>
          <p:cNvPr id="20" name="Text 18"/>
          <p:cNvSpPr/>
          <p:nvPr/>
        </p:nvSpPr>
        <p:spPr>
          <a:xfrm>
            <a:off x="1481328" y="5870448"/>
            <a:ext cx="1746504" cy="256032"/>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Only warm, self-qualified owners reach here</a:t>
            </a:r>
            <a:endParaRPr lang="en-US" sz="850" dirty="0"/>
          </a:p>
        </p:txBody>
      </p:sp>
      <p:sp>
        <p:nvSpPr>
          <p:cNvPr id="21" name="Shape 19"/>
          <p:cNvSpPr/>
          <p:nvPr/>
        </p:nvSpPr>
        <p:spPr>
          <a:xfrm>
            <a:off x="4617720" y="2377440"/>
            <a:ext cx="3375508" cy="1755648"/>
          </a:xfrm>
          <a:prstGeom prst="roundRect">
            <a:avLst>
              <a:gd name="adj" fmla="val 260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4855464" y="2560320"/>
            <a:ext cx="2900020" cy="228600"/>
          </a:xfrm>
          <a:prstGeom prst="rect">
            <a:avLst/>
          </a:prstGeom>
          <a:noFill/>
          <a:ln/>
        </p:spPr>
        <p:txBody>
          <a:bodyPr wrap="square" rtlCol="0" anchor="ctr"/>
          <a:lstStyle/>
          <a:p>
            <a:pPr indent="0" marL="0">
              <a:buNone/>
            </a:pPr>
            <a:r>
              <a:rPr lang="en-US" sz="850" b="1" spc="80" kern="0" dirty="0">
                <a:solidFill>
                  <a:srgbClr val="C8A227"/>
                </a:solidFill>
                <a:latin typeface="Calibri" pitchFamily="34" charset="0"/>
                <a:ea typeface="Calibri" pitchFamily="34" charset="-122"/>
                <a:cs typeface="Calibri" pitchFamily="34" charset="-120"/>
              </a:rPr>
              <a:t>SWIPE: “BLUE COLLAR KING”</a:t>
            </a:r>
            <a:endParaRPr lang="en-US" sz="850" dirty="0"/>
          </a:p>
        </p:txBody>
      </p:sp>
      <p:sp>
        <p:nvSpPr>
          <p:cNvPr id="23" name="Text 21"/>
          <p:cNvSpPr/>
          <p:nvPr/>
        </p:nvSpPr>
        <p:spPr>
          <a:xfrm>
            <a:off x="4855464" y="2798064"/>
            <a:ext cx="2900020" cy="402336"/>
          </a:xfrm>
          <a:prstGeom prst="rect">
            <a:avLst/>
          </a:prstGeom>
          <a:noFill/>
          <a:ln/>
        </p:spPr>
        <p:txBody>
          <a:bodyPr wrap="square" lIns="0" tIns="0" rIns="0" bIns="0" rtlCol="0" anchor="ctr"/>
          <a:lstStyle/>
          <a:p>
            <a:pPr indent="0" marL="0">
              <a:lnSpc>
                <a:spcPct val="105000"/>
              </a:lnSpc>
              <a:buNone/>
            </a:pPr>
            <a:r>
              <a:rPr lang="en-US" sz="1350" b="1" dirty="0">
                <a:solidFill>
                  <a:srgbClr val="1A1A1A"/>
                </a:solidFill>
                <a:latin typeface="Cambria" pitchFamily="34" charset="0"/>
                <a:ea typeface="Cambria" pitchFamily="34" charset="-122"/>
                <a:cs typeface="Cambria" pitchFamily="34" charset="-120"/>
              </a:rPr>
              <a:t>Lead with a number, not a dream</a:t>
            </a:r>
            <a:endParaRPr lang="en-US" sz="1350" dirty="0"/>
          </a:p>
        </p:txBody>
      </p:sp>
      <p:sp>
        <p:nvSpPr>
          <p:cNvPr id="24" name="Text 22"/>
          <p:cNvSpPr/>
          <p:nvPr/>
        </p:nvSpPr>
        <p:spPr>
          <a:xfrm>
            <a:off x="4855464" y="3236976"/>
            <a:ext cx="2900020" cy="822960"/>
          </a:xfrm>
          <a:prstGeom prst="rect">
            <a:avLst/>
          </a:prstGeom>
          <a:noFill/>
          <a:ln/>
        </p:spPr>
        <p:txBody>
          <a:bodyPr wrap="square" rtlCol="0" anchor="ctr"/>
          <a:lstStyle/>
          <a:p>
            <a:pPr indent="0" marL="0">
              <a:lnSpc>
                <a:spcPct val="120000"/>
              </a:lnSpc>
              <a:buNone/>
            </a:pPr>
            <a:r>
              <a:rPr lang="en-US" sz="1000" dirty="0">
                <a:solidFill>
                  <a:srgbClr val="4A4A4A"/>
                </a:solidFill>
                <a:latin typeface="Calibri" pitchFamily="34" charset="0"/>
                <a:ea typeface="Calibri" pitchFamily="34" charset="-122"/>
                <a:cs typeface="Calibri" pitchFamily="34" charset="-120"/>
              </a:rPr>
              <a:t>“$2M shop, $100K take-home. There's a reason.” Real numbers disarm a skeptical owner faster than any promise.</a:t>
            </a:r>
            <a:endParaRPr lang="en-US" sz="1000" dirty="0"/>
          </a:p>
        </p:txBody>
      </p:sp>
      <p:sp>
        <p:nvSpPr>
          <p:cNvPr id="25" name="Shape 23"/>
          <p:cNvSpPr/>
          <p:nvPr/>
        </p:nvSpPr>
        <p:spPr>
          <a:xfrm>
            <a:off x="8267548" y="2377440"/>
            <a:ext cx="3375508" cy="1755648"/>
          </a:xfrm>
          <a:prstGeom prst="roundRect">
            <a:avLst>
              <a:gd name="adj" fmla="val 260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8505292" y="2560320"/>
            <a:ext cx="2900020" cy="228600"/>
          </a:xfrm>
          <a:prstGeom prst="rect">
            <a:avLst/>
          </a:prstGeom>
          <a:noFill/>
          <a:ln/>
        </p:spPr>
        <p:txBody>
          <a:bodyPr wrap="square" rtlCol="0" anchor="ctr"/>
          <a:lstStyle/>
          <a:p>
            <a:pPr indent="0" marL="0">
              <a:buNone/>
            </a:pPr>
            <a:r>
              <a:rPr lang="en-US" sz="850" b="1" spc="80" kern="0" dirty="0">
                <a:solidFill>
                  <a:srgbClr val="C8A227"/>
                </a:solidFill>
                <a:latin typeface="Calibri" pitchFamily="34" charset="0"/>
                <a:ea typeface="Calibri" pitchFamily="34" charset="-122"/>
                <a:cs typeface="Calibri" pitchFamily="34" charset="-120"/>
              </a:rPr>
              <a:t>HORMOZI TEARDOWN</a:t>
            </a:r>
            <a:endParaRPr lang="en-US" sz="850" dirty="0"/>
          </a:p>
        </p:txBody>
      </p:sp>
      <p:sp>
        <p:nvSpPr>
          <p:cNvPr id="27" name="Text 25"/>
          <p:cNvSpPr/>
          <p:nvPr/>
        </p:nvSpPr>
        <p:spPr>
          <a:xfrm>
            <a:off x="8505292" y="2798064"/>
            <a:ext cx="2900020" cy="402336"/>
          </a:xfrm>
          <a:prstGeom prst="rect">
            <a:avLst/>
          </a:prstGeom>
          <a:noFill/>
          <a:ln/>
        </p:spPr>
        <p:txBody>
          <a:bodyPr wrap="square" lIns="0" tIns="0" rIns="0" bIns="0" rtlCol="0" anchor="ctr"/>
          <a:lstStyle/>
          <a:p>
            <a:pPr indent="0" marL="0">
              <a:lnSpc>
                <a:spcPct val="105000"/>
              </a:lnSpc>
              <a:buNone/>
            </a:pPr>
            <a:r>
              <a:rPr lang="en-US" sz="1350" b="1" dirty="0">
                <a:solidFill>
                  <a:srgbClr val="1A1A1A"/>
                </a:solidFill>
                <a:latin typeface="Cambria" pitchFamily="34" charset="0"/>
                <a:ea typeface="Cambria" pitchFamily="34" charset="-122"/>
                <a:cs typeface="Cambria" pitchFamily="34" charset="-120"/>
              </a:rPr>
              <a:t>Finance-led is our white space</a:t>
            </a:r>
            <a:endParaRPr lang="en-US" sz="1350" dirty="0"/>
          </a:p>
        </p:txBody>
      </p:sp>
      <p:sp>
        <p:nvSpPr>
          <p:cNvPr id="28" name="Text 26"/>
          <p:cNvSpPr/>
          <p:nvPr/>
        </p:nvSpPr>
        <p:spPr>
          <a:xfrm>
            <a:off x="8505292" y="3236976"/>
            <a:ext cx="2900020" cy="822960"/>
          </a:xfrm>
          <a:prstGeom prst="rect">
            <a:avLst/>
          </a:prstGeom>
          <a:noFill/>
          <a:ln/>
        </p:spPr>
        <p:txBody>
          <a:bodyPr wrap="square" rtlCol="0" anchor="ctr"/>
          <a:lstStyle/>
          <a:p>
            <a:pPr indent="0" marL="0">
              <a:lnSpc>
                <a:spcPct val="120000"/>
              </a:lnSpc>
              <a:buNone/>
            </a:pPr>
            <a:r>
              <a:rPr lang="en-US" sz="1000" dirty="0">
                <a:solidFill>
                  <a:srgbClr val="4A4A4A"/>
                </a:solidFill>
                <a:latin typeface="Calibri" pitchFamily="34" charset="0"/>
                <a:ea typeface="Calibri" pitchFamily="34" charset="-122"/>
                <a:cs typeface="Calibri" pitchFamily="34" charset="-120"/>
              </a:rPr>
              <a:t>No trade coach offers a try-before-you-buy P&amp;L diagnostic. That's our wedge. We don't compete on “runs without you” alone.</a:t>
            </a:r>
            <a:endParaRPr lang="en-US" sz="1000" dirty="0"/>
          </a:p>
        </p:txBody>
      </p:sp>
      <p:sp>
        <p:nvSpPr>
          <p:cNvPr id="29" name="Shape 27"/>
          <p:cNvSpPr/>
          <p:nvPr/>
        </p:nvSpPr>
        <p:spPr>
          <a:xfrm>
            <a:off x="4617720" y="4352544"/>
            <a:ext cx="3375508" cy="1755648"/>
          </a:xfrm>
          <a:prstGeom prst="roundRect">
            <a:avLst>
              <a:gd name="adj" fmla="val 260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4855464" y="4535424"/>
            <a:ext cx="2900020" cy="228600"/>
          </a:xfrm>
          <a:prstGeom prst="rect">
            <a:avLst/>
          </a:prstGeom>
          <a:noFill/>
          <a:ln/>
        </p:spPr>
        <p:txBody>
          <a:bodyPr wrap="square" rtlCol="0" anchor="ctr"/>
          <a:lstStyle/>
          <a:p>
            <a:pPr indent="0" marL="0">
              <a:buNone/>
            </a:pPr>
            <a:r>
              <a:rPr lang="en-US" sz="850" b="1" spc="80" kern="0" dirty="0">
                <a:solidFill>
                  <a:srgbClr val="C8A227"/>
                </a:solidFill>
                <a:latin typeface="Calibri" pitchFamily="34" charset="0"/>
                <a:ea typeface="Calibri" pitchFamily="34" charset="-122"/>
                <a:cs typeface="Calibri" pitchFamily="34" charset="-120"/>
              </a:rPr>
              <a:t>CARDONE TEARDOWN</a:t>
            </a:r>
            <a:endParaRPr lang="en-US" sz="850" dirty="0"/>
          </a:p>
        </p:txBody>
      </p:sp>
      <p:sp>
        <p:nvSpPr>
          <p:cNvPr id="31" name="Text 29"/>
          <p:cNvSpPr/>
          <p:nvPr/>
        </p:nvSpPr>
        <p:spPr>
          <a:xfrm>
            <a:off x="4855464" y="4773168"/>
            <a:ext cx="2900020" cy="402336"/>
          </a:xfrm>
          <a:prstGeom prst="rect">
            <a:avLst/>
          </a:prstGeom>
          <a:noFill/>
          <a:ln/>
        </p:spPr>
        <p:txBody>
          <a:bodyPr wrap="square" lIns="0" tIns="0" rIns="0" bIns="0" rtlCol="0" anchor="ctr"/>
          <a:lstStyle/>
          <a:p>
            <a:pPr indent="0" marL="0">
              <a:lnSpc>
                <a:spcPct val="105000"/>
              </a:lnSpc>
              <a:buNone/>
            </a:pPr>
            <a:r>
              <a:rPr lang="en-US" sz="1350" b="1" dirty="0">
                <a:solidFill>
                  <a:srgbClr val="1A1A1A"/>
                </a:solidFill>
                <a:latin typeface="Cambria" pitchFamily="34" charset="0"/>
                <a:ea typeface="Cambria" pitchFamily="34" charset="-122"/>
                <a:cs typeface="Cambria" pitchFamily="34" charset="-120"/>
              </a:rPr>
              <a:t>Shoot plainer than the gurus</a:t>
            </a:r>
            <a:endParaRPr lang="en-US" sz="1350" dirty="0"/>
          </a:p>
        </p:txBody>
      </p:sp>
      <p:sp>
        <p:nvSpPr>
          <p:cNvPr id="32" name="Text 30"/>
          <p:cNvSpPr/>
          <p:nvPr/>
        </p:nvSpPr>
        <p:spPr>
          <a:xfrm>
            <a:off x="4855464" y="5212080"/>
            <a:ext cx="2900020" cy="822960"/>
          </a:xfrm>
          <a:prstGeom prst="rect">
            <a:avLst/>
          </a:prstGeom>
          <a:noFill/>
          <a:ln/>
        </p:spPr>
        <p:txBody>
          <a:bodyPr wrap="square" rtlCol="0" anchor="ctr"/>
          <a:lstStyle/>
          <a:p>
            <a:pPr indent="0" marL="0">
              <a:lnSpc>
                <a:spcPct val="120000"/>
              </a:lnSpc>
              <a:buNone/>
            </a:pPr>
            <a:r>
              <a:rPr lang="en-US" sz="1000" dirty="0">
                <a:solidFill>
                  <a:srgbClr val="4A4A4A"/>
                </a:solidFill>
                <a:latin typeface="Calibri" pitchFamily="34" charset="0"/>
                <a:ea typeface="Calibri" pitchFamily="34" charset="-122"/>
                <a:cs typeface="Calibri" pitchFamily="34" charset="-120"/>
              </a:rPr>
              <a:t>Real shop and job-site backdrop, operator not guru. We skip the money-flex. It kills trust with practical owners.</a:t>
            </a:r>
            <a:endParaRPr lang="en-US" sz="1000" dirty="0"/>
          </a:p>
        </p:txBody>
      </p:sp>
      <p:sp>
        <p:nvSpPr>
          <p:cNvPr id="33" name="Shape 31"/>
          <p:cNvSpPr/>
          <p:nvPr/>
        </p:nvSpPr>
        <p:spPr>
          <a:xfrm>
            <a:off x="8267548" y="4352544"/>
            <a:ext cx="3375508" cy="1755648"/>
          </a:xfrm>
          <a:prstGeom prst="roundRect">
            <a:avLst>
              <a:gd name="adj" fmla="val 2604"/>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34" name="Text 32"/>
          <p:cNvSpPr/>
          <p:nvPr/>
        </p:nvSpPr>
        <p:spPr>
          <a:xfrm>
            <a:off x="8505292" y="4535424"/>
            <a:ext cx="2900020" cy="228600"/>
          </a:xfrm>
          <a:prstGeom prst="rect">
            <a:avLst/>
          </a:prstGeom>
          <a:noFill/>
          <a:ln/>
        </p:spPr>
        <p:txBody>
          <a:bodyPr wrap="square" rtlCol="0" anchor="ctr"/>
          <a:lstStyle/>
          <a:p>
            <a:pPr indent="0" marL="0">
              <a:buNone/>
            </a:pPr>
            <a:r>
              <a:rPr lang="en-US" sz="850" b="1" spc="80" kern="0" dirty="0">
                <a:solidFill>
                  <a:srgbClr val="C8A227"/>
                </a:solidFill>
                <a:latin typeface="Calibri" pitchFamily="34" charset="0"/>
                <a:ea typeface="Calibri" pitchFamily="34" charset="-122"/>
                <a:cs typeface="Calibri" pitchFamily="34" charset="-120"/>
              </a:rPr>
              <a:t>CONTENT CADENCE</a:t>
            </a:r>
            <a:endParaRPr lang="en-US" sz="850" dirty="0"/>
          </a:p>
        </p:txBody>
      </p:sp>
      <p:sp>
        <p:nvSpPr>
          <p:cNvPr id="35" name="Text 33"/>
          <p:cNvSpPr/>
          <p:nvPr/>
        </p:nvSpPr>
        <p:spPr>
          <a:xfrm>
            <a:off x="8505292" y="4773168"/>
            <a:ext cx="2900020" cy="402336"/>
          </a:xfrm>
          <a:prstGeom prst="rect">
            <a:avLst/>
          </a:prstGeom>
          <a:noFill/>
          <a:ln/>
        </p:spPr>
        <p:txBody>
          <a:bodyPr wrap="square" lIns="0" tIns="0" rIns="0" bIns="0" rtlCol="0" anchor="ctr"/>
          <a:lstStyle/>
          <a:p>
            <a:pPr indent="0" marL="0">
              <a:lnSpc>
                <a:spcPct val="105000"/>
              </a:lnSpc>
              <a:buNone/>
            </a:pPr>
            <a:r>
              <a:rPr lang="en-US" sz="1350" b="1" dirty="0">
                <a:solidFill>
                  <a:srgbClr val="1A1A1A"/>
                </a:solidFill>
                <a:latin typeface="Cambria" pitchFamily="34" charset="0"/>
                <a:ea typeface="Cambria" pitchFamily="34" charset="-122"/>
                <a:cs typeface="Cambria" pitchFamily="34" charset="-120"/>
              </a:rPr>
              <a:t>Saveable beats shareable</a:t>
            </a:r>
            <a:endParaRPr lang="en-US" sz="1350" dirty="0"/>
          </a:p>
        </p:txBody>
      </p:sp>
      <p:sp>
        <p:nvSpPr>
          <p:cNvPr id="36" name="Text 34"/>
          <p:cNvSpPr/>
          <p:nvPr/>
        </p:nvSpPr>
        <p:spPr>
          <a:xfrm>
            <a:off x="8505292" y="5212080"/>
            <a:ext cx="2900020" cy="822960"/>
          </a:xfrm>
          <a:prstGeom prst="rect">
            <a:avLst/>
          </a:prstGeom>
          <a:noFill/>
          <a:ln/>
        </p:spPr>
        <p:txBody>
          <a:bodyPr wrap="square" rtlCol="0" anchor="ctr"/>
          <a:lstStyle/>
          <a:p>
            <a:pPr indent="0" marL="0">
              <a:lnSpc>
                <a:spcPct val="120000"/>
              </a:lnSpc>
              <a:buNone/>
            </a:pPr>
            <a:r>
              <a:rPr lang="en-US" sz="1000" dirty="0">
                <a:solidFill>
                  <a:srgbClr val="4A4A4A"/>
                </a:solidFill>
                <a:latin typeface="Calibri" pitchFamily="34" charset="0"/>
                <a:ea typeface="Calibri" pitchFamily="34" charset="-122"/>
                <a:cs typeface="Calibri" pitchFamily="34" charset="-120"/>
              </a:rPr>
              <a:t>1 Reel + 1 post a day. Carousels like “5 Monday numbers” get saved, and saves are what actually grow this audience.</a:t>
            </a:r>
            <a:endParaRPr lang="en-US" sz="1000" dirty="0"/>
          </a:p>
        </p:txBody>
      </p:sp>
      <p:sp>
        <p:nvSpPr>
          <p:cNvPr id="37" name="Text 35"/>
          <p:cNvSpPr/>
          <p:nvPr/>
        </p:nvSpPr>
        <p:spPr>
          <a:xfrm>
            <a:off x="548640" y="6263640"/>
            <a:ext cx="11094415" cy="320040"/>
          </a:xfrm>
          <a:prstGeom prst="rect">
            <a:avLst/>
          </a:prstGeom>
          <a:noFill/>
          <a:ln/>
        </p:spPr>
        <p:txBody>
          <a:bodyPr wrap="square" rtlCol="0" anchor="ctr"/>
          <a:lstStyle/>
          <a:p>
            <a:pPr indent="0" marL="0">
              <a:buNone/>
            </a:pPr>
            <a:r>
              <a:rPr lang="en-US" sz="950" i="1" dirty="0">
                <a:solidFill>
                  <a:srgbClr val="8A8A8A"/>
                </a:solidFill>
                <a:latin typeface="Calibri" pitchFamily="34" charset="0"/>
                <a:ea typeface="Calibri" pitchFamily="34" charset="-122"/>
                <a:cs typeface="Calibri" pitchFamily="34" charset="-120"/>
              </a:rPr>
              <a:t>Every claim stays honest: no invented numbers, and the $50K figure gets verified against a real client result before it goes in any ad or hook.</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THE BIG SHIFT · JULY 6, WITH MIKE</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11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400" b="1" dirty="0">
                <a:solidFill>
                  <a:srgbClr val="1A1A1A"/>
                </a:solidFill>
                <a:latin typeface="Cambria" pitchFamily="34" charset="0"/>
                <a:ea typeface="Cambria" pitchFamily="34" charset="-122"/>
                <a:cs typeface="Cambria" pitchFamily="34" charset="-120"/>
              </a:rPr>
              <a:t>The biggest change in our thinking: the program isn't the product. The community is.</a:t>
            </a:r>
            <a:endParaRPr lang="en-US" sz="2400" dirty="0"/>
          </a:p>
        </p:txBody>
      </p:sp>
      <p:sp>
        <p:nvSpPr>
          <p:cNvPr id="5" name="Text 3"/>
          <p:cNvSpPr/>
          <p:nvPr/>
        </p:nvSpPr>
        <p:spPr>
          <a:xfrm>
            <a:off x="548640" y="1508760"/>
            <a:ext cx="110944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A one-time $5,000 sale caps revenue at how many new people we enroll each month. A recurring community turns one sale into years of value, and that's what actually gets us to $3M and 500 clients.</a:t>
            </a:r>
            <a:endParaRPr lang="en-US" sz="1350" dirty="0"/>
          </a:p>
        </p:txBody>
      </p:sp>
      <p:sp>
        <p:nvSpPr>
          <p:cNvPr id="6" name="Shape 4"/>
          <p:cNvSpPr/>
          <p:nvPr/>
        </p:nvSpPr>
        <p:spPr>
          <a:xfrm>
            <a:off x="1371600" y="2423160"/>
            <a:ext cx="3840480" cy="3840480"/>
          </a:xfrm>
          <a:prstGeom prst="ellipse">
            <a:avLst/>
          </a:prstGeom>
          <a:solidFill>
            <a:srgbClr val="F7EFD6"/>
          </a:solidFill>
          <a:ln/>
        </p:spPr>
      </p:sp>
      <p:sp>
        <p:nvSpPr>
          <p:cNvPr id="7" name="Shape 5"/>
          <p:cNvSpPr/>
          <p:nvPr/>
        </p:nvSpPr>
        <p:spPr>
          <a:xfrm>
            <a:off x="1965960" y="3017520"/>
            <a:ext cx="2651760" cy="2651760"/>
          </a:xfrm>
          <a:prstGeom prst="ellipse">
            <a:avLst/>
          </a:prstGeom>
          <a:solidFill>
            <a:srgbClr val="E8C766">
              <a:alpha val="75000"/>
            </a:srgbClr>
          </a:solidFill>
          <a:ln/>
        </p:spPr>
      </p:sp>
      <p:sp>
        <p:nvSpPr>
          <p:cNvPr id="8" name="Shape 6"/>
          <p:cNvSpPr/>
          <p:nvPr/>
        </p:nvSpPr>
        <p:spPr>
          <a:xfrm>
            <a:off x="2514600" y="3566160"/>
            <a:ext cx="1554480" cy="1554480"/>
          </a:xfrm>
          <a:prstGeom prst="ellipse">
            <a:avLst/>
          </a:prstGeom>
          <a:solidFill>
            <a:srgbClr val="1A1A1A"/>
          </a:solidFill>
          <a:ln/>
          <a:effectLst>
            <a:outerShdw sx="100000" sy="100000" kx="0" ky="0" algn="bl" rotWithShape="0" blurRad="101600" dist="38100" dir="2700000">
              <a:srgbClr val="000000">
                <a:alpha val="12000"/>
              </a:srgbClr>
            </a:outerShdw>
          </a:effectLst>
        </p:spPr>
      </p:sp>
      <p:sp>
        <p:nvSpPr>
          <p:cNvPr id="9" name="Text 7"/>
          <p:cNvSpPr/>
          <p:nvPr/>
        </p:nvSpPr>
        <p:spPr>
          <a:xfrm>
            <a:off x="2514600" y="3566160"/>
            <a:ext cx="1554480" cy="1554480"/>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Calibri" pitchFamily="34" charset="0"/>
                <a:ea typeface="Calibri" pitchFamily="34" charset="-122"/>
                <a:cs typeface="Calibri" pitchFamily="34" charset="-120"/>
              </a:rPr>
              <a:t>Business</a:t>
            </a:r>
            <a:endParaRPr lang="en-US" sz="1050" dirty="0"/>
          </a:p>
          <a:p>
            <a:pPr algn="ctr" indent="0" marL="0">
              <a:lnSpc>
                <a:spcPct val="115000"/>
              </a:lnSpc>
              <a:buNone/>
            </a:pPr>
            <a:r>
              <a:rPr lang="en-US" sz="1050" b="1" dirty="0">
                <a:solidFill>
                  <a:srgbClr val="FFFFFF"/>
                </a:solidFill>
                <a:latin typeface="Calibri" pitchFamily="34" charset="0"/>
                <a:ea typeface="Calibri" pitchFamily="34" charset="-122"/>
                <a:cs typeface="Calibri" pitchFamily="34" charset="-120"/>
              </a:rPr>
              <a:t>Without You</a:t>
            </a:r>
            <a:endParaRPr lang="en-US" sz="1050" dirty="0"/>
          </a:p>
          <a:p>
            <a:pPr algn="ctr" indent="0" marL="0">
              <a:lnSpc>
                <a:spcPct val="115000"/>
              </a:lnSpc>
              <a:buNone/>
            </a:pPr>
            <a:r>
              <a:rPr lang="en-US" sz="1050" b="1" dirty="0">
                <a:solidFill>
                  <a:srgbClr val="FFFFFF"/>
                </a:solidFill>
                <a:latin typeface="Calibri" pitchFamily="34" charset="0"/>
                <a:ea typeface="Calibri" pitchFamily="34" charset="-122"/>
                <a:cs typeface="Calibri" pitchFamily="34" charset="-120"/>
              </a:rPr>
              <a:t>12-week entry</a:t>
            </a:r>
            <a:endParaRPr lang="en-US" sz="1050" dirty="0"/>
          </a:p>
        </p:txBody>
      </p:sp>
      <p:sp>
        <p:nvSpPr>
          <p:cNvPr id="10" name="Shape 8"/>
          <p:cNvSpPr/>
          <p:nvPr/>
        </p:nvSpPr>
        <p:spPr>
          <a:xfrm>
            <a:off x="6035040" y="2560320"/>
            <a:ext cx="256032" cy="256032"/>
          </a:xfrm>
          <a:prstGeom prst="ellipse">
            <a:avLst/>
          </a:prstGeom>
          <a:solidFill>
            <a:srgbClr val="1A1A1A"/>
          </a:solidFill>
          <a:ln/>
        </p:spPr>
      </p:sp>
      <p:sp>
        <p:nvSpPr>
          <p:cNvPr id="11" name="Text 9"/>
          <p:cNvSpPr/>
          <p:nvPr/>
        </p:nvSpPr>
        <p:spPr>
          <a:xfrm>
            <a:off x="6446520" y="2514600"/>
            <a:ext cx="5196535" cy="32004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Entry: the 12-week program</a:t>
            </a:r>
            <a:endParaRPr lang="en-US" sz="1400" dirty="0"/>
          </a:p>
        </p:txBody>
      </p:sp>
      <p:sp>
        <p:nvSpPr>
          <p:cNvPr id="12" name="Text 10"/>
          <p:cNvSpPr/>
          <p:nvPr/>
        </p:nvSpPr>
        <p:spPr>
          <a:xfrm>
            <a:off x="6446520" y="2898648"/>
            <a:ext cx="5196535" cy="731520"/>
          </a:xfrm>
          <a:prstGeom prst="rect">
            <a:avLst/>
          </a:prstGeom>
          <a:noFill/>
          <a:ln/>
        </p:spPr>
        <p:txBody>
          <a:bodyPr wrap="square" rtlCol="0" anchor="ctr"/>
          <a:lstStyle/>
          <a:p>
            <a:pPr indent="0" marL="0">
              <a:lnSpc>
                <a:spcPct val="125000"/>
              </a:lnSpc>
              <a:buNone/>
            </a:pPr>
            <a:r>
              <a:rPr lang="en-US" sz="1100" dirty="0">
                <a:solidFill>
                  <a:srgbClr val="4A4A4A"/>
                </a:solidFill>
                <a:latin typeface="Calibri" pitchFamily="34" charset="0"/>
                <a:ea typeface="Calibri" pitchFamily="34" charset="-122"/>
                <a:cs typeface="Calibri" pitchFamily="34" charset="-120"/>
              </a:rPr>
              <a:t>The front door. Delivers a fast, real win and converts a buyer into a long-term member.</a:t>
            </a:r>
            <a:endParaRPr lang="en-US" sz="1100" dirty="0"/>
          </a:p>
        </p:txBody>
      </p:sp>
      <p:sp>
        <p:nvSpPr>
          <p:cNvPr id="13" name="Shape 11"/>
          <p:cNvSpPr/>
          <p:nvPr/>
        </p:nvSpPr>
        <p:spPr>
          <a:xfrm>
            <a:off x="6035040" y="3794760"/>
            <a:ext cx="256032" cy="256032"/>
          </a:xfrm>
          <a:prstGeom prst="ellipse">
            <a:avLst/>
          </a:prstGeom>
          <a:solidFill>
            <a:srgbClr val="E8C766"/>
          </a:solidFill>
          <a:ln/>
        </p:spPr>
      </p:sp>
      <p:sp>
        <p:nvSpPr>
          <p:cNvPr id="14" name="Text 12"/>
          <p:cNvSpPr/>
          <p:nvPr/>
        </p:nvSpPr>
        <p:spPr>
          <a:xfrm>
            <a:off x="6446520" y="3749040"/>
            <a:ext cx="5196535" cy="32004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Ongoing: the recurring community</a:t>
            </a:r>
            <a:endParaRPr lang="en-US" sz="1400" dirty="0"/>
          </a:p>
        </p:txBody>
      </p:sp>
      <p:sp>
        <p:nvSpPr>
          <p:cNvPr id="15" name="Text 13"/>
          <p:cNvSpPr/>
          <p:nvPr/>
        </p:nvSpPr>
        <p:spPr>
          <a:xfrm>
            <a:off x="6446520" y="4133088"/>
            <a:ext cx="5196535" cy="731520"/>
          </a:xfrm>
          <a:prstGeom prst="rect">
            <a:avLst/>
          </a:prstGeom>
          <a:noFill/>
          <a:ln/>
        </p:spPr>
        <p:txBody>
          <a:bodyPr wrap="square" rtlCol="0" anchor="ctr"/>
          <a:lstStyle/>
          <a:p>
            <a:pPr indent="0" marL="0">
              <a:lnSpc>
                <a:spcPct val="125000"/>
              </a:lnSpc>
              <a:buNone/>
            </a:pPr>
            <a:r>
              <a:rPr lang="en-US" sz="1100" dirty="0">
                <a:solidFill>
                  <a:srgbClr val="4A4A4A"/>
                </a:solidFill>
                <a:latin typeface="Calibri" pitchFamily="34" charset="0"/>
                <a:ea typeface="Calibri" pitchFamily="34" charset="-122"/>
                <a:cs typeface="Calibri" pitchFamily="34" charset="-120"/>
              </a:rPr>
              <a:t>Weekly Q&amp;A with Mark, CFO office hours with Cam, quarterly reviews. This is the real business.</a:t>
            </a:r>
            <a:endParaRPr lang="en-US" sz="1100" dirty="0"/>
          </a:p>
        </p:txBody>
      </p:sp>
      <p:sp>
        <p:nvSpPr>
          <p:cNvPr id="16" name="Shape 14"/>
          <p:cNvSpPr/>
          <p:nvPr/>
        </p:nvSpPr>
        <p:spPr>
          <a:xfrm>
            <a:off x="6035040" y="5029200"/>
            <a:ext cx="256032" cy="256032"/>
          </a:xfrm>
          <a:prstGeom prst="ellipse">
            <a:avLst/>
          </a:prstGeom>
          <a:solidFill>
            <a:srgbClr val="F7EFD6"/>
          </a:solidFill>
          <a:ln w="12700">
            <a:solidFill>
              <a:srgbClr val="E4E1D8"/>
            </a:solidFill>
            <a:prstDash val="solid"/>
          </a:ln>
        </p:spPr>
      </p:sp>
      <p:sp>
        <p:nvSpPr>
          <p:cNvPr id="17" name="Text 15"/>
          <p:cNvSpPr/>
          <p:nvPr/>
        </p:nvSpPr>
        <p:spPr>
          <a:xfrm>
            <a:off x="6446520" y="4983480"/>
            <a:ext cx="5196535" cy="32004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Partner-delivered: premium</a:t>
            </a:r>
            <a:endParaRPr lang="en-US" sz="1400" dirty="0"/>
          </a:p>
        </p:txBody>
      </p:sp>
      <p:sp>
        <p:nvSpPr>
          <p:cNvPr id="18" name="Text 16"/>
          <p:cNvSpPr/>
          <p:nvPr/>
        </p:nvSpPr>
        <p:spPr>
          <a:xfrm>
            <a:off x="6446520" y="5367528"/>
            <a:ext cx="5196535" cy="731520"/>
          </a:xfrm>
          <a:prstGeom prst="rect">
            <a:avLst/>
          </a:prstGeom>
          <a:noFill/>
          <a:ln/>
        </p:spPr>
        <p:txBody>
          <a:bodyPr wrap="square" rtlCol="0" anchor="ctr"/>
          <a:lstStyle/>
          <a:p>
            <a:pPr indent="0" marL="0">
              <a:lnSpc>
                <a:spcPct val="125000"/>
              </a:lnSpc>
              <a:buNone/>
            </a:pPr>
            <a:r>
              <a:rPr lang="en-US" sz="1100" dirty="0">
                <a:solidFill>
                  <a:srgbClr val="4A4A4A"/>
                </a:solidFill>
                <a:latin typeface="Calibri" pitchFamily="34" charset="0"/>
                <a:ea typeface="Calibri" pitchFamily="34" charset="-122"/>
                <a:cs typeface="Calibri" pitchFamily="34" charset="-120"/>
              </a:rPr>
              <a:t>Masterclasses, fractional CFO work, valuation assessments. Higher-margin, on the edges.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THE FULL MENU · SORTED TWO WAYS</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12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500" b="1" dirty="0">
                <a:solidFill>
                  <a:srgbClr val="1A1A1A"/>
                </a:solidFill>
                <a:latin typeface="Cambria" pitchFamily="34" charset="0"/>
                <a:ea typeface="Cambria" pitchFamily="34" charset="-122"/>
                <a:cs typeface="Cambria" pitchFamily="34" charset="-120"/>
              </a:rPr>
              <a:t>Every offer we could run, sorted: who delivers it, and how often.</a:t>
            </a:r>
            <a:endParaRPr lang="en-US" sz="2500" dirty="0"/>
          </a:p>
        </p:txBody>
      </p:sp>
      <p:sp>
        <p:nvSpPr>
          <p:cNvPr id="5" name="Text 3"/>
          <p:cNvSpPr/>
          <p:nvPr/>
        </p:nvSpPr>
        <p:spPr>
          <a:xfrm>
            <a:off x="548640" y="1463040"/>
            <a:ext cx="110944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Mapped with Mike. The insight underneath: almost every one-time event has a recurring twin. The events are the entry doors; the recurring side is where people land and stay.</a:t>
            </a:r>
            <a:endParaRPr lang="en-US" sz="1350" dirty="0"/>
          </a:p>
        </p:txBody>
      </p:sp>
      <p:sp>
        <p:nvSpPr>
          <p:cNvPr id="6" name="Text 4"/>
          <p:cNvSpPr/>
          <p:nvPr/>
        </p:nvSpPr>
        <p:spPr>
          <a:xfrm>
            <a:off x="1920240" y="2487168"/>
            <a:ext cx="4724248" cy="274320"/>
          </a:xfrm>
          <a:prstGeom prst="rect">
            <a:avLst/>
          </a:prstGeom>
          <a:noFill/>
          <a:ln/>
        </p:spPr>
        <p:txBody>
          <a:bodyPr wrap="square" rtlCol="0" anchor="ctr"/>
          <a:lstStyle/>
          <a:p>
            <a:pPr algn="ctr" indent="0" marL="0">
              <a:buNone/>
            </a:pPr>
            <a:r>
              <a:rPr lang="en-US" sz="1050" b="1" spc="80" kern="0" dirty="0">
                <a:solidFill>
                  <a:srgbClr val="3A3A3A"/>
                </a:solidFill>
                <a:latin typeface="Calibri" pitchFamily="34" charset="0"/>
                <a:ea typeface="Calibri" pitchFamily="34" charset="-122"/>
                <a:cs typeface="Calibri" pitchFamily="34" charset="-120"/>
              </a:rPr>
              <a:t>EVENT-BASED  ·  ENTRY DOORS</a:t>
            </a:r>
            <a:endParaRPr lang="en-US" sz="1050" dirty="0"/>
          </a:p>
        </p:txBody>
      </p:sp>
      <p:sp>
        <p:nvSpPr>
          <p:cNvPr id="7" name="Text 5"/>
          <p:cNvSpPr/>
          <p:nvPr/>
        </p:nvSpPr>
        <p:spPr>
          <a:xfrm>
            <a:off x="6918808" y="2487168"/>
            <a:ext cx="4724248" cy="274320"/>
          </a:xfrm>
          <a:prstGeom prst="rect">
            <a:avLst/>
          </a:prstGeom>
          <a:noFill/>
          <a:ln/>
        </p:spPr>
        <p:txBody>
          <a:bodyPr wrap="square" rtlCol="0" anchor="ctr"/>
          <a:lstStyle/>
          <a:p>
            <a:pPr algn="ctr" indent="0" marL="0">
              <a:buNone/>
            </a:pPr>
            <a:r>
              <a:rPr lang="en-US" sz="1050" b="1" spc="80" kern="0" dirty="0">
                <a:solidFill>
                  <a:srgbClr val="C8A227"/>
                </a:solidFill>
                <a:latin typeface="Calibri" pitchFamily="34" charset="0"/>
                <a:ea typeface="Calibri" pitchFamily="34" charset="-122"/>
                <a:cs typeface="Calibri" pitchFamily="34" charset="-120"/>
              </a:rPr>
              <a:t>CYCLICAL  ·  RECURRING (WHERE VALUE LIVES)</a:t>
            </a:r>
            <a:endParaRPr lang="en-US" sz="1050" dirty="0"/>
          </a:p>
        </p:txBody>
      </p:sp>
      <p:sp>
        <p:nvSpPr>
          <p:cNvPr id="8" name="Text 6"/>
          <p:cNvSpPr/>
          <p:nvPr/>
        </p:nvSpPr>
        <p:spPr>
          <a:xfrm>
            <a:off x="548640" y="2834640"/>
            <a:ext cx="1234440" cy="1645920"/>
          </a:xfrm>
          <a:prstGeom prst="rect">
            <a:avLst/>
          </a:prstGeom>
          <a:noFill/>
          <a:ln/>
        </p:spPr>
        <p:txBody>
          <a:bodyPr wrap="square" lIns="0" tIns="0" rIns="0" bIns="0" rtlCol="0" anchor="ctr"/>
          <a:lstStyle/>
          <a:p>
            <a:pPr algn="ctr" indent="0" marL="0">
              <a:lnSpc>
                <a:spcPct val="120000"/>
              </a:lnSpc>
              <a:buNone/>
            </a:pPr>
            <a:r>
              <a:rPr lang="en-US" sz="1250" b="1" dirty="0">
                <a:solidFill>
                  <a:srgbClr val="1A1A1A"/>
                </a:solidFill>
                <a:latin typeface="Calibri" pitchFamily="34" charset="0"/>
                <a:ea typeface="Calibri" pitchFamily="34" charset="-122"/>
                <a:cs typeface="Calibri" pitchFamily="34" charset="-120"/>
              </a:rPr>
              <a:t>IN-HOUSE</a:t>
            </a:r>
            <a:endParaRPr lang="en-US" sz="1250" dirty="0"/>
          </a:p>
          <a:p>
            <a:pPr algn="ctr" indent="0" marL="0">
              <a:lnSpc>
                <a:spcPct val="120000"/>
              </a:lnSpc>
              <a:buNone/>
            </a:pPr>
            <a:r>
              <a:rPr lang="en-US" sz="850" i="1" dirty="0">
                <a:solidFill>
                  <a:srgbClr val="8A8A8A"/>
                </a:solidFill>
                <a:latin typeface="Calibri" pitchFamily="34" charset="0"/>
                <a:ea typeface="Calibri" pitchFamily="34" charset="-122"/>
                <a:cs typeface="Calibri" pitchFamily="34" charset="-120"/>
              </a:rPr>
              <a:t>our team</a:t>
            </a:r>
            <a:endParaRPr lang="en-US" sz="1250" dirty="0"/>
          </a:p>
        </p:txBody>
      </p:sp>
      <p:sp>
        <p:nvSpPr>
          <p:cNvPr id="9" name="Text 7"/>
          <p:cNvSpPr/>
          <p:nvPr/>
        </p:nvSpPr>
        <p:spPr>
          <a:xfrm>
            <a:off x="548640" y="4617720"/>
            <a:ext cx="1234440" cy="1645920"/>
          </a:xfrm>
          <a:prstGeom prst="rect">
            <a:avLst/>
          </a:prstGeom>
          <a:noFill/>
          <a:ln/>
        </p:spPr>
        <p:txBody>
          <a:bodyPr wrap="square" lIns="0" tIns="0" rIns="0" bIns="0" rtlCol="0" anchor="ctr"/>
          <a:lstStyle/>
          <a:p>
            <a:pPr algn="ctr" indent="0" marL="0">
              <a:lnSpc>
                <a:spcPct val="120000"/>
              </a:lnSpc>
              <a:buNone/>
            </a:pPr>
            <a:r>
              <a:rPr lang="en-US" sz="1250" b="1" dirty="0">
                <a:solidFill>
                  <a:srgbClr val="1A1A1A"/>
                </a:solidFill>
                <a:latin typeface="Calibri" pitchFamily="34" charset="0"/>
                <a:ea typeface="Calibri" pitchFamily="34" charset="-122"/>
                <a:cs typeface="Calibri" pitchFamily="34" charset="-120"/>
              </a:rPr>
              <a:t>PARTNER</a:t>
            </a:r>
            <a:endParaRPr lang="en-US" sz="1250" dirty="0"/>
          </a:p>
          <a:p>
            <a:pPr algn="ctr" indent="0" marL="0">
              <a:lnSpc>
                <a:spcPct val="120000"/>
              </a:lnSpc>
              <a:buNone/>
            </a:pPr>
            <a:r>
              <a:rPr lang="en-US" sz="850" i="1" dirty="0">
                <a:solidFill>
                  <a:srgbClr val="8A8A8A"/>
                </a:solidFill>
                <a:latin typeface="Calibri" pitchFamily="34" charset="0"/>
                <a:ea typeface="Calibri" pitchFamily="34" charset="-122"/>
                <a:cs typeface="Calibri" pitchFamily="34" charset="-120"/>
              </a:rPr>
              <a:t>network to build</a:t>
            </a:r>
            <a:endParaRPr lang="en-US" sz="1250" dirty="0"/>
          </a:p>
        </p:txBody>
      </p:sp>
      <p:sp>
        <p:nvSpPr>
          <p:cNvPr id="10" name="Shape 8"/>
          <p:cNvSpPr/>
          <p:nvPr/>
        </p:nvSpPr>
        <p:spPr>
          <a:xfrm>
            <a:off x="1920240" y="2834640"/>
            <a:ext cx="4724248" cy="1645920"/>
          </a:xfrm>
          <a:prstGeom prst="roundRect">
            <a:avLst>
              <a:gd name="adj" fmla="val 2778"/>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2194560" y="3054096"/>
            <a:ext cx="4221328" cy="1234440"/>
          </a:xfrm>
          <a:prstGeom prst="rect">
            <a:avLst/>
          </a:prstGeom>
          <a:noFill/>
          <a:ln/>
        </p:spPr>
        <p:txBody>
          <a:bodyPr wrap="square" rtlCol="0" anchor="ctr"/>
          <a:lstStyle/>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Business Without You (12 wk)</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Profit Discovery session — Cam</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Hiring Sprint — Hannah</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1:1 strategy day — Mark</a:t>
            </a:r>
            <a:endParaRPr lang="en-US" sz="1100" dirty="0"/>
          </a:p>
        </p:txBody>
      </p:sp>
      <p:sp>
        <p:nvSpPr>
          <p:cNvPr id="12" name="Shape 10"/>
          <p:cNvSpPr/>
          <p:nvPr/>
        </p:nvSpPr>
        <p:spPr>
          <a:xfrm>
            <a:off x="6918808" y="2834640"/>
            <a:ext cx="4724248" cy="1645920"/>
          </a:xfrm>
          <a:prstGeom prst="roundRect">
            <a:avLst>
              <a:gd name="adj" fmla="val 2778"/>
            </a:avLst>
          </a:prstGeom>
          <a:solidFill>
            <a:srgbClr val="F7EFD6"/>
          </a:solidFill>
          <a:ln w="15875">
            <a:solidFill>
              <a:srgbClr val="C8A227"/>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7193128" y="3054096"/>
            <a:ext cx="4221328" cy="1234440"/>
          </a:xfrm>
          <a:prstGeom prst="rect">
            <a:avLst/>
          </a:prstGeom>
          <a:noFill/>
          <a:ln/>
        </p:spPr>
        <p:txBody>
          <a:bodyPr wrap="square" rtlCol="0" anchor="ctr"/>
          <a:lstStyle/>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The alumni community</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Weekly Q&amp;A calls — Mark</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Monthly CFO office hours — Cam</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Ongoing access to the 7 tools</a:t>
            </a:r>
            <a:endParaRPr lang="en-US" sz="1100" dirty="0"/>
          </a:p>
        </p:txBody>
      </p:sp>
      <p:sp>
        <p:nvSpPr>
          <p:cNvPr id="14" name="Shape 12"/>
          <p:cNvSpPr/>
          <p:nvPr/>
        </p:nvSpPr>
        <p:spPr>
          <a:xfrm>
            <a:off x="1920240" y="4617720"/>
            <a:ext cx="4724248" cy="1645920"/>
          </a:xfrm>
          <a:prstGeom prst="roundRect">
            <a:avLst>
              <a:gd name="adj" fmla="val 2778"/>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2194560" y="4837176"/>
            <a:ext cx="4221328" cy="1234440"/>
          </a:xfrm>
          <a:prstGeom prst="rect">
            <a:avLst/>
          </a:prstGeom>
          <a:noFill/>
          <a:ln/>
        </p:spPr>
        <p:txBody>
          <a:bodyPr wrap="square" rtlCol="0" anchor="ctr"/>
          <a:lstStyle/>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Guest-speaker masterclasses</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Tax strategy session</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Business valuation</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Exit / succession workshop</a:t>
            </a:r>
            <a:endParaRPr lang="en-US" sz="1100" dirty="0"/>
          </a:p>
        </p:txBody>
      </p:sp>
      <p:sp>
        <p:nvSpPr>
          <p:cNvPr id="16" name="Shape 14"/>
          <p:cNvSpPr/>
          <p:nvPr/>
        </p:nvSpPr>
        <p:spPr>
          <a:xfrm>
            <a:off x="6918808" y="4617720"/>
            <a:ext cx="4724248" cy="1645920"/>
          </a:xfrm>
          <a:prstGeom prst="roundRect">
            <a:avLst>
              <a:gd name="adj" fmla="val 2778"/>
            </a:avLst>
          </a:prstGeom>
          <a:solidFill>
            <a:srgbClr val="F7EFD6"/>
          </a:solidFill>
          <a:ln w="15875">
            <a:solidFill>
              <a:srgbClr val="C8A227"/>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7193128" y="4837176"/>
            <a:ext cx="4221328" cy="1234440"/>
          </a:xfrm>
          <a:prstGeom prst="rect">
            <a:avLst/>
          </a:prstGeom>
          <a:noFill/>
          <a:ln/>
        </p:spPr>
        <p:txBody>
          <a:bodyPr wrap="square" rtlCol="0" anchor="ctr"/>
          <a:lstStyle/>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Fractional CFO / bookkeeping</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Tax planning on retainer</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Recruiting on retainer</a:t>
            </a:r>
            <a:endParaRPr lang="en-US" sz="1100" dirty="0"/>
          </a:p>
          <a:p>
            <a:pPr marL="342900" indent="-342900">
              <a:lnSpc>
                <a:spcPct val="115000"/>
              </a:lnSpc>
              <a:spcAft>
                <a:spcPts val="600"/>
              </a:spcAft>
              <a:buSzPct val="100000"/>
              <a:buChar char="•"/>
            </a:pPr>
            <a:r>
              <a:rPr lang="en-US" sz="1100" dirty="0">
                <a:solidFill>
                  <a:srgbClr val="3A3A3A"/>
                </a:solidFill>
                <a:latin typeface="Calibri" pitchFamily="34" charset="0"/>
                <a:ea typeface="Calibri" pitchFamily="34" charset="-122"/>
                <a:cs typeface="Calibri" pitchFamily="34" charset="-120"/>
              </a:rPr>
              <a:t>Wealth management</a:t>
            </a:r>
            <a:endParaRPr lang="en-US" sz="1100" dirty="0"/>
          </a:p>
        </p:txBody>
      </p:sp>
      <p:sp>
        <p:nvSpPr>
          <p:cNvPr id="18" name="Text 16"/>
          <p:cNvSpPr/>
          <p:nvPr/>
        </p:nvSpPr>
        <p:spPr>
          <a:xfrm>
            <a:off x="548640" y="6446520"/>
            <a:ext cx="11094415" cy="320040"/>
          </a:xfrm>
          <a:prstGeom prst="rect">
            <a:avLst/>
          </a:prstGeom>
          <a:noFill/>
          <a:ln/>
        </p:spPr>
        <p:txBody>
          <a:bodyPr wrap="square" rtlCol="0" anchor="ctr"/>
          <a:lstStyle/>
          <a:p>
            <a:pPr indent="0" marL="0">
              <a:buNone/>
            </a:pPr>
            <a:r>
              <a:rPr lang="en-US" sz="1000" i="1" dirty="0">
                <a:solidFill>
                  <a:srgbClr val="8A8A8A"/>
                </a:solidFill>
                <a:latin typeface="Calibri" pitchFamily="34" charset="0"/>
                <a:ea typeface="Calibri" pitchFamily="34" charset="-122"/>
                <a:cs typeface="Calibri" pitchFamily="34" charset="-120"/>
              </a:rPr>
              <a:t>The twin pattern: Profit Discovery → monthly CFO office hours.   Hiring Sprint → recruiting on retainer.   The dashboard build → the monthly accountability rhythm.</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THE DEPTH OF THE WORK · WITH MIKE</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13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700" b="1" dirty="0">
                <a:solidFill>
                  <a:srgbClr val="1A1A1A"/>
                </a:solidFill>
                <a:latin typeface="Cambria" pitchFamily="34" charset="0"/>
                <a:ea typeface="Cambria" pitchFamily="34" charset="-122"/>
                <a:cs typeface="Cambria" pitchFamily="34" charset="-120"/>
              </a:rPr>
              <a:t>Mapping the whole customer journey, not just the sales page.</a:t>
            </a:r>
            <a:endParaRPr lang="en-US" sz="2700" dirty="0"/>
          </a:p>
        </p:txBody>
      </p:sp>
      <p:sp>
        <p:nvSpPr>
          <p:cNvPr id="5" name="Text 3"/>
          <p:cNvSpPr/>
          <p:nvPr/>
        </p:nvSpPr>
        <p:spPr>
          <a:xfrm>
            <a:off x="548640" y="141732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One of four exercises Mike had us run before the July 14 call. Shown here simplified; the real board has far more detail underneath.</a:t>
            </a:r>
            <a:endParaRPr lang="en-US" sz="1350" dirty="0"/>
          </a:p>
        </p:txBody>
      </p:sp>
      <p:sp>
        <p:nvSpPr>
          <p:cNvPr id="6" name="Shape 4"/>
          <p:cNvSpPr/>
          <p:nvPr/>
        </p:nvSpPr>
        <p:spPr>
          <a:xfrm>
            <a:off x="548640" y="2331720"/>
            <a:ext cx="3566160" cy="3566160"/>
          </a:xfrm>
          <a:prstGeom prst="roundRect">
            <a:avLst>
              <a:gd name="adj" fmla="val 1538"/>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841248" y="2606040"/>
            <a:ext cx="2980944" cy="274320"/>
          </a:xfrm>
          <a:prstGeom prst="rect">
            <a:avLst/>
          </a:prstGeom>
          <a:noFill/>
          <a:ln/>
        </p:spPr>
        <p:txBody>
          <a:bodyPr wrap="square" rtlCol="0" anchor="ctr"/>
          <a:lstStyle/>
          <a:p>
            <a:pPr indent="0" marL="0">
              <a:buNone/>
            </a:pPr>
            <a:r>
              <a:rPr lang="en-US" sz="1000" b="1" spc="150" kern="0" dirty="0">
                <a:solidFill>
                  <a:srgbClr val="C8A227"/>
                </a:solidFill>
                <a:latin typeface="Calibri" pitchFamily="34" charset="0"/>
                <a:ea typeface="Calibri" pitchFamily="34" charset="-122"/>
                <a:cs typeface="Calibri" pitchFamily="34" charset="-120"/>
              </a:rPr>
              <a:t>BEFORE</a:t>
            </a:r>
            <a:endParaRPr lang="en-US" sz="1000" dirty="0"/>
          </a:p>
        </p:txBody>
      </p:sp>
      <p:sp>
        <p:nvSpPr>
          <p:cNvPr id="8" name="Text 6"/>
          <p:cNvSpPr/>
          <p:nvPr/>
        </p:nvSpPr>
        <p:spPr>
          <a:xfrm>
            <a:off x="841248" y="2926080"/>
            <a:ext cx="2980944" cy="640080"/>
          </a:xfrm>
          <a:prstGeom prst="rect">
            <a:avLst/>
          </a:prstGeom>
          <a:noFill/>
          <a:ln/>
        </p:spPr>
        <p:txBody>
          <a:bodyPr wrap="square" lIns="0" tIns="0" rIns="0" bIns="0" rtlCol="0" anchor="ctr"/>
          <a:lstStyle/>
          <a:p>
            <a:pPr indent="0" marL="0">
              <a:lnSpc>
                <a:spcPct val="110000"/>
              </a:lnSpc>
              <a:buNone/>
            </a:pPr>
            <a:r>
              <a:rPr lang="en-US" sz="1700" b="1" dirty="0">
                <a:solidFill>
                  <a:srgbClr val="1A1A1A"/>
                </a:solidFill>
                <a:latin typeface="Cambria" pitchFamily="34" charset="0"/>
                <a:ea typeface="Cambria" pitchFamily="34" charset="-122"/>
                <a:cs typeface="Cambria" pitchFamily="34" charset="-120"/>
              </a:rPr>
              <a:t>Stuck and stretched</a:t>
            </a:r>
            <a:endParaRPr lang="en-US" sz="1700" dirty="0"/>
          </a:p>
        </p:txBody>
      </p:sp>
      <p:sp>
        <p:nvSpPr>
          <p:cNvPr id="9" name="Text 7"/>
          <p:cNvSpPr/>
          <p:nvPr/>
        </p:nvSpPr>
        <p:spPr>
          <a:xfrm>
            <a:off x="841248" y="3703320"/>
            <a:ext cx="2980944" cy="1828800"/>
          </a:xfrm>
          <a:prstGeom prst="rect">
            <a:avLst/>
          </a:prstGeom>
          <a:noFill/>
          <a:ln/>
        </p:spPr>
        <p:txBody>
          <a:bodyPr wrap="square" rtlCol="0" anchor="ctr"/>
          <a:lstStyle/>
          <a:p>
            <a:pPr marL="342900" indent="-342900">
              <a:lnSpc>
                <a:spcPct val="140000"/>
              </a:lnSpc>
              <a:spcAft>
                <a:spcPts val="800"/>
              </a:spcAft>
              <a:buSzPct val="100000"/>
              <a:buChar char="•"/>
            </a:pPr>
            <a:r>
              <a:rPr lang="en-US" sz="1150" dirty="0">
                <a:solidFill>
                  <a:srgbClr val="4A4A4A"/>
                </a:solidFill>
                <a:latin typeface="Calibri" pitchFamily="34" charset="0"/>
                <a:ea typeface="Calibri" pitchFamily="34" charset="-122"/>
                <a:cs typeface="Calibri" pitchFamily="34" charset="-120"/>
              </a:rPr>
              <a:t>Working IN the business daily</a:t>
            </a:r>
            <a:endParaRPr lang="en-US" sz="1150" dirty="0"/>
          </a:p>
          <a:p>
            <a:pPr marL="342900" indent="-342900">
              <a:lnSpc>
                <a:spcPct val="140000"/>
              </a:lnSpc>
              <a:spcAft>
                <a:spcPts val="800"/>
              </a:spcAft>
              <a:buSzPct val="100000"/>
              <a:buChar char="•"/>
            </a:pPr>
            <a:r>
              <a:rPr lang="en-US" sz="1150" dirty="0">
                <a:solidFill>
                  <a:srgbClr val="4A4A4A"/>
                </a:solidFill>
                <a:latin typeface="Calibri" pitchFamily="34" charset="0"/>
                <a:ea typeface="Calibri" pitchFamily="34" charset="-122"/>
                <a:cs typeface="Calibri" pitchFamily="34" charset="-120"/>
              </a:rPr>
              <a:t>No time, no visibility, no plan</a:t>
            </a:r>
            <a:endParaRPr lang="en-US" sz="1150" dirty="0"/>
          </a:p>
          <a:p>
            <a:pPr marL="342900" indent="-342900">
              <a:lnSpc>
                <a:spcPct val="140000"/>
              </a:lnSpc>
              <a:spcAft>
                <a:spcPts val="800"/>
              </a:spcAft>
              <a:buSzPct val="100000"/>
              <a:buChar char="•"/>
            </a:pPr>
            <a:r>
              <a:rPr lang="en-US" sz="1150" dirty="0">
                <a:solidFill>
                  <a:srgbClr val="4A4A4A"/>
                </a:solidFill>
                <a:latin typeface="Calibri" pitchFamily="34" charset="0"/>
                <a:ea typeface="Calibri" pitchFamily="34" charset="-122"/>
                <a:cs typeface="Calibri" pitchFamily="34" charset="-120"/>
              </a:rPr>
              <a:t>Doesn't know what's leaking</a:t>
            </a:r>
            <a:endParaRPr lang="en-US" sz="1150" dirty="0"/>
          </a:p>
        </p:txBody>
      </p:sp>
      <p:sp>
        <p:nvSpPr>
          <p:cNvPr id="10" name="Text 8"/>
          <p:cNvSpPr/>
          <p:nvPr/>
        </p:nvSpPr>
        <p:spPr>
          <a:xfrm>
            <a:off x="4133088" y="3886200"/>
            <a:ext cx="219456" cy="457200"/>
          </a:xfrm>
          <a:prstGeom prst="rect">
            <a:avLst/>
          </a:prstGeom>
          <a:noFill/>
          <a:ln/>
        </p:spPr>
        <p:txBody>
          <a:bodyPr wrap="square" rtlCol="0" anchor="ctr"/>
          <a:lstStyle/>
          <a:p>
            <a:pPr algn="ctr" indent="0" marL="0">
              <a:buNone/>
            </a:pPr>
            <a:r>
              <a:rPr lang="en-US" sz="2200" b="1" dirty="0">
                <a:solidFill>
                  <a:srgbClr val="C8A227"/>
                </a:solidFill>
                <a:latin typeface="Cambria" pitchFamily="34" charset="0"/>
                <a:ea typeface="Cambria" pitchFamily="34" charset="-122"/>
                <a:cs typeface="Cambria" pitchFamily="34" charset="-120"/>
              </a:rPr>
              <a:t>&gt;</a:t>
            </a:r>
            <a:endParaRPr lang="en-US" sz="2200" dirty="0"/>
          </a:p>
        </p:txBody>
      </p:sp>
      <p:sp>
        <p:nvSpPr>
          <p:cNvPr id="11" name="Shape 9"/>
          <p:cNvSpPr/>
          <p:nvPr/>
        </p:nvSpPr>
        <p:spPr>
          <a:xfrm>
            <a:off x="4370832" y="2331720"/>
            <a:ext cx="3566160" cy="3566160"/>
          </a:xfrm>
          <a:prstGeom prst="roundRect">
            <a:avLst>
              <a:gd name="adj" fmla="val 1538"/>
            </a:avLst>
          </a:prstGeom>
          <a:solidFill>
            <a:srgbClr val="1A1A1A"/>
          </a:solidFill>
          <a:ln/>
          <a:effectLst>
            <a:outerShdw sx="100000" sy="100000" kx="0" ky="0" algn="bl" rotWithShape="0" blurRad="101600" dist="38100" dir="2700000">
              <a:srgbClr val="000000">
                <a:alpha val="12000"/>
              </a:srgbClr>
            </a:outerShdw>
          </a:effectLst>
        </p:spPr>
      </p:sp>
      <p:sp>
        <p:nvSpPr>
          <p:cNvPr id="12" name="Text 10"/>
          <p:cNvSpPr/>
          <p:nvPr/>
        </p:nvSpPr>
        <p:spPr>
          <a:xfrm>
            <a:off x="4663440" y="2606040"/>
            <a:ext cx="2980944" cy="274320"/>
          </a:xfrm>
          <a:prstGeom prst="rect">
            <a:avLst/>
          </a:prstGeom>
          <a:noFill/>
          <a:ln/>
        </p:spPr>
        <p:txBody>
          <a:bodyPr wrap="square" rtlCol="0" anchor="ctr"/>
          <a:lstStyle/>
          <a:p>
            <a:pPr indent="0" marL="0">
              <a:buNone/>
            </a:pPr>
            <a:r>
              <a:rPr lang="en-US" sz="1000" b="1" spc="150" kern="0" dirty="0">
                <a:solidFill>
                  <a:srgbClr val="E8C766"/>
                </a:solidFill>
                <a:latin typeface="Calibri" pitchFamily="34" charset="0"/>
                <a:ea typeface="Calibri" pitchFamily="34" charset="-122"/>
                <a:cs typeface="Calibri" pitchFamily="34" charset="-120"/>
              </a:rPr>
              <a:t>THE 12-WEEK JOURNEY</a:t>
            </a:r>
            <a:endParaRPr lang="en-US" sz="1000" dirty="0"/>
          </a:p>
        </p:txBody>
      </p:sp>
      <p:sp>
        <p:nvSpPr>
          <p:cNvPr id="13" name="Text 11"/>
          <p:cNvSpPr/>
          <p:nvPr/>
        </p:nvSpPr>
        <p:spPr>
          <a:xfrm>
            <a:off x="4663440" y="2926080"/>
            <a:ext cx="2980944" cy="640080"/>
          </a:xfrm>
          <a:prstGeom prst="rect">
            <a:avLst/>
          </a:prstGeom>
          <a:noFill/>
          <a:ln/>
        </p:spPr>
        <p:txBody>
          <a:bodyPr wrap="square" lIns="0" tIns="0" rIns="0" bIns="0" rtlCol="0" anchor="ctr"/>
          <a:lstStyle/>
          <a:p>
            <a:pPr indent="0" marL="0">
              <a:lnSpc>
                <a:spcPct val="110000"/>
              </a:lnSpc>
              <a:buNone/>
            </a:pPr>
            <a:r>
              <a:rPr lang="en-US" sz="1700" b="1" dirty="0">
                <a:solidFill>
                  <a:srgbClr val="FFFFFF"/>
                </a:solidFill>
                <a:latin typeface="Cambria" pitchFamily="34" charset="0"/>
                <a:ea typeface="Cambria" pitchFamily="34" charset="-122"/>
                <a:cs typeface="Cambria" pitchFamily="34" charset="-120"/>
              </a:rPr>
              <a:t>Guided, milestone by milestone</a:t>
            </a:r>
            <a:endParaRPr lang="en-US" sz="1700" dirty="0"/>
          </a:p>
        </p:txBody>
      </p:sp>
      <p:sp>
        <p:nvSpPr>
          <p:cNvPr id="14" name="Text 12"/>
          <p:cNvSpPr/>
          <p:nvPr/>
        </p:nvSpPr>
        <p:spPr>
          <a:xfrm>
            <a:off x="4663440" y="3703320"/>
            <a:ext cx="2980944" cy="1828800"/>
          </a:xfrm>
          <a:prstGeom prst="rect">
            <a:avLst/>
          </a:prstGeom>
          <a:noFill/>
          <a:ln/>
        </p:spPr>
        <p:txBody>
          <a:bodyPr wrap="square" rtlCol="0" anchor="ctr"/>
          <a:lstStyle/>
          <a:p>
            <a:pPr marL="342900" indent="-342900">
              <a:lnSpc>
                <a:spcPct val="140000"/>
              </a:lnSpc>
              <a:spcAft>
                <a:spcPts val="800"/>
              </a:spcAft>
              <a:buSzPct val="100000"/>
              <a:buChar char="•"/>
            </a:pPr>
            <a:r>
              <a:rPr lang="en-US" sz="1150" dirty="0">
                <a:solidFill>
                  <a:srgbClr val="D8D8D8"/>
                </a:solidFill>
                <a:latin typeface="Calibri" pitchFamily="34" charset="0"/>
                <a:ea typeface="Calibri" pitchFamily="34" charset="-122"/>
                <a:cs typeface="Calibri" pitchFamily="34" charset="-120"/>
              </a:rPr>
              <a:t>Learn, see, do, extend, every week</a:t>
            </a:r>
            <a:endParaRPr lang="en-US" sz="1150" dirty="0"/>
          </a:p>
          <a:p>
            <a:pPr marL="342900" indent="-342900">
              <a:lnSpc>
                <a:spcPct val="140000"/>
              </a:lnSpc>
              <a:spcAft>
                <a:spcPts val="800"/>
              </a:spcAft>
              <a:buSzPct val="100000"/>
              <a:buChar char="•"/>
            </a:pPr>
            <a:r>
              <a:rPr lang="en-US" sz="1150" dirty="0">
                <a:solidFill>
                  <a:srgbClr val="D8D8D8"/>
                </a:solidFill>
                <a:latin typeface="Calibri" pitchFamily="34" charset="0"/>
                <a:ea typeface="Calibri" pitchFamily="34" charset="-122"/>
                <a:cs typeface="Calibri" pitchFamily="34" charset="-120"/>
              </a:rPr>
              <a:t>Time back, then profit found</a:t>
            </a:r>
            <a:endParaRPr lang="en-US" sz="1150" dirty="0"/>
          </a:p>
          <a:p>
            <a:pPr marL="342900" indent="-342900">
              <a:lnSpc>
                <a:spcPct val="140000"/>
              </a:lnSpc>
              <a:spcAft>
                <a:spcPts val="800"/>
              </a:spcAft>
              <a:buSzPct val="100000"/>
              <a:buChar char="•"/>
            </a:pPr>
            <a:r>
              <a:rPr lang="en-US" sz="1150" dirty="0">
                <a:solidFill>
                  <a:srgbClr val="D8D8D8"/>
                </a:solidFill>
                <a:latin typeface="Calibri" pitchFamily="34" charset="0"/>
                <a:ea typeface="Calibri" pitchFamily="34" charset="-122"/>
                <a:cs typeface="Calibri" pitchFamily="34" charset="-120"/>
              </a:rPr>
              <a:t>Meets the team: Mark, Cam, Hannah</a:t>
            </a:r>
            <a:endParaRPr lang="en-US" sz="1150" dirty="0"/>
          </a:p>
        </p:txBody>
      </p:sp>
      <p:sp>
        <p:nvSpPr>
          <p:cNvPr id="15" name="Text 13"/>
          <p:cNvSpPr/>
          <p:nvPr/>
        </p:nvSpPr>
        <p:spPr>
          <a:xfrm>
            <a:off x="7955280" y="3886200"/>
            <a:ext cx="219456" cy="457200"/>
          </a:xfrm>
          <a:prstGeom prst="rect">
            <a:avLst/>
          </a:prstGeom>
          <a:noFill/>
          <a:ln/>
        </p:spPr>
        <p:txBody>
          <a:bodyPr wrap="square" rtlCol="0" anchor="ctr"/>
          <a:lstStyle/>
          <a:p>
            <a:pPr algn="ctr" indent="0" marL="0">
              <a:buNone/>
            </a:pPr>
            <a:r>
              <a:rPr lang="en-US" sz="2200" b="1" dirty="0">
                <a:solidFill>
                  <a:srgbClr val="C8A227"/>
                </a:solidFill>
                <a:latin typeface="Cambria" pitchFamily="34" charset="0"/>
                <a:ea typeface="Cambria" pitchFamily="34" charset="-122"/>
                <a:cs typeface="Cambria" pitchFamily="34" charset="-120"/>
              </a:rPr>
              <a:t>&gt;</a:t>
            </a:r>
            <a:endParaRPr lang="en-US" sz="2200" dirty="0"/>
          </a:p>
        </p:txBody>
      </p:sp>
      <p:sp>
        <p:nvSpPr>
          <p:cNvPr id="16" name="Shape 14"/>
          <p:cNvSpPr/>
          <p:nvPr/>
        </p:nvSpPr>
        <p:spPr>
          <a:xfrm>
            <a:off x="8193024" y="2331720"/>
            <a:ext cx="3566160" cy="3566160"/>
          </a:xfrm>
          <a:prstGeom prst="roundRect">
            <a:avLst>
              <a:gd name="adj" fmla="val 1538"/>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8485632" y="2606040"/>
            <a:ext cx="2980944" cy="274320"/>
          </a:xfrm>
          <a:prstGeom prst="rect">
            <a:avLst/>
          </a:prstGeom>
          <a:noFill/>
          <a:ln/>
        </p:spPr>
        <p:txBody>
          <a:bodyPr wrap="square" rtlCol="0" anchor="ctr"/>
          <a:lstStyle/>
          <a:p>
            <a:pPr indent="0" marL="0">
              <a:buNone/>
            </a:pPr>
            <a:r>
              <a:rPr lang="en-US" sz="1000" b="1" spc="150" kern="0" dirty="0">
                <a:solidFill>
                  <a:srgbClr val="C8A227"/>
                </a:solidFill>
                <a:latin typeface="Calibri" pitchFamily="34" charset="0"/>
                <a:ea typeface="Calibri" pitchFamily="34" charset="-122"/>
                <a:cs typeface="Calibri" pitchFamily="34" charset="-120"/>
              </a:rPr>
              <a:t>AFTER</a:t>
            </a:r>
            <a:endParaRPr lang="en-US" sz="1000" dirty="0"/>
          </a:p>
        </p:txBody>
      </p:sp>
      <p:sp>
        <p:nvSpPr>
          <p:cNvPr id="18" name="Text 16"/>
          <p:cNvSpPr/>
          <p:nvPr/>
        </p:nvSpPr>
        <p:spPr>
          <a:xfrm>
            <a:off x="8485632" y="2926080"/>
            <a:ext cx="2980944" cy="640080"/>
          </a:xfrm>
          <a:prstGeom prst="rect">
            <a:avLst/>
          </a:prstGeom>
          <a:noFill/>
          <a:ln/>
        </p:spPr>
        <p:txBody>
          <a:bodyPr wrap="square" lIns="0" tIns="0" rIns="0" bIns="0" rtlCol="0" anchor="ctr"/>
          <a:lstStyle/>
          <a:p>
            <a:pPr indent="0" marL="0">
              <a:lnSpc>
                <a:spcPct val="110000"/>
              </a:lnSpc>
              <a:buNone/>
            </a:pPr>
            <a:r>
              <a:rPr lang="en-US" sz="1700" b="1" dirty="0">
                <a:solidFill>
                  <a:srgbClr val="1A1A1A"/>
                </a:solidFill>
                <a:latin typeface="Cambria" pitchFamily="34" charset="0"/>
                <a:ea typeface="Cambria" pitchFamily="34" charset="-122"/>
                <a:cs typeface="Cambria" pitchFamily="34" charset="-120"/>
              </a:rPr>
              <a:t>Running without them</a:t>
            </a:r>
            <a:endParaRPr lang="en-US" sz="1700" dirty="0"/>
          </a:p>
        </p:txBody>
      </p:sp>
      <p:sp>
        <p:nvSpPr>
          <p:cNvPr id="19" name="Text 17"/>
          <p:cNvSpPr/>
          <p:nvPr/>
        </p:nvSpPr>
        <p:spPr>
          <a:xfrm>
            <a:off x="8485632" y="3703320"/>
            <a:ext cx="2980944" cy="1828800"/>
          </a:xfrm>
          <a:prstGeom prst="rect">
            <a:avLst/>
          </a:prstGeom>
          <a:noFill/>
          <a:ln/>
        </p:spPr>
        <p:txBody>
          <a:bodyPr wrap="square" rtlCol="0" anchor="ctr"/>
          <a:lstStyle/>
          <a:p>
            <a:pPr marL="342900" indent="-342900">
              <a:lnSpc>
                <a:spcPct val="140000"/>
              </a:lnSpc>
              <a:spcAft>
                <a:spcPts val="800"/>
              </a:spcAft>
              <a:buSzPct val="100000"/>
              <a:buChar char="•"/>
            </a:pPr>
            <a:r>
              <a:rPr lang="en-US" sz="1150" dirty="0">
                <a:solidFill>
                  <a:srgbClr val="4A4A4A"/>
                </a:solidFill>
                <a:latin typeface="Calibri" pitchFamily="34" charset="0"/>
                <a:ea typeface="Calibri" pitchFamily="34" charset="-122"/>
                <a:cs typeface="Calibri" pitchFamily="34" charset="-120"/>
              </a:rPr>
              <a:t>Dashboard, forecast, team in place</a:t>
            </a:r>
            <a:endParaRPr lang="en-US" sz="1150" dirty="0"/>
          </a:p>
          <a:p>
            <a:pPr marL="342900" indent="-342900">
              <a:lnSpc>
                <a:spcPct val="140000"/>
              </a:lnSpc>
              <a:spcAft>
                <a:spcPts val="800"/>
              </a:spcAft>
              <a:buSzPct val="100000"/>
              <a:buChar char="•"/>
            </a:pPr>
            <a:r>
              <a:rPr lang="en-US" sz="1150" dirty="0">
                <a:solidFill>
                  <a:srgbClr val="4A4A4A"/>
                </a:solidFill>
                <a:latin typeface="Calibri" pitchFamily="34" charset="0"/>
                <a:ea typeface="Calibri" pitchFamily="34" charset="-122"/>
                <a:cs typeface="Calibri" pitchFamily="34" charset="-120"/>
              </a:rPr>
              <a:t>Stays on in the recurring community</a:t>
            </a:r>
            <a:endParaRPr lang="en-US" sz="1150" dirty="0"/>
          </a:p>
          <a:p>
            <a:pPr marL="342900" indent="-342900">
              <a:lnSpc>
                <a:spcPct val="140000"/>
              </a:lnSpc>
              <a:spcAft>
                <a:spcPts val="800"/>
              </a:spcAft>
              <a:buSzPct val="100000"/>
              <a:buChar char="•"/>
            </a:pPr>
            <a:r>
              <a:rPr lang="en-US" sz="1150" dirty="0">
                <a:solidFill>
                  <a:srgbClr val="4A4A4A"/>
                </a:solidFill>
                <a:latin typeface="Calibri" pitchFamily="34" charset="0"/>
                <a:ea typeface="Calibri" pitchFamily="34" charset="-122"/>
                <a:cs typeface="Calibri" pitchFamily="34" charset="-120"/>
              </a:rPr>
              <a:t>Becomes a referral and a case study</a:t>
            </a:r>
            <a:endParaRPr lang="en-US" sz="1150" dirty="0"/>
          </a:p>
        </p:txBody>
      </p:sp>
      <p:sp>
        <p:nvSpPr>
          <p:cNvPr id="20" name="Text 18"/>
          <p:cNvSpPr/>
          <p:nvPr/>
        </p:nvSpPr>
        <p:spPr>
          <a:xfrm>
            <a:off x="548640" y="6126480"/>
            <a:ext cx="11094415" cy="320040"/>
          </a:xfrm>
          <a:prstGeom prst="rect">
            <a:avLst/>
          </a:prstGeom>
          <a:noFill/>
          <a:ln/>
        </p:spPr>
        <p:txBody>
          <a:bodyPr wrap="square" rtlCol="0" anchor="ctr"/>
          <a:lstStyle/>
          <a:p>
            <a:pPr indent="0" marL="0">
              <a:buNone/>
            </a:pPr>
            <a:r>
              <a:rPr lang="en-US" sz="1050" i="1" dirty="0">
                <a:solidFill>
                  <a:srgbClr val="8A8A8A"/>
                </a:solidFill>
                <a:latin typeface="Calibri" pitchFamily="34" charset="0"/>
                <a:ea typeface="Calibri" pitchFamily="34" charset="-122"/>
                <a:cs typeface="Calibri" pitchFamily="34" charset="-120"/>
              </a:rPr>
              <a:t>Full board detail: the Miro Board Prep Pack, built and ready for the July 14 call with Mike.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GENUINELY NOT DECIDED YET</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14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600" b="1" dirty="0">
                <a:solidFill>
                  <a:srgbClr val="1A1A1A"/>
                </a:solidFill>
                <a:latin typeface="Cambria" pitchFamily="34" charset="0"/>
                <a:ea typeface="Cambria" pitchFamily="34" charset="-122"/>
                <a:cs typeface="Cambria" pitchFamily="34" charset="-120"/>
              </a:rPr>
              <a:t>Here's what's still wide open. This is exactly where we need your call.</a:t>
            </a:r>
            <a:endParaRPr lang="en-US" sz="2600" dirty="0"/>
          </a:p>
        </p:txBody>
      </p:sp>
      <p:sp>
        <p:nvSpPr>
          <p:cNvPr id="5" name="Text 3"/>
          <p:cNvSpPr/>
          <p:nvPr/>
        </p:nvSpPr>
        <p:spPr>
          <a:xfrm>
            <a:off x="548640" y="146304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Everything before this slide is real progress, but none of it locks the business model. These four questions are still being worked through with Mike, and nothing here moves forward without you.</a:t>
            </a:r>
            <a:endParaRPr lang="en-US" sz="1350" dirty="0"/>
          </a:p>
        </p:txBody>
      </p:sp>
      <p:sp>
        <p:nvSpPr>
          <p:cNvPr id="6" name="Shape 4"/>
          <p:cNvSpPr/>
          <p:nvPr/>
        </p:nvSpPr>
        <p:spPr>
          <a:xfrm>
            <a:off x="548640" y="2377440"/>
            <a:ext cx="5349240" cy="1600200"/>
          </a:xfrm>
          <a:prstGeom prst="roundRect">
            <a:avLst>
              <a:gd name="adj" fmla="val 3429"/>
            </a:avLst>
          </a:prstGeom>
          <a:solidFill>
            <a:srgbClr val="FBF1D6"/>
          </a:solidFill>
          <a:ln w="19050">
            <a:solidFill>
              <a:srgbClr val="C8A227"/>
            </a:solidFill>
            <a:prstDash val="solid"/>
          </a:ln>
        </p:spPr>
      </p:sp>
      <p:sp>
        <p:nvSpPr>
          <p:cNvPr id="7" name="Shape 5"/>
          <p:cNvSpPr/>
          <p:nvPr/>
        </p:nvSpPr>
        <p:spPr>
          <a:xfrm>
            <a:off x="4480560" y="2578608"/>
            <a:ext cx="1143000" cy="310896"/>
          </a:xfrm>
          <a:prstGeom prst="roundRect">
            <a:avLst>
              <a:gd name="adj" fmla="val 50000"/>
            </a:avLst>
          </a:prstGeom>
          <a:solidFill>
            <a:srgbClr val="C8A227"/>
          </a:solidFill>
          <a:ln/>
        </p:spPr>
      </p:sp>
      <p:sp>
        <p:nvSpPr>
          <p:cNvPr id="8" name="Text 6"/>
          <p:cNvSpPr/>
          <p:nvPr/>
        </p:nvSpPr>
        <p:spPr>
          <a:xfrm>
            <a:off x="4480560" y="2578608"/>
            <a:ext cx="1143000" cy="310896"/>
          </a:xfrm>
          <a:prstGeom prst="rect">
            <a:avLst/>
          </a:prstGeom>
          <a:noFill/>
          <a:ln/>
        </p:spPr>
        <p:txBody>
          <a:bodyPr wrap="square" lIns="0" tIns="0" rIns="0" bIns="0" rtlCol="0" anchor="ctr"/>
          <a:lstStyle/>
          <a:p>
            <a:pPr algn="ctr" indent="0" marL="0">
              <a:buNone/>
            </a:pPr>
            <a:r>
              <a:rPr lang="en-US" sz="900" b="1" spc="100" kern="0" dirty="0">
                <a:solidFill>
                  <a:srgbClr val="1A1A1A"/>
                </a:solidFill>
                <a:latin typeface="Calibri" pitchFamily="34" charset="0"/>
                <a:ea typeface="Calibri" pitchFamily="34" charset="-122"/>
                <a:cs typeface="Calibri" pitchFamily="34" charset="-120"/>
              </a:rPr>
              <a:t>STILL OPEN</a:t>
            </a:r>
            <a:endParaRPr lang="en-US" sz="900" dirty="0"/>
          </a:p>
        </p:txBody>
      </p:sp>
      <p:sp>
        <p:nvSpPr>
          <p:cNvPr id="9" name="Text 7"/>
          <p:cNvSpPr/>
          <p:nvPr/>
        </p:nvSpPr>
        <p:spPr>
          <a:xfrm>
            <a:off x="822960" y="2578608"/>
            <a:ext cx="3520440" cy="365760"/>
          </a:xfrm>
          <a:prstGeom prst="rect">
            <a:avLst/>
          </a:prstGeom>
          <a:noFill/>
          <a:ln/>
        </p:spPr>
        <p:txBody>
          <a:bodyPr wrap="square" lIns="0" tIns="0" rIns="0" bIns="0" rtlCol="0" anchor="ctr"/>
          <a:lstStyle/>
          <a:p>
            <a:pPr indent="0" marL="0">
              <a:buNone/>
            </a:pPr>
            <a:r>
              <a:rPr lang="en-US" sz="1500" b="1" dirty="0">
                <a:solidFill>
                  <a:srgbClr val="6B5610"/>
                </a:solidFill>
                <a:latin typeface="Cambria" pitchFamily="34" charset="0"/>
                <a:ea typeface="Cambria" pitchFamily="34" charset="-122"/>
                <a:cs typeface="Cambria" pitchFamily="34" charset="-120"/>
              </a:rPr>
              <a:t>Pricing</a:t>
            </a:r>
            <a:endParaRPr lang="en-US" sz="1500" dirty="0"/>
          </a:p>
        </p:txBody>
      </p:sp>
      <p:sp>
        <p:nvSpPr>
          <p:cNvPr id="10" name="Text 8"/>
          <p:cNvSpPr/>
          <p:nvPr/>
        </p:nvSpPr>
        <p:spPr>
          <a:xfrm>
            <a:off x="822960" y="3017520"/>
            <a:ext cx="4800600" cy="914400"/>
          </a:xfrm>
          <a:prstGeom prst="rect">
            <a:avLst/>
          </a:prstGeom>
          <a:noFill/>
          <a:ln/>
        </p:spPr>
        <p:txBody>
          <a:bodyPr wrap="square" rtlCol="0" anchor="ctr"/>
          <a:lstStyle/>
          <a:p>
            <a:pPr indent="0" marL="0">
              <a:lnSpc>
                <a:spcPct val="125000"/>
              </a:lnSpc>
              <a:buNone/>
            </a:pPr>
            <a:r>
              <a:rPr lang="en-US" sz="1150" dirty="0">
                <a:solidFill>
                  <a:srgbClr val="3A3A3A"/>
                </a:solidFill>
                <a:latin typeface="Calibri" pitchFamily="34" charset="0"/>
                <a:ea typeface="Calibri" pitchFamily="34" charset="-122"/>
                <a:cs typeface="Calibri" pitchFamily="34" charset="-120"/>
              </a:rPr>
              <a:t>Freemium plus paid tiers is the shape, but the actual numbers aren't set. Tier 2 is a placeholder, not a price.</a:t>
            </a:r>
            <a:endParaRPr lang="en-US" sz="1150" dirty="0"/>
          </a:p>
        </p:txBody>
      </p:sp>
      <p:sp>
        <p:nvSpPr>
          <p:cNvPr id="11" name="Shape 9"/>
          <p:cNvSpPr/>
          <p:nvPr/>
        </p:nvSpPr>
        <p:spPr>
          <a:xfrm>
            <a:off x="6217920" y="2377440"/>
            <a:ext cx="5349240" cy="1600200"/>
          </a:xfrm>
          <a:prstGeom prst="roundRect">
            <a:avLst>
              <a:gd name="adj" fmla="val 3429"/>
            </a:avLst>
          </a:prstGeom>
          <a:solidFill>
            <a:srgbClr val="FBF1D6"/>
          </a:solidFill>
          <a:ln w="19050">
            <a:solidFill>
              <a:srgbClr val="C8A227"/>
            </a:solidFill>
            <a:prstDash val="solid"/>
          </a:ln>
        </p:spPr>
      </p:sp>
      <p:sp>
        <p:nvSpPr>
          <p:cNvPr id="12" name="Shape 10"/>
          <p:cNvSpPr/>
          <p:nvPr/>
        </p:nvSpPr>
        <p:spPr>
          <a:xfrm>
            <a:off x="10149840" y="2578608"/>
            <a:ext cx="1143000" cy="310896"/>
          </a:xfrm>
          <a:prstGeom prst="roundRect">
            <a:avLst>
              <a:gd name="adj" fmla="val 50000"/>
            </a:avLst>
          </a:prstGeom>
          <a:solidFill>
            <a:srgbClr val="C8A227"/>
          </a:solidFill>
          <a:ln/>
        </p:spPr>
      </p:sp>
      <p:sp>
        <p:nvSpPr>
          <p:cNvPr id="13" name="Text 11"/>
          <p:cNvSpPr/>
          <p:nvPr/>
        </p:nvSpPr>
        <p:spPr>
          <a:xfrm>
            <a:off x="10149840" y="2578608"/>
            <a:ext cx="1143000" cy="310896"/>
          </a:xfrm>
          <a:prstGeom prst="rect">
            <a:avLst/>
          </a:prstGeom>
          <a:noFill/>
          <a:ln/>
        </p:spPr>
        <p:txBody>
          <a:bodyPr wrap="square" lIns="0" tIns="0" rIns="0" bIns="0" rtlCol="0" anchor="ctr"/>
          <a:lstStyle/>
          <a:p>
            <a:pPr algn="ctr" indent="0" marL="0">
              <a:buNone/>
            </a:pPr>
            <a:r>
              <a:rPr lang="en-US" sz="900" b="1" spc="100" kern="0" dirty="0">
                <a:solidFill>
                  <a:srgbClr val="1A1A1A"/>
                </a:solidFill>
                <a:latin typeface="Calibri" pitchFamily="34" charset="0"/>
                <a:ea typeface="Calibri" pitchFamily="34" charset="-122"/>
                <a:cs typeface="Calibri" pitchFamily="34" charset="-120"/>
              </a:rPr>
              <a:t>STILL OPEN</a:t>
            </a:r>
            <a:endParaRPr lang="en-US" sz="900" dirty="0"/>
          </a:p>
        </p:txBody>
      </p:sp>
      <p:sp>
        <p:nvSpPr>
          <p:cNvPr id="14" name="Text 12"/>
          <p:cNvSpPr/>
          <p:nvPr/>
        </p:nvSpPr>
        <p:spPr>
          <a:xfrm>
            <a:off x="6492240" y="2578608"/>
            <a:ext cx="3520440" cy="365760"/>
          </a:xfrm>
          <a:prstGeom prst="rect">
            <a:avLst/>
          </a:prstGeom>
          <a:noFill/>
          <a:ln/>
        </p:spPr>
        <p:txBody>
          <a:bodyPr wrap="square" lIns="0" tIns="0" rIns="0" bIns="0" rtlCol="0" anchor="ctr"/>
          <a:lstStyle/>
          <a:p>
            <a:pPr indent="0" marL="0">
              <a:buNone/>
            </a:pPr>
            <a:r>
              <a:rPr lang="en-US" sz="1500" b="1" dirty="0">
                <a:solidFill>
                  <a:srgbClr val="6B5610"/>
                </a:solidFill>
                <a:latin typeface="Cambria" pitchFamily="34" charset="0"/>
                <a:ea typeface="Cambria" pitchFamily="34" charset="-122"/>
                <a:cs typeface="Cambria" pitchFamily="34" charset="-120"/>
              </a:rPr>
              <a:t>The founding cohort</a:t>
            </a:r>
            <a:endParaRPr lang="en-US" sz="1500" dirty="0"/>
          </a:p>
        </p:txBody>
      </p:sp>
      <p:sp>
        <p:nvSpPr>
          <p:cNvPr id="15" name="Text 13"/>
          <p:cNvSpPr/>
          <p:nvPr/>
        </p:nvSpPr>
        <p:spPr>
          <a:xfrm>
            <a:off x="6492240" y="3017520"/>
            <a:ext cx="4800600" cy="914400"/>
          </a:xfrm>
          <a:prstGeom prst="rect">
            <a:avLst/>
          </a:prstGeom>
          <a:noFill/>
          <a:ln/>
        </p:spPr>
        <p:txBody>
          <a:bodyPr wrap="square" rtlCol="0" anchor="ctr"/>
          <a:lstStyle/>
          <a:p>
            <a:pPr indent="0" marL="0">
              <a:lnSpc>
                <a:spcPct val="125000"/>
              </a:lnSpc>
              <a:buNone/>
            </a:pPr>
            <a:r>
              <a:rPr lang="en-US" sz="1150" dirty="0">
                <a:solidFill>
                  <a:srgbClr val="3A3A3A"/>
                </a:solidFill>
                <a:latin typeface="Calibri" pitchFamily="34" charset="0"/>
                <a:ea typeface="Calibri" pitchFamily="34" charset="-122"/>
                <a:cs typeface="Calibri" pitchFamily="34" charset="-120"/>
              </a:rPr>
              <a:t>Who goes first, and how we avoid launching to an empty room, is a real open risk we're bringing to Mike directly.</a:t>
            </a:r>
            <a:endParaRPr lang="en-US" sz="1150" dirty="0"/>
          </a:p>
        </p:txBody>
      </p:sp>
      <p:sp>
        <p:nvSpPr>
          <p:cNvPr id="16" name="Shape 14"/>
          <p:cNvSpPr/>
          <p:nvPr/>
        </p:nvSpPr>
        <p:spPr>
          <a:xfrm>
            <a:off x="548640" y="4206240"/>
            <a:ext cx="5349240" cy="1600200"/>
          </a:xfrm>
          <a:prstGeom prst="roundRect">
            <a:avLst>
              <a:gd name="adj" fmla="val 3429"/>
            </a:avLst>
          </a:prstGeom>
          <a:solidFill>
            <a:srgbClr val="FBF1D6"/>
          </a:solidFill>
          <a:ln w="19050">
            <a:solidFill>
              <a:srgbClr val="C8A227"/>
            </a:solidFill>
            <a:prstDash val="solid"/>
          </a:ln>
        </p:spPr>
      </p:sp>
      <p:sp>
        <p:nvSpPr>
          <p:cNvPr id="17" name="Shape 15"/>
          <p:cNvSpPr/>
          <p:nvPr/>
        </p:nvSpPr>
        <p:spPr>
          <a:xfrm>
            <a:off x="4480560" y="4407408"/>
            <a:ext cx="1143000" cy="310896"/>
          </a:xfrm>
          <a:prstGeom prst="roundRect">
            <a:avLst>
              <a:gd name="adj" fmla="val 50000"/>
            </a:avLst>
          </a:prstGeom>
          <a:solidFill>
            <a:srgbClr val="C8A227"/>
          </a:solidFill>
          <a:ln/>
        </p:spPr>
      </p:sp>
      <p:sp>
        <p:nvSpPr>
          <p:cNvPr id="18" name="Text 16"/>
          <p:cNvSpPr/>
          <p:nvPr/>
        </p:nvSpPr>
        <p:spPr>
          <a:xfrm>
            <a:off x="4480560" y="4407408"/>
            <a:ext cx="1143000" cy="310896"/>
          </a:xfrm>
          <a:prstGeom prst="rect">
            <a:avLst/>
          </a:prstGeom>
          <a:noFill/>
          <a:ln/>
        </p:spPr>
        <p:txBody>
          <a:bodyPr wrap="square" lIns="0" tIns="0" rIns="0" bIns="0" rtlCol="0" anchor="ctr"/>
          <a:lstStyle/>
          <a:p>
            <a:pPr algn="ctr" indent="0" marL="0">
              <a:buNone/>
            </a:pPr>
            <a:r>
              <a:rPr lang="en-US" sz="900" b="1" spc="100" kern="0" dirty="0">
                <a:solidFill>
                  <a:srgbClr val="1A1A1A"/>
                </a:solidFill>
                <a:latin typeface="Calibri" pitchFamily="34" charset="0"/>
                <a:ea typeface="Calibri" pitchFamily="34" charset="-122"/>
                <a:cs typeface="Calibri" pitchFamily="34" charset="-120"/>
              </a:rPr>
              <a:t>STILL OPEN</a:t>
            </a:r>
            <a:endParaRPr lang="en-US" sz="900" dirty="0"/>
          </a:p>
        </p:txBody>
      </p:sp>
      <p:sp>
        <p:nvSpPr>
          <p:cNvPr id="19" name="Text 17"/>
          <p:cNvSpPr/>
          <p:nvPr/>
        </p:nvSpPr>
        <p:spPr>
          <a:xfrm>
            <a:off x="822960" y="4407408"/>
            <a:ext cx="3520440" cy="365760"/>
          </a:xfrm>
          <a:prstGeom prst="rect">
            <a:avLst/>
          </a:prstGeom>
          <a:noFill/>
          <a:ln/>
        </p:spPr>
        <p:txBody>
          <a:bodyPr wrap="square" lIns="0" tIns="0" rIns="0" bIns="0" rtlCol="0" anchor="ctr"/>
          <a:lstStyle/>
          <a:p>
            <a:pPr indent="0" marL="0">
              <a:buNone/>
            </a:pPr>
            <a:r>
              <a:rPr lang="en-US" sz="1500" b="1" dirty="0">
                <a:solidFill>
                  <a:srgbClr val="6B5610"/>
                </a:solidFill>
                <a:latin typeface="Cambria" pitchFamily="34" charset="0"/>
                <a:ea typeface="Cambria" pitchFamily="34" charset="-122"/>
                <a:cs typeface="Cambria" pitchFamily="34" charset="-120"/>
              </a:rPr>
              <a:t>The community platform</a:t>
            </a:r>
            <a:endParaRPr lang="en-US" sz="1500" dirty="0"/>
          </a:p>
        </p:txBody>
      </p:sp>
      <p:sp>
        <p:nvSpPr>
          <p:cNvPr id="20" name="Text 18"/>
          <p:cNvSpPr/>
          <p:nvPr/>
        </p:nvSpPr>
        <p:spPr>
          <a:xfrm>
            <a:off x="822960" y="4846320"/>
            <a:ext cx="4800600" cy="914400"/>
          </a:xfrm>
          <a:prstGeom prst="rect">
            <a:avLst/>
          </a:prstGeom>
          <a:noFill/>
          <a:ln/>
        </p:spPr>
        <p:txBody>
          <a:bodyPr wrap="square" rtlCol="0" anchor="ctr"/>
          <a:lstStyle/>
          <a:p>
            <a:pPr indent="0" marL="0">
              <a:lnSpc>
                <a:spcPct val="125000"/>
              </a:lnSpc>
              <a:buNone/>
            </a:pPr>
            <a:r>
              <a:rPr lang="en-US" sz="1150" dirty="0">
                <a:solidFill>
                  <a:srgbClr val="3A3A3A"/>
                </a:solidFill>
                <a:latin typeface="Calibri" pitchFamily="34" charset="0"/>
                <a:ea typeface="Calibri" pitchFamily="34" charset="-122"/>
                <a:cs typeface="Calibri" pitchFamily="34" charset="-120"/>
              </a:rPr>
              <a:t>Weekly Q&amp;A, office hours, the content library, the tiers themselves: mapped in concept, not yet built.</a:t>
            </a:r>
            <a:endParaRPr lang="en-US" sz="1150" dirty="0"/>
          </a:p>
        </p:txBody>
      </p:sp>
      <p:sp>
        <p:nvSpPr>
          <p:cNvPr id="21" name="Shape 19"/>
          <p:cNvSpPr/>
          <p:nvPr/>
        </p:nvSpPr>
        <p:spPr>
          <a:xfrm>
            <a:off x="6217920" y="4206240"/>
            <a:ext cx="5349240" cy="1600200"/>
          </a:xfrm>
          <a:prstGeom prst="roundRect">
            <a:avLst>
              <a:gd name="adj" fmla="val 3429"/>
            </a:avLst>
          </a:prstGeom>
          <a:solidFill>
            <a:srgbClr val="FBF1D6"/>
          </a:solidFill>
          <a:ln w="19050">
            <a:solidFill>
              <a:srgbClr val="C8A227"/>
            </a:solidFill>
            <a:prstDash val="solid"/>
          </a:ln>
        </p:spPr>
      </p:sp>
      <p:sp>
        <p:nvSpPr>
          <p:cNvPr id="22" name="Shape 20"/>
          <p:cNvSpPr/>
          <p:nvPr/>
        </p:nvSpPr>
        <p:spPr>
          <a:xfrm>
            <a:off x="10149840" y="4407408"/>
            <a:ext cx="1143000" cy="310896"/>
          </a:xfrm>
          <a:prstGeom prst="roundRect">
            <a:avLst>
              <a:gd name="adj" fmla="val 50000"/>
            </a:avLst>
          </a:prstGeom>
          <a:solidFill>
            <a:srgbClr val="C8A227"/>
          </a:solidFill>
          <a:ln/>
        </p:spPr>
      </p:sp>
      <p:sp>
        <p:nvSpPr>
          <p:cNvPr id="23" name="Text 21"/>
          <p:cNvSpPr/>
          <p:nvPr/>
        </p:nvSpPr>
        <p:spPr>
          <a:xfrm>
            <a:off x="10149840" y="4407408"/>
            <a:ext cx="1143000" cy="310896"/>
          </a:xfrm>
          <a:prstGeom prst="rect">
            <a:avLst/>
          </a:prstGeom>
          <a:noFill/>
          <a:ln/>
        </p:spPr>
        <p:txBody>
          <a:bodyPr wrap="square" lIns="0" tIns="0" rIns="0" bIns="0" rtlCol="0" anchor="ctr"/>
          <a:lstStyle/>
          <a:p>
            <a:pPr algn="ctr" indent="0" marL="0">
              <a:buNone/>
            </a:pPr>
            <a:r>
              <a:rPr lang="en-US" sz="900" b="1" spc="100" kern="0" dirty="0">
                <a:solidFill>
                  <a:srgbClr val="1A1A1A"/>
                </a:solidFill>
                <a:latin typeface="Calibri" pitchFamily="34" charset="0"/>
                <a:ea typeface="Calibri" pitchFamily="34" charset="-122"/>
                <a:cs typeface="Calibri" pitchFamily="34" charset="-120"/>
              </a:rPr>
              <a:t>STILL OPEN</a:t>
            </a:r>
            <a:endParaRPr lang="en-US" sz="900" dirty="0"/>
          </a:p>
        </p:txBody>
      </p:sp>
      <p:sp>
        <p:nvSpPr>
          <p:cNvPr id="24" name="Text 22"/>
          <p:cNvSpPr/>
          <p:nvPr/>
        </p:nvSpPr>
        <p:spPr>
          <a:xfrm>
            <a:off x="6492240" y="4407408"/>
            <a:ext cx="3520440" cy="365760"/>
          </a:xfrm>
          <a:prstGeom prst="rect">
            <a:avLst/>
          </a:prstGeom>
          <a:noFill/>
          <a:ln/>
        </p:spPr>
        <p:txBody>
          <a:bodyPr wrap="square" lIns="0" tIns="0" rIns="0" bIns="0" rtlCol="0" anchor="ctr"/>
          <a:lstStyle/>
          <a:p>
            <a:pPr indent="0" marL="0">
              <a:buNone/>
            </a:pPr>
            <a:r>
              <a:rPr lang="en-US" sz="1500" b="1" dirty="0">
                <a:solidFill>
                  <a:srgbClr val="6B5610"/>
                </a:solidFill>
                <a:latin typeface="Cambria" pitchFamily="34" charset="0"/>
                <a:ea typeface="Cambria" pitchFamily="34" charset="-122"/>
                <a:cs typeface="Cambria" pitchFamily="34" charset="-120"/>
              </a:rPr>
              <a:t>Curriculum structure</a:t>
            </a:r>
            <a:endParaRPr lang="en-US" sz="1500" dirty="0"/>
          </a:p>
        </p:txBody>
      </p:sp>
      <p:sp>
        <p:nvSpPr>
          <p:cNvPr id="25" name="Text 23"/>
          <p:cNvSpPr/>
          <p:nvPr/>
        </p:nvSpPr>
        <p:spPr>
          <a:xfrm>
            <a:off x="6492240" y="4846320"/>
            <a:ext cx="4800600" cy="914400"/>
          </a:xfrm>
          <a:prstGeom prst="rect">
            <a:avLst/>
          </a:prstGeom>
          <a:noFill/>
          <a:ln/>
        </p:spPr>
        <p:txBody>
          <a:bodyPr wrap="square" rtlCol="0" anchor="ctr"/>
          <a:lstStyle/>
          <a:p>
            <a:pPr indent="0" marL="0">
              <a:lnSpc>
                <a:spcPct val="125000"/>
              </a:lnSpc>
              <a:buNone/>
            </a:pPr>
            <a:r>
              <a:rPr lang="en-US" sz="1150" dirty="0">
                <a:solidFill>
                  <a:srgbClr val="3A3A3A"/>
                </a:solidFill>
                <a:latin typeface="Calibri" pitchFamily="34" charset="0"/>
                <a:ea typeface="Calibri" pitchFamily="34" charset="-122"/>
                <a:cs typeface="Calibri" pitchFamily="34" charset="-120"/>
              </a:rPr>
              <a:t>Solid as a draft, but still subject to change as the community-first model gets finalized.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WHAT'S NEXT</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15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700" b="1" dirty="0">
                <a:solidFill>
                  <a:srgbClr val="1A1A1A"/>
                </a:solidFill>
                <a:latin typeface="Cambria" pitchFamily="34" charset="0"/>
                <a:ea typeface="Cambria" pitchFamily="34" charset="-122"/>
                <a:cs typeface="Cambria" pitchFamily="34" charset="-120"/>
              </a:rPr>
              <a:t>Six more weeks with Mike to turn this into a real business model.</a:t>
            </a:r>
            <a:endParaRPr lang="en-US" sz="2700" dirty="0"/>
          </a:p>
        </p:txBody>
      </p:sp>
      <p:sp>
        <p:nvSpPr>
          <p:cNvPr id="5" name="Text 3"/>
          <p:cNvSpPr/>
          <p:nvPr/>
        </p:nvSpPr>
        <p:spPr>
          <a:xfrm>
            <a:off x="548640" y="146304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Roughly now through late August. This is the work that finalizes pricing, scope, and the community rebuild before anything goes in front of your sign-off.</a:t>
            </a:r>
            <a:endParaRPr lang="en-US" sz="1350" dirty="0"/>
          </a:p>
        </p:txBody>
      </p:sp>
      <p:sp>
        <p:nvSpPr>
          <p:cNvPr id="6" name="Shape 4"/>
          <p:cNvSpPr/>
          <p:nvPr/>
        </p:nvSpPr>
        <p:spPr>
          <a:xfrm>
            <a:off x="548640" y="2468880"/>
            <a:ext cx="2724912" cy="3108960"/>
          </a:xfrm>
          <a:prstGeom prst="roundRect">
            <a:avLst>
              <a:gd name="adj" fmla="val 2013"/>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804672" y="2724912"/>
            <a:ext cx="457200" cy="457200"/>
          </a:xfrm>
          <a:prstGeom prst="ellipse">
            <a:avLst/>
          </a:prstGeom>
          <a:solidFill>
            <a:srgbClr val="F7EFD6"/>
          </a:solidFill>
          <a:ln/>
        </p:spPr>
      </p:sp>
      <p:sp>
        <p:nvSpPr>
          <p:cNvPr id="8" name="Text 6"/>
          <p:cNvSpPr/>
          <p:nvPr/>
        </p:nvSpPr>
        <p:spPr>
          <a:xfrm>
            <a:off x="804672" y="2724912"/>
            <a:ext cx="457200" cy="457200"/>
          </a:xfrm>
          <a:prstGeom prst="rect">
            <a:avLst/>
          </a:prstGeom>
          <a:noFill/>
          <a:ln/>
        </p:spPr>
        <p:txBody>
          <a:bodyPr wrap="square" lIns="0" tIns="0" rIns="0" bIns="0" rtlCol="0" anchor="ctr"/>
          <a:lstStyle/>
          <a:p>
            <a:pPr algn="ctr" indent="0" marL="0">
              <a:buNone/>
            </a:pPr>
            <a:r>
              <a:rPr lang="en-US" sz="1600" b="1" dirty="0">
                <a:solidFill>
                  <a:srgbClr val="1A1A1A"/>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777240" y="3337560"/>
            <a:ext cx="2267712" cy="274320"/>
          </a:xfrm>
          <a:prstGeom prst="rect">
            <a:avLst/>
          </a:prstGeom>
          <a:noFill/>
          <a:ln/>
        </p:spPr>
        <p:txBody>
          <a:bodyPr wrap="square" rtlCol="0" anchor="ctr"/>
          <a:lstStyle/>
          <a:p>
            <a:pPr indent="0" marL="0">
              <a:buNone/>
            </a:pPr>
            <a:r>
              <a:rPr lang="en-US" sz="950" b="1" spc="120" kern="0" dirty="0">
                <a:solidFill>
                  <a:srgbClr val="C8A227"/>
                </a:solidFill>
                <a:latin typeface="Calibri" pitchFamily="34" charset="0"/>
                <a:ea typeface="Calibri" pitchFamily="34" charset="-122"/>
                <a:cs typeface="Calibri" pitchFamily="34" charset="-120"/>
              </a:rPr>
              <a:t>JULY 14</a:t>
            </a:r>
            <a:endParaRPr lang="en-US" sz="950" dirty="0"/>
          </a:p>
        </p:txBody>
      </p:sp>
      <p:sp>
        <p:nvSpPr>
          <p:cNvPr id="10" name="Text 8"/>
          <p:cNvSpPr/>
          <p:nvPr/>
        </p:nvSpPr>
        <p:spPr>
          <a:xfrm>
            <a:off x="777240" y="3639312"/>
            <a:ext cx="2267712" cy="594360"/>
          </a:xfrm>
          <a:prstGeom prst="rect">
            <a:avLst/>
          </a:prstGeom>
          <a:noFill/>
          <a:ln/>
        </p:spPr>
        <p:txBody>
          <a:bodyPr wrap="square" lIns="0" tIns="0" rIns="0" bIns="0" rtlCol="0" anchor="ctr"/>
          <a:lstStyle/>
          <a:p>
            <a:pPr indent="0" marL="0">
              <a:lnSpc>
                <a:spcPct val="110000"/>
              </a:lnSpc>
              <a:buNone/>
            </a:pPr>
            <a:r>
              <a:rPr lang="en-US" sz="1400" b="1" dirty="0">
                <a:solidFill>
                  <a:srgbClr val="1A1A1A"/>
                </a:solidFill>
                <a:latin typeface="Cambria" pitchFamily="34" charset="0"/>
                <a:ea typeface="Cambria" pitchFamily="34" charset="-122"/>
                <a:cs typeface="Cambria" pitchFamily="34" charset="-120"/>
              </a:rPr>
              <a:t>MVP call with Mike</a:t>
            </a:r>
            <a:endParaRPr lang="en-US" sz="1400" dirty="0"/>
          </a:p>
        </p:txBody>
      </p:sp>
      <p:sp>
        <p:nvSpPr>
          <p:cNvPr id="11" name="Text 9"/>
          <p:cNvSpPr/>
          <p:nvPr/>
        </p:nvSpPr>
        <p:spPr>
          <a:xfrm>
            <a:off x="777240" y="4251960"/>
            <a:ext cx="2267712" cy="118872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Bring the founding-cohort question and defend the MVP scope, live on the Miro board.</a:t>
            </a:r>
            <a:endParaRPr lang="en-US" sz="1050" dirty="0"/>
          </a:p>
        </p:txBody>
      </p:sp>
      <p:sp>
        <p:nvSpPr>
          <p:cNvPr id="12" name="Shape 10"/>
          <p:cNvSpPr/>
          <p:nvPr/>
        </p:nvSpPr>
        <p:spPr>
          <a:xfrm>
            <a:off x="3419856" y="2468880"/>
            <a:ext cx="2724912" cy="3108960"/>
          </a:xfrm>
          <a:prstGeom prst="roundRect">
            <a:avLst>
              <a:gd name="adj" fmla="val 2013"/>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3" name="Shape 11"/>
          <p:cNvSpPr/>
          <p:nvPr/>
        </p:nvSpPr>
        <p:spPr>
          <a:xfrm>
            <a:off x="3675888" y="2724912"/>
            <a:ext cx="457200" cy="457200"/>
          </a:xfrm>
          <a:prstGeom prst="ellipse">
            <a:avLst/>
          </a:prstGeom>
          <a:solidFill>
            <a:srgbClr val="F7EFD6"/>
          </a:solidFill>
          <a:ln/>
        </p:spPr>
      </p:sp>
      <p:sp>
        <p:nvSpPr>
          <p:cNvPr id="14" name="Text 12"/>
          <p:cNvSpPr/>
          <p:nvPr/>
        </p:nvSpPr>
        <p:spPr>
          <a:xfrm>
            <a:off x="3675888" y="2724912"/>
            <a:ext cx="457200" cy="457200"/>
          </a:xfrm>
          <a:prstGeom prst="rect">
            <a:avLst/>
          </a:prstGeom>
          <a:noFill/>
          <a:ln/>
        </p:spPr>
        <p:txBody>
          <a:bodyPr wrap="square" lIns="0" tIns="0" rIns="0" bIns="0" rtlCol="0" anchor="ctr"/>
          <a:lstStyle/>
          <a:p>
            <a:pPr algn="ctr" indent="0" marL="0">
              <a:buNone/>
            </a:pPr>
            <a:r>
              <a:rPr lang="en-US" sz="1600" b="1" dirty="0">
                <a:solidFill>
                  <a:srgbClr val="1A1A1A"/>
                </a:solidFill>
                <a:latin typeface="Cambria" pitchFamily="34" charset="0"/>
                <a:ea typeface="Cambria" pitchFamily="34" charset="-122"/>
                <a:cs typeface="Cambria" pitchFamily="34" charset="-120"/>
              </a:rPr>
              <a:t>2</a:t>
            </a:r>
            <a:endParaRPr lang="en-US" sz="1600" dirty="0"/>
          </a:p>
        </p:txBody>
      </p:sp>
      <p:sp>
        <p:nvSpPr>
          <p:cNvPr id="15" name="Text 13"/>
          <p:cNvSpPr/>
          <p:nvPr/>
        </p:nvSpPr>
        <p:spPr>
          <a:xfrm>
            <a:off x="3648456" y="3337560"/>
            <a:ext cx="2267712" cy="274320"/>
          </a:xfrm>
          <a:prstGeom prst="rect">
            <a:avLst/>
          </a:prstGeom>
          <a:noFill/>
          <a:ln/>
        </p:spPr>
        <p:txBody>
          <a:bodyPr wrap="square" rtlCol="0" anchor="ctr"/>
          <a:lstStyle/>
          <a:p>
            <a:pPr indent="0" marL="0">
              <a:buNone/>
            </a:pPr>
            <a:r>
              <a:rPr lang="en-US" sz="950" b="1" spc="120" kern="0" dirty="0">
                <a:solidFill>
                  <a:srgbClr val="C8A227"/>
                </a:solidFill>
                <a:latin typeface="Calibri" pitchFamily="34" charset="0"/>
                <a:ea typeface="Calibri" pitchFamily="34" charset="-122"/>
                <a:cs typeface="Calibri" pitchFamily="34" charset="-120"/>
              </a:rPr>
              <a:t>LATE JULY</a:t>
            </a:r>
            <a:endParaRPr lang="en-US" sz="950" dirty="0"/>
          </a:p>
        </p:txBody>
      </p:sp>
      <p:sp>
        <p:nvSpPr>
          <p:cNvPr id="16" name="Text 14"/>
          <p:cNvSpPr/>
          <p:nvPr/>
        </p:nvSpPr>
        <p:spPr>
          <a:xfrm>
            <a:off x="3648456" y="3639312"/>
            <a:ext cx="2267712" cy="594360"/>
          </a:xfrm>
          <a:prstGeom prst="rect">
            <a:avLst/>
          </a:prstGeom>
          <a:noFill/>
          <a:ln/>
        </p:spPr>
        <p:txBody>
          <a:bodyPr wrap="square" lIns="0" tIns="0" rIns="0" bIns="0" rtlCol="0" anchor="ctr"/>
          <a:lstStyle/>
          <a:p>
            <a:pPr indent="0" marL="0">
              <a:lnSpc>
                <a:spcPct val="110000"/>
              </a:lnSpc>
              <a:buNone/>
            </a:pPr>
            <a:r>
              <a:rPr lang="en-US" sz="1400" b="1" dirty="0">
                <a:solidFill>
                  <a:srgbClr val="1A1A1A"/>
                </a:solidFill>
                <a:latin typeface="Cambria" pitchFamily="34" charset="0"/>
                <a:ea typeface="Cambria" pitchFamily="34" charset="-122"/>
                <a:cs typeface="Cambria" pitchFamily="34" charset="-120"/>
              </a:rPr>
              <a:t>Lock pricing shape</a:t>
            </a:r>
            <a:endParaRPr lang="en-US" sz="1400" dirty="0"/>
          </a:p>
        </p:txBody>
      </p:sp>
      <p:sp>
        <p:nvSpPr>
          <p:cNvPr id="17" name="Text 15"/>
          <p:cNvSpPr/>
          <p:nvPr/>
        </p:nvSpPr>
        <p:spPr>
          <a:xfrm>
            <a:off x="3648456" y="4251960"/>
            <a:ext cx="2267712" cy="118872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Freemium tiers, numbers, and the capacity-valve logic for Mark's time, finalized as a proposal.</a:t>
            </a:r>
            <a:endParaRPr lang="en-US" sz="1050" dirty="0"/>
          </a:p>
        </p:txBody>
      </p:sp>
      <p:sp>
        <p:nvSpPr>
          <p:cNvPr id="18" name="Shape 16"/>
          <p:cNvSpPr/>
          <p:nvPr/>
        </p:nvSpPr>
        <p:spPr>
          <a:xfrm>
            <a:off x="6291072" y="2468880"/>
            <a:ext cx="2724912" cy="3108960"/>
          </a:xfrm>
          <a:prstGeom prst="roundRect">
            <a:avLst>
              <a:gd name="adj" fmla="val 2013"/>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9" name="Shape 17"/>
          <p:cNvSpPr/>
          <p:nvPr/>
        </p:nvSpPr>
        <p:spPr>
          <a:xfrm>
            <a:off x="6547104" y="2724912"/>
            <a:ext cx="457200" cy="457200"/>
          </a:xfrm>
          <a:prstGeom prst="ellipse">
            <a:avLst/>
          </a:prstGeom>
          <a:solidFill>
            <a:srgbClr val="F7EFD6"/>
          </a:solidFill>
          <a:ln/>
        </p:spPr>
      </p:sp>
      <p:sp>
        <p:nvSpPr>
          <p:cNvPr id="20" name="Text 18"/>
          <p:cNvSpPr/>
          <p:nvPr/>
        </p:nvSpPr>
        <p:spPr>
          <a:xfrm>
            <a:off x="6547104" y="2724912"/>
            <a:ext cx="457200" cy="457200"/>
          </a:xfrm>
          <a:prstGeom prst="rect">
            <a:avLst/>
          </a:prstGeom>
          <a:noFill/>
          <a:ln/>
        </p:spPr>
        <p:txBody>
          <a:bodyPr wrap="square" lIns="0" tIns="0" rIns="0" bIns="0" rtlCol="0" anchor="ctr"/>
          <a:lstStyle/>
          <a:p>
            <a:pPr algn="ctr" indent="0" marL="0">
              <a:buNone/>
            </a:pPr>
            <a:r>
              <a:rPr lang="en-US" sz="1600" b="1" dirty="0">
                <a:solidFill>
                  <a:srgbClr val="1A1A1A"/>
                </a:solidFill>
                <a:latin typeface="Cambria" pitchFamily="34" charset="0"/>
                <a:ea typeface="Cambria" pitchFamily="34" charset="-122"/>
                <a:cs typeface="Cambria" pitchFamily="34" charset="-120"/>
              </a:rPr>
              <a:t>3</a:t>
            </a:r>
            <a:endParaRPr lang="en-US" sz="1600" dirty="0"/>
          </a:p>
        </p:txBody>
      </p:sp>
      <p:sp>
        <p:nvSpPr>
          <p:cNvPr id="21" name="Text 19"/>
          <p:cNvSpPr/>
          <p:nvPr/>
        </p:nvSpPr>
        <p:spPr>
          <a:xfrm>
            <a:off x="6519672" y="3337560"/>
            <a:ext cx="2267712" cy="274320"/>
          </a:xfrm>
          <a:prstGeom prst="rect">
            <a:avLst/>
          </a:prstGeom>
          <a:noFill/>
          <a:ln/>
        </p:spPr>
        <p:txBody>
          <a:bodyPr wrap="square" rtlCol="0" anchor="ctr"/>
          <a:lstStyle/>
          <a:p>
            <a:pPr indent="0" marL="0">
              <a:buNone/>
            </a:pPr>
            <a:r>
              <a:rPr lang="en-US" sz="950" b="1" spc="120" kern="0" dirty="0">
                <a:solidFill>
                  <a:srgbClr val="C8A227"/>
                </a:solidFill>
                <a:latin typeface="Calibri" pitchFamily="34" charset="0"/>
                <a:ea typeface="Calibri" pitchFamily="34" charset="-122"/>
                <a:cs typeface="Calibri" pitchFamily="34" charset="-120"/>
              </a:rPr>
              <a:t>EARLY AUGUST</a:t>
            </a:r>
            <a:endParaRPr lang="en-US" sz="950" dirty="0"/>
          </a:p>
        </p:txBody>
      </p:sp>
      <p:sp>
        <p:nvSpPr>
          <p:cNvPr id="22" name="Text 20"/>
          <p:cNvSpPr/>
          <p:nvPr/>
        </p:nvSpPr>
        <p:spPr>
          <a:xfrm>
            <a:off x="6519672" y="3639312"/>
            <a:ext cx="2267712" cy="594360"/>
          </a:xfrm>
          <a:prstGeom prst="rect">
            <a:avLst/>
          </a:prstGeom>
          <a:noFill/>
          <a:ln/>
        </p:spPr>
        <p:txBody>
          <a:bodyPr wrap="square" lIns="0" tIns="0" rIns="0" bIns="0" rtlCol="0" anchor="ctr"/>
          <a:lstStyle/>
          <a:p>
            <a:pPr indent="0" marL="0">
              <a:lnSpc>
                <a:spcPct val="110000"/>
              </a:lnSpc>
              <a:buNone/>
            </a:pPr>
            <a:r>
              <a:rPr lang="en-US" sz="1400" b="1" dirty="0">
                <a:solidFill>
                  <a:srgbClr val="1A1A1A"/>
                </a:solidFill>
                <a:latin typeface="Cambria" pitchFamily="34" charset="0"/>
                <a:ea typeface="Cambria" pitchFamily="34" charset="-122"/>
                <a:cs typeface="Cambria" pitchFamily="34" charset="-120"/>
              </a:rPr>
              <a:t>Map the community build</a:t>
            </a:r>
            <a:endParaRPr lang="en-US" sz="1400" dirty="0"/>
          </a:p>
        </p:txBody>
      </p:sp>
      <p:sp>
        <p:nvSpPr>
          <p:cNvPr id="23" name="Text 21"/>
          <p:cNvSpPr/>
          <p:nvPr/>
        </p:nvSpPr>
        <p:spPr>
          <a:xfrm>
            <a:off x="6519672" y="4251960"/>
            <a:ext cx="2267712" cy="118872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Platform choice, content cadence, and what “ongoing” actually looks like week to week.</a:t>
            </a:r>
            <a:endParaRPr lang="en-US" sz="1050" dirty="0"/>
          </a:p>
        </p:txBody>
      </p:sp>
      <p:sp>
        <p:nvSpPr>
          <p:cNvPr id="24" name="Shape 22"/>
          <p:cNvSpPr/>
          <p:nvPr/>
        </p:nvSpPr>
        <p:spPr>
          <a:xfrm>
            <a:off x="9162288" y="2468880"/>
            <a:ext cx="2724912" cy="3108960"/>
          </a:xfrm>
          <a:prstGeom prst="roundRect">
            <a:avLst>
              <a:gd name="adj" fmla="val 2013"/>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25" name="Shape 23"/>
          <p:cNvSpPr/>
          <p:nvPr/>
        </p:nvSpPr>
        <p:spPr>
          <a:xfrm>
            <a:off x="9418320" y="2724912"/>
            <a:ext cx="457200" cy="457200"/>
          </a:xfrm>
          <a:prstGeom prst="ellipse">
            <a:avLst/>
          </a:prstGeom>
          <a:solidFill>
            <a:srgbClr val="F7EFD6"/>
          </a:solidFill>
          <a:ln/>
        </p:spPr>
      </p:sp>
      <p:sp>
        <p:nvSpPr>
          <p:cNvPr id="26" name="Text 24"/>
          <p:cNvSpPr/>
          <p:nvPr/>
        </p:nvSpPr>
        <p:spPr>
          <a:xfrm>
            <a:off x="9418320" y="2724912"/>
            <a:ext cx="457200" cy="457200"/>
          </a:xfrm>
          <a:prstGeom prst="rect">
            <a:avLst/>
          </a:prstGeom>
          <a:noFill/>
          <a:ln/>
        </p:spPr>
        <p:txBody>
          <a:bodyPr wrap="square" lIns="0" tIns="0" rIns="0" bIns="0" rtlCol="0" anchor="ctr"/>
          <a:lstStyle/>
          <a:p>
            <a:pPr algn="ctr" indent="0" marL="0">
              <a:buNone/>
            </a:pPr>
            <a:r>
              <a:rPr lang="en-US" sz="1600" b="1" dirty="0">
                <a:solidFill>
                  <a:srgbClr val="1A1A1A"/>
                </a:solidFill>
                <a:latin typeface="Cambria" pitchFamily="34" charset="0"/>
                <a:ea typeface="Cambria" pitchFamily="34" charset="-122"/>
                <a:cs typeface="Cambria" pitchFamily="34" charset="-120"/>
              </a:rPr>
              <a:t>4</a:t>
            </a:r>
            <a:endParaRPr lang="en-US" sz="1600" dirty="0"/>
          </a:p>
        </p:txBody>
      </p:sp>
      <p:sp>
        <p:nvSpPr>
          <p:cNvPr id="27" name="Text 25"/>
          <p:cNvSpPr/>
          <p:nvPr/>
        </p:nvSpPr>
        <p:spPr>
          <a:xfrm>
            <a:off x="9390888" y="3337560"/>
            <a:ext cx="2267712" cy="274320"/>
          </a:xfrm>
          <a:prstGeom prst="rect">
            <a:avLst/>
          </a:prstGeom>
          <a:noFill/>
          <a:ln/>
        </p:spPr>
        <p:txBody>
          <a:bodyPr wrap="square" rtlCol="0" anchor="ctr"/>
          <a:lstStyle/>
          <a:p>
            <a:pPr indent="0" marL="0">
              <a:buNone/>
            </a:pPr>
            <a:r>
              <a:rPr lang="en-US" sz="950" b="1" spc="120" kern="0" dirty="0">
                <a:solidFill>
                  <a:srgbClr val="C8A227"/>
                </a:solidFill>
                <a:latin typeface="Calibri" pitchFamily="34" charset="0"/>
                <a:ea typeface="Calibri" pitchFamily="34" charset="-122"/>
                <a:cs typeface="Calibri" pitchFamily="34" charset="-120"/>
              </a:rPr>
              <a:t>LATE AUGUST</a:t>
            </a:r>
            <a:endParaRPr lang="en-US" sz="950" dirty="0"/>
          </a:p>
        </p:txBody>
      </p:sp>
      <p:sp>
        <p:nvSpPr>
          <p:cNvPr id="28" name="Text 26"/>
          <p:cNvSpPr/>
          <p:nvPr/>
        </p:nvSpPr>
        <p:spPr>
          <a:xfrm>
            <a:off x="9390888" y="3639312"/>
            <a:ext cx="2267712" cy="594360"/>
          </a:xfrm>
          <a:prstGeom prst="rect">
            <a:avLst/>
          </a:prstGeom>
          <a:noFill/>
          <a:ln/>
        </p:spPr>
        <p:txBody>
          <a:bodyPr wrap="square" lIns="0" tIns="0" rIns="0" bIns="0" rtlCol="0" anchor="ctr"/>
          <a:lstStyle/>
          <a:p>
            <a:pPr indent="0" marL="0">
              <a:lnSpc>
                <a:spcPct val="110000"/>
              </a:lnSpc>
              <a:buNone/>
            </a:pPr>
            <a:r>
              <a:rPr lang="en-US" sz="1400" b="1" dirty="0">
                <a:solidFill>
                  <a:srgbClr val="1A1A1A"/>
                </a:solidFill>
                <a:latin typeface="Cambria" pitchFamily="34" charset="0"/>
                <a:ea typeface="Cambria" pitchFamily="34" charset="-122"/>
                <a:cs typeface="Cambria" pitchFamily="34" charset="-120"/>
              </a:rPr>
              <a:t>Founding cohort ready</a:t>
            </a:r>
            <a:endParaRPr lang="en-US" sz="1400" dirty="0"/>
          </a:p>
        </p:txBody>
      </p:sp>
      <p:sp>
        <p:nvSpPr>
          <p:cNvPr id="29" name="Text 27"/>
          <p:cNvSpPr/>
          <p:nvPr/>
        </p:nvSpPr>
        <p:spPr>
          <a:xfrm>
            <a:off x="9390888" y="4251960"/>
            <a:ext cx="2267712" cy="118872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Full plan back to Mark, Cam, and Hannah for sign-off before first clients go through.</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THIS NEEDS ALL THREE OF YOU</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16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700" b="1" dirty="0">
                <a:solidFill>
                  <a:srgbClr val="1A1A1A"/>
                </a:solidFill>
                <a:latin typeface="Cambria" pitchFamily="34" charset="0"/>
                <a:ea typeface="Cambria" pitchFamily="34" charset="-122"/>
                <a:cs typeface="Cambria" pitchFamily="34" charset="-120"/>
              </a:rPr>
              <a:t>This only works with your expertise built in, not bolted on.</a:t>
            </a:r>
            <a:endParaRPr lang="en-US" sz="2700" dirty="0"/>
          </a:p>
        </p:txBody>
      </p:sp>
      <p:sp>
        <p:nvSpPr>
          <p:cNvPr id="5" name="Text 3"/>
          <p:cNvSpPr/>
          <p:nvPr/>
        </p:nvSpPr>
        <p:spPr>
          <a:xfrm>
            <a:off x="548640" y="146304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The curriculum already routes specific milestones to specific people. That's not a placeholder, it's the actual plan, and it needs your voice to be right.</a:t>
            </a:r>
            <a:endParaRPr lang="en-US" sz="1350" dirty="0"/>
          </a:p>
        </p:txBody>
      </p:sp>
      <p:sp>
        <p:nvSpPr>
          <p:cNvPr id="6" name="Shape 4"/>
          <p:cNvSpPr/>
          <p:nvPr/>
        </p:nvSpPr>
        <p:spPr>
          <a:xfrm>
            <a:off x="548640" y="2468880"/>
            <a:ext cx="2724912" cy="3108960"/>
          </a:xfrm>
          <a:prstGeom prst="roundRect">
            <a:avLst>
              <a:gd name="adj" fmla="val 2013"/>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804672" y="2724912"/>
            <a:ext cx="1051560" cy="310896"/>
          </a:xfrm>
          <a:prstGeom prst="roundRect">
            <a:avLst>
              <a:gd name="adj" fmla="val 50000"/>
            </a:avLst>
          </a:prstGeom>
          <a:solidFill>
            <a:srgbClr val="F7EFD6"/>
          </a:solidFill>
          <a:ln/>
        </p:spPr>
      </p:sp>
      <p:sp>
        <p:nvSpPr>
          <p:cNvPr id="8" name="Text 6"/>
          <p:cNvSpPr/>
          <p:nvPr/>
        </p:nvSpPr>
        <p:spPr>
          <a:xfrm>
            <a:off x="804672" y="2724912"/>
            <a:ext cx="1051560" cy="310896"/>
          </a:xfrm>
          <a:prstGeom prst="rect">
            <a:avLst/>
          </a:prstGeom>
          <a:noFill/>
          <a:ln/>
        </p:spPr>
        <p:txBody>
          <a:bodyPr wrap="square" lIns="0" tIns="0" rIns="0" bIns="0" rtlCol="0" anchor="ctr"/>
          <a:lstStyle/>
          <a:p>
            <a:pPr algn="ctr" indent="0" marL="0">
              <a:buNone/>
            </a:pPr>
            <a:r>
              <a:rPr lang="en-US" sz="1000" b="1" spc="100" kern="0" dirty="0">
                <a:solidFill>
                  <a:srgbClr val="1A1A1A"/>
                </a:solidFill>
                <a:latin typeface="Calibri" pitchFamily="34" charset="0"/>
                <a:ea typeface="Calibri" pitchFamily="34" charset="-122"/>
                <a:cs typeface="Calibri" pitchFamily="34" charset="-120"/>
              </a:rPr>
              <a:t>MARK</a:t>
            </a:r>
            <a:endParaRPr lang="en-US" sz="1000" dirty="0"/>
          </a:p>
        </p:txBody>
      </p:sp>
      <p:sp>
        <p:nvSpPr>
          <p:cNvPr id="9" name="Text 7"/>
          <p:cNvSpPr/>
          <p:nvPr/>
        </p:nvSpPr>
        <p:spPr>
          <a:xfrm>
            <a:off x="777240" y="3218688"/>
            <a:ext cx="2267712" cy="685800"/>
          </a:xfrm>
          <a:prstGeom prst="rect">
            <a:avLst/>
          </a:prstGeom>
          <a:noFill/>
          <a:ln/>
        </p:spPr>
        <p:txBody>
          <a:bodyPr wrap="square" lIns="0" tIns="0" rIns="0" bIns="0" rtlCol="0" anchor="ctr"/>
          <a:lstStyle/>
          <a:p>
            <a:pPr indent="0" marL="0">
              <a:lnSpc>
                <a:spcPct val="110000"/>
              </a:lnSpc>
              <a:buNone/>
            </a:pPr>
            <a:r>
              <a:rPr lang="en-US" sz="1450" b="1" dirty="0">
                <a:solidFill>
                  <a:srgbClr val="1A1A1A"/>
                </a:solidFill>
                <a:latin typeface="Cambria" pitchFamily="34" charset="0"/>
                <a:ea typeface="Cambria" pitchFamily="34" charset="-122"/>
                <a:cs typeface="Cambria" pitchFamily="34" charset="-120"/>
              </a:rPr>
              <a:t>The face and the teaching</a:t>
            </a:r>
            <a:endParaRPr lang="en-US" sz="1450" dirty="0"/>
          </a:p>
        </p:txBody>
      </p:sp>
      <p:sp>
        <p:nvSpPr>
          <p:cNvPr id="10" name="Text 8"/>
          <p:cNvSpPr/>
          <p:nvPr/>
        </p:nvSpPr>
        <p:spPr>
          <a:xfrm>
            <a:off x="777240" y="3931920"/>
            <a:ext cx="2267712" cy="155448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Fronting the video content, same as Cool Hollow Solutions. Zoom-first for now, so you can iterate before any polished filming.</a:t>
            </a:r>
            <a:endParaRPr lang="en-US" sz="1050" dirty="0"/>
          </a:p>
        </p:txBody>
      </p:sp>
      <p:sp>
        <p:nvSpPr>
          <p:cNvPr id="11" name="Shape 9"/>
          <p:cNvSpPr/>
          <p:nvPr/>
        </p:nvSpPr>
        <p:spPr>
          <a:xfrm>
            <a:off x="3419856" y="2468880"/>
            <a:ext cx="2724912" cy="3108960"/>
          </a:xfrm>
          <a:prstGeom prst="roundRect">
            <a:avLst>
              <a:gd name="adj" fmla="val 2013"/>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3675888" y="2724912"/>
            <a:ext cx="1051560" cy="310896"/>
          </a:xfrm>
          <a:prstGeom prst="roundRect">
            <a:avLst>
              <a:gd name="adj" fmla="val 50000"/>
            </a:avLst>
          </a:prstGeom>
          <a:solidFill>
            <a:srgbClr val="F7EFD6"/>
          </a:solidFill>
          <a:ln/>
        </p:spPr>
      </p:sp>
      <p:sp>
        <p:nvSpPr>
          <p:cNvPr id="13" name="Text 11"/>
          <p:cNvSpPr/>
          <p:nvPr/>
        </p:nvSpPr>
        <p:spPr>
          <a:xfrm>
            <a:off x="3675888" y="2724912"/>
            <a:ext cx="1051560" cy="310896"/>
          </a:xfrm>
          <a:prstGeom prst="rect">
            <a:avLst/>
          </a:prstGeom>
          <a:noFill/>
          <a:ln/>
        </p:spPr>
        <p:txBody>
          <a:bodyPr wrap="square" lIns="0" tIns="0" rIns="0" bIns="0" rtlCol="0" anchor="ctr"/>
          <a:lstStyle/>
          <a:p>
            <a:pPr algn="ctr" indent="0" marL="0">
              <a:buNone/>
            </a:pPr>
            <a:r>
              <a:rPr lang="en-US" sz="1000" b="1" spc="100" kern="0" dirty="0">
                <a:solidFill>
                  <a:srgbClr val="1A1A1A"/>
                </a:solidFill>
                <a:latin typeface="Calibri" pitchFamily="34" charset="0"/>
                <a:ea typeface="Calibri" pitchFamily="34" charset="-122"/>
                <a:cs typeface="Calibri" pitchFamily="34" charset="-120"/>
              </a:rPr>
              <a:t>CAM</a:t>
            </a:r>
            <a:endParaRPr lang="en-US" sz="1000" dirty="0"/>
          </a:p>
        </p:txBody>
      </p:sp>
      <p:sp>
        <p:nvSpPr>
          <p:cNvPr id="14" name="Text 12"/>
          <p:cNvSpPr/>
          <p:nvPr/>
        </p:nvSpPr>
        <p:spPr>
          <a:xfrm>
            <a:off x="3648456" y="3218688"/>
            <a:ext cx="2267712" cy="685800"/>
          </a:xfrm>
          <a:prstGeom prst="rect">
            <a:avLst/>
          </a:prstGeom>
          <a:noFill/>
          <a:ln/>
        </p:spPr>
        <p:txBody>
          <a:bodyPr wrap="square" lIns="0" tIns="0" rIns="0" bIns="0" rtlCol="0" anchor="ctr"/>
          <a:lstStyle/>
          <a:p>
            <a:pPr indent="0" marL="0">
              <a:lnSpc>
                <a:spcPct val="110000"/>
              </a:lnSpc>
              <a:buNone/>
            </a:pPr>
            <a:r>
              <a:rPr lang="en-US" sz="1450" b="1" dirty="0">
                <a:solidFill>
                  <a:srgbClr val="1A1A1A"/>
                </a:solidFill>
                <a:latin typeface="Cambria" pitchFamily="34" charset="0"/>
                <a:ea typeface="Cambria" pitchFamily="34" charset="-122"/>
                <a:cs typeface="Cambria" pitchFamily="34" charset="-120"/>
              </a:rPr>
              <a:t>The CFO milestones</a:t>
            </a:r>
            <a:endParaRPr lang="en-US" sz="1450" dirty="0"/>
          </a:p>
        </p:txBody>
      </p:sp>
      <p:sp>
        <p:nvSpPr>
          <p:cNvPr id="15" name="Text 13"/>
          <p:cNvSpPr/>
          <p:nvPr/>
        </p:nvSpPr>
        <p:spPr>
          <a:xfrm>
            <a:off x="3648456" y="3931920"/>
            <a:ext cx="2267712" cy="155448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Install the Dashboard and Discover the Hidden Product both lead with your judgment. Your input keeps the $50K promise honest.</a:t>
            </a:r>
            <a:endParaRPr lang="en-US" sz="1050" dirty="0"/>
          </a:p>
        </p:txBody>
      </p:sp>
      <p:sp>
        <p:nvSpPr>
          <p:cNvPr id="16" name="Shape 14"/>
          <p:cNvSpPr/>
          <p:nvPr/>
        </p:nvSpPr>
        <p:spPr>
          <a:xfrm>
            <a:off x="6291072" y="2468880"/>
            <a:ext cx="2724912" cy="3108960"/>
          </a:xfrm>
          <a:prstGeom prst="roundRect">
            <a:avLst>
              <a:gd name="adj" fmla="val 2013"/>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6547104" y="2724912"/>
            <a:ext cx="1051560" cy="310896"/>
          </a:xfrm>
          <a:prstGeom prst="roundRect">
            <a:avLst>
              <a:gd name="adj" fmla="val 50000"/>
            </a:avLst>
          </a:prstGeom>
          <a:solidFill>
            <a:srgbClr val="F7EFD6"/>
          </a:solidFill>
          <a:ln/>
        </p:spPr>
      </p:sp>
      <p:sp>
        <p:nvSpPr>
          <p:cNvPr id="18" name="Text 16"/>
          <p:cNvSpPr/>
          <p:nvPr/>
        </p:nvSpPr>
        <p:spPr>
          <a:xfrm>
            <a:off x="6547104" y="2724912"/>
            <a:ext cx="1051560" cy="310896"/>
          </a:xfrm>
          <a:prstGeom prst="rect">
            <a:avLst/>
          </a:prstGeom>
          <a:noFill/>
          <a:ln/>
        </p:spPr>
        <p:txBody>
          <a:bodyPr wrap="square" lIns="0" tIns="0" rIns="0" bIns="0" rtlCol="0" anchor="ctr"/>
          <a:lstStyle/>
          <a:p>
            <a:pPr algn="ctr" indent="0" marL="0">
              <a:buNone/>
            </a:pPr>
            <a:r>
              <a:rPr lang="en-US" sz="1000" b="1" spc="100" kern="0" dirty="0">
                <a:solidFill>
                  <a:srgbClr val="1A1A1A"/>
                </a:solidFill>
                <a:latin typeface="Calibri" pitchFamily="34" charset="0"/>
                <a:ea typeface="Calibri" pitchFamily="34" charset="-122"/>
                <a:cs typeface="Calibri" pitchFamily="34" charset="-120"/>
              </a:rPr>
              <a:t>HANNAH</a:t>
            </a:r>
            <a:endParaRPr lang="en-US" sz="1000" dirty="0"/>
          </a:p>
        </p:txBody>
      </p:sp>
      <p:sp>
        <p:nvSpPr>
          <p:cNvPr id="19" name="Text 17"/>
          <p:cNvSpPr/>
          <p:nvPr/>
        </p:nvSpPr>
        <p:spPr>
          <a:xfrm>
            <a:off x="6519672" y="3218688"/>
            <a:ext cx="2267712" cy="685800"/>
          </a:xfrm>
          <a:prstGeom prst="rect">
            <a:avLst/>
          </a:prstGeom>
          <a:noFill/>
          <a:ln/>
        </p:spPr>
        <p:txBody>
          <a:bodyPr wrap="square" lIns="0" tIns="0" rIns="0" bIns="0" rtlCol="0" anchor="ctr"/>
          <a:lstStyle/>
          <a:p>
            <a:pPr indent="0" marL="0">
              <a:lnSpc>
                <a:spcPct val="110000"/>
              </a:lnSpc>
              <a:buNone/>
            </a:pPr>
            <a:r>
              <a:rPr lang="en-US" sz="1450" b="1" dirty="0">
                <a:solidFill>
                  <a:srgbClr val="1A1A1A"/>
                </a:solidFill>
                <a:latin typeface="Cambria" pitchFamily="34" charset="0"/>
                <a:ea typeface="Cambria" pitchFamily="34" charset="-122"/>
                <a:cs typeface="Cambria" pitchFamily="34" charset="-120"/>
              </a:rPr>
              <a:t>Build the Team</a:t>
            </a:r>
            <a:endParaRPr lang="en-US" sz="1450" dirty="0"/>
          </a:p>
        </p:txBody>
      </p:sp>
      <p:sp>
        <p:nvSpPr>
          <p:cNvPr id="20" name="Text 18"/>
          <p:cNvSpPr/>
          <p:nvPr/>
        </p:nvSpPr>
        <p:spPr>
          <a:xfrm>
            <a:off x="6519672" y="3931920"/>
            <a:ext cx="2267712" cy="155448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The seventh milestone needs your hiring and people expertise to be genuinely useful, not generic advice.</a:t>
            </a:r>
            <a:endParaRPr lang="en-US" sz="1050" dirty="0"/>
          </a:p>
        </p:txBody>
      </p:sp>
      <p:sp>
        <p:nvSpPr>
          <p:cNvPr id="21" name="Shape 19"/>
          <p:cNvSpPr/>
          <p:nvPr/>
        </p:nvSpPr>
        <p:spPr>
          <a:xfrm>
            <a:off x="9162288" y="2468880"/>
            <a:ext cx="2724912" cy="3108960"/>
          </a:xfrm>
          <a:prstGeom prst="roundRect">
            <a:avLst>
              <a:gd name="adj" fmla="val 2013"/>
            </a:avLst>
          </a:prstGeom>
          <a:solidFill>
            <a:srgbClr val="FFFFFF"/>
          </a:solidFill>
          <a:ln w="12700">
            <a:solidFill>
              <a:srgbClr val="E4E1D8"/>
            </a:solidFill>
            <a:prstDash val="solid"/>
          </a:ln>
          <a:effectLst>
            <a:outerShdw sx="100000" sy="100000" kx="0" ky="0" algn="bl" rotWithShape="0" blurRad="101600" dist="38100" dir="2700000">
              <a:srgbClr val="000000">
                <a:alpha val="12000"/>
              </a:srgbClr>
            </a:outerShdw>
          </a:effectLst>
        </p:spPr>
      </p:sp>
      <p:sp>
        <p:nvSpPr>
          <p:cNvPr id="22" name="Shape 20"/>
          <p:cNvSpPr/>
          <p:nvPr/>
        </p:nvSpPr>
        <p:spPr>
          <a:xfrm>
            <a:off x="9418320" y="2724912"/>
            <a:ext cx="1051560" cy="310896"/>
          </a:xfrm>
          <a:prstGeom prst="roundRect">
            <a:avLst>
              <a:gd name="adj" fmla="val 50000"/>
            </a:avLst>
          </a:prstGeom>
          <a:solidFill>
            <a:srgbClr val="F7EFD6"/>
          </a:solidFill>
          <a:ln/>
        </p:spPr>
      </p:sp>
      <p:sp>
        <p:nvSpPr>
          <p:cNvPr id="23" name="Text 21"/>
          <p:cNvSpPr/>
          <p:nvPr/>
        </p:nvSpPr>
        <p:spPr>
          <a:xfrm>
            <a:off x="9418320" y="2724912"/>
            <a:ext cx="1051560" cy="310896"/>
          </a:xfrm>
          <a:prstGeom prst="rect">
            <a:avLst/>
          </a:prstGeom>
          <a:noFill/>
          <a:ln/>
        </p:spPr>
        <p:txBody>
          <a:bodyPr wrap="square" lIns="0" tIns="0" rIns="0" bIns="0" rtlCol="0" anchor="ctr"/>
          <a:lstStyle/>
          <a:p>
            <a:pPr algn="ctr" indent="0" marL="0">
              <a:buNone/>
            </a:pPr>
            <a:r>
              <a:rPr lang="en-US" sz="1000" b="1" spc="100" kern="0" dirty="0">
                <a:solidFill>
                  <a:srgbClr val="1A1A1A"/>
                </a:solidFill>
                <a:latin typeface="Calibri" pitchFamily="34" charset="0"/>
                <a:ea typeface="Calibri" pitchFamily="34" charset="-122"/>
                <a:cs typeface="Calibri" pitchFamily="34" charset="-120"/>
              </a:rPr>
              <a:t>MATT</a:t>
            </a:r>
            <a:endParaRPr lang="en-US" sz="1000" dirty="0"/>
          </a:p>
        </p:txBody>
      </p:sp>
      <p:sp>
        <p:nvSpPr>
          <p:cNvPr id="24" name="Text 22"/>
          <p:cNvSpPr/>
          <p:nvPr/>
        </p:nvSpPr>
        <p:spPr>
          <a:xfrm>
            <a:off x="9390888" y="3218688"/>
            <a:ext cx="2267712" cy="685800"/>
          </a:xfrm>
          <a:prstGeom prst="rect">
            <a:avLst/>
          </a:prstGeom>
          <a:noFill/>
          <a:ln/>
        </p:spPr>
        <p:txBody>
          <a:bodyPr wrap="square" lIns="0" tIns="0" rIns="0" bIns="0" rtlCol="0" anchor="ctr"/>
          <a:lstStyle/>
          <a:p>
            <a:pPr indent="0" marL="0">
              <a:lnSpc>
                <a:spcPct val="110000"/>
              </a:lnSpc>
              <a:buNone/>
            </a:pPr>
            <a:r>
              <a:rPr lang="en-US" sz="1450" b="1" dirty="0">
                <a:solidFill>
                  <a:srgbClr val="1A1A1A"/>
                </a:solidFill>
                <a:latin typeface="Cambria" pitchFamily="34" charset="0"/>
                <a:ea typeface="Cambria" pitchFamily="34" charset="-122"/>
                <a:cs typeface="Cambria" pitchFamily="34" charset="-120"/>
              </a:rPr>
              <a:t>Running it day to day</a:t>
            </a:r>
            <a:endParaRPr lang="en-US" sz="1450" dirty="0"/>
          </a:p>
        </p:txBody>
      </p:sp>
      <p:sp>
        <p:nvSpPr>
          <p:cNvPr id="25" name="Text 23"/>
          <p:cNvSpPr/>
          <p:nvPr/>
        </p:nvSpPr>
        <p:spPr>
          <a:xfrm>
            <a:off x="9390888" y="3931920"/>
            <a:ext cx="2267712" cy="1554480"/>
          </a:xfrm>
          <a:prstGeom prst="rect">
            <a:avLst/>
          </a:prstGeom>
          <a:noFill/>
          <a:ln/>
        </p:spPr>
        <p:txBody>
          <a:bodyPr wrap="square" rtlCol="0" anchor="ctr"/>
          <a:lstStyle/>
          <a:p>
            <a:pPr indent="0" marL="0">
              <a:lnSpc>
                <a:spcPct val="125000"/>
              </a:lnSpc>
              <a:buNone/>
            </a:pPr>
            <a:r>
              <a:rPr lang="en-US" sz="1050" dirty="0">
                <a:solidFill>
                  <a:srgbClr val="4A4A4A"/>
                </a:solidFill>
                <a:latin typeface="Calibri" pitchFamily="34" charset="0"/>
                <a:ea typeface="Calibri" pitchFamily="34" charset="-122"/>
                <a:cs typeface="Calibri" pitchFamily="34" charset="-120"/>
              </a:rPr>
              <a:t>Community, lead flow, sales, marketing, and this whole build. Reporting back to all three of you.</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7315200" cy="274320"/>
          </a:xfrm>
          <a:prstGeom prst="rect">
            <a:avLst/>
          </a:prstGeom>
          <a:noFill/>
          <a:ln/>
        </p:spPr>
        <p:txBody>
          <a:bodyPr wrap="square" rtlCol="0" anchor="ctr"/>
          <a:lstStyle/>
          <a:p>
            <a:pPr indent="0" marL="0">
              <a:buNone/>
            </a:pPr>
            <a:r>
              <a:rPr lang="en-US" sz="1000" b="1" spc="200" kern="0" dirty="0">
                <a:solidFill>
                  <a:srgbClr val="C8A227"/>
                </a:solidFill>
                <a:latin typeface="Calibri" pitchFamily="34" charset="0"/>
                <a:ea typeface="Calibri" pitchFamily="34" charset="-122"/>
                <a:cs typeface="Calibri" pitchFamily="34" charset="-120"/>
              </a:rPr>
              <a:t>THE DATES WE'RE AIMING FOR</a:t>
            </a:r>
            <a:endParaRPr lang="en-US" sz="1000" dirty="0"/>
          </a:p>
        </p:txBody>
      </p:sp>
      <p:sp>
        <p:nvSpPr>
          <p:cNvPr id="3" name="Text 1"/>
          <p:cNvSpPr/>
          <p:nvPr/>
        </p:nvSpPr>
        <p:spPr>
          <a:xfrm>
            <a:off x="10728655" y="256032"/>
            <a:ext cx="1097280" cy="274320"/>
          </a:xfrm>
          <a:prstGeom prst="rect">
            <a:avLst/>
          </a:prstGeom>
          <a:noFill/>
          <a:ln/>
        </p:spPr>
        <p:txBody>
          <a:bodyPr wrap="square" rtlCol="0" anchor="ctr"/>
          <a:lstStyle/>
          <a:p>
            <a:pPr algn="r" indent="0" marL="0">
              <a:buNone/>
            </a:pPr>
            <a:r>
              <a:rPr lang="en-US" sz="1000" spc="100" kern="0" dirty="0">
                <a:solidFill>
                  <a:srgbClr val="8A8A8A"/>
                </a:solidFill>
                <a:latin typeface="Calibri" pitchFamily="34" charset="0"/>
                <a:ea typeface="Calibri" pitchFamily="34" charset="-122"/>
                <a:cs typeface="Calibri" pitchFamily="34" charset="-120"/>
              </a:rPr>
              <a:t>17 / 18</a:t>
            </a:r>
            <a:endParaRPr lang="en-US" sz="1000" dirty="0"/>
          </a:p>
        </p:txBody>
      </p:sp>
      <p:sp>
        <p:nvSpPr>
          <p:cNvPr id="4" name="Text 2"/>
          <p:cNvSpPr/>
          <p:nvPr/>
        </p:nvSpPr>
        <p:spPr>
          <a:xfrm>
            <a:off x="548640" y="621792"/>
            <a:ext cx="11094415" cy="914400"/>
          </a:xfrm>
          <a:prstGeom prst="rect">
            <a:avLst/>
          </a:prstGeom>
          <a:noFill/>
          <a:ln/>
        </p:spPr>
        <p:txBody>
          <a:bodyPr wrap="square" lIns="0" tIns="0" rIns="0" bIns="0" rtlCol="0" anchor="ctr"/>
          <a:lstStyle/>
          <a:p>
            <a:pPr algn="l" indent="0" marL="0">
              <a:lnSpc>
                <a:spcPct val="105000"/>
              </a:lnSpc>
              <a:buNone/>
            </a:pPr>
            <a:r>
              <a:rPr lang="en-US" sz="2700" b="1" dirty="0">
                <a:solidFill>
                  <a:srgbClr val="1A1A1A"/>
                </a:solidFill>
                <a:latin typeface="Cambria" pitchFamily="34" charset="0"/>
                <a:ea typeface="Cambria" pitchFamily="34" charset="-122"/>
                <a:cs typeface="Cambria" pitchFamily="34" charset="-120"/>
              </a:rPr>
              <a:t>Where this is headed, if the next six weeks land the way we hope.</a:t>
            </a:r>
            <a:endParaRPr lang="en-US" sz="2700" dirty="0"/>
          </a:p>
        </p:txBody>
      </p:sp>
      <p:sp>
        <p:nvSpPr>
          <p:cNvPr id="5" name="Text 3"/>
          <p:cNvSpPr/>
          <p:nvPr/>
        </p:nvSpPr>
        <p:spPr>
          <a:xfrm>
            <a:off x="548640" y="1463040"/>
            <a:ext cx="9722815" cy="640080"/>
          </a:xfrm>
          <a:prstGeom prst="rect">
            <a:avLst/>
          </a:prstGeom>
          <a:noFill/>
          <a:ln/>
        </p:spPr>
        <p:txBody>
          <a:bodyPr wrap="square" lIns="0" tIns="0" rIns="0" bIns="0" rtlCol="0" anchor="ctr"/>
          <a:lstStyle/>
          <a:p>
            <a:pPr algn="l" indent="0" marL="0">
              <a:lnSpc>
                <a:spcPct val="125000"/>
              </a:lnSpc>
              <a:buNone/>
            </a:pPr>
            <a:r>
              <a:rPr lang="en-US" sz="1350" dirty="0">
                <a:solidFill>
                  <a:srgbClr val="4A4A4A"/>
                </a:solidFill>
                <a:latin typeface="Calibri" pitchFamily="34" charset="0"/>
                <a:ea typeface="Calibri" pitchFamily="34" charset="-122"/>
                <a:cs typeface="Calibri" pitchFamily="34" charset="-120"/>
              </a:rPr>
              <a:t>These are targets, not promises. Every date below still depends on what gets decided over the next six weeks.</a:t>
            </a:r>
            <a:endParaRPr lang="en-US" sz="1350" dirty="0"/>
          </a:p>
        </p:txBody>
      </p:sp>
      <p:sp>
        <p:nvSpPr>
          <p:cNvPr id="6" name="Shape 4"/>
          <p:cNvSpPr/>
          <p:nvPr/>
        </p:nvSpPr>
        <p:spPr>
          <a:xfrm>
            <a:off x="1600200" y="3017520"/>
            <a:ext cx="8991295" cy="0"/>
          </a:xfrm>
          <a:prstGeom prst="line">
            <a:avLst/>
          </a:prstGeom>
          <a:noFill/>
          <a:ln w="25400">
            <a:solidFill>
              <a:srgbClr val="E4E1D8"/>
            </a:solidFill>
            <a:prstDash val="solid"/>
          </a:ln>
        </p:spPr>
      </p:sp>
      <p:sp>
        <p:nvSpPr>
          <p:cNvPr id="7" name="Shape 5"/>
          <p:cNvSpPr/>
          <p:nvPr/>
        </p:nvSpPr>
        <p:spPr>
          <a:xfrm>
            <a:off x="1344168" y="2761488"/>
            <a:ext cx="512064" cy="512064"/>
          </a:xfrm>
          <a:prstGeom prst="ellipse">
            <a:avLst/>
          </a:prstGeom>
          <a:solidFill>
            <a:srgbClr val="1A1A1A"/>
          </a:solidFill>
          <a:ln/>
          <a:effectLst>
            <a:outerShdw sx="100000" sy="100000" kx="0" ky="0" algn="bl" rotWithShape="0" blurRad="101600" dist="38100" dir="2700000">
              <a:srgbClr val="000000">
                <a:alpha val="12000"/>
              </a:srgbClr>
            </a:outerShdw>
          </a:effectLst>
        </p:spPr>
      </p:sp>
      <p:sp>
        <p:nvSpPr>
          <p:cNvPr id="8" name="Text 6"/>
          <p:cNvSpPr/>
          <p:nvPr/>
        </p:nvSpPr>
        <p:spPr>
          <a:xfrm>
            <a:off x="1344168" y="2761488"/>
            <a:ext cx="512064" cy="512064"/>
          </a:xfrm>
          <a:prstGeom prst="rect">
            <a:avLst/>
          </a:prstGeom>
          <a:noFill/>
          <a:ln/>
        </p:spPr>
        <p:txBody>
          <a:bodyPr wrap="square" lIns="0" tIns="0" rIns="0" bIns="0" rtlCol="0" anchor="ctr"/>
          <a:lstStyle/>
          <a:p>
            <a:pPr algn="ctr" indent="0" marL="0">
              <a:buNone/>
            </a:pPr>
            <a:r>
              <a:rPr lang="en-US" sz="1600" b="1" dirty="0">
                <a:solidFill>
                  <a:srgbClr val="E8C766"/>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434340" y="3520440"/>
            <a:ext cx="2331720" cy="274320"/>
          </a:xfrm>
          <a:prstGeom prst="rect">
            <a:avLst/>
          </a:prstGeom>
          <a:noFill/>
          <a:ln/>
        </p:spPr>
        <p:txBody>
          <a:bodyPr wrap="square" rtlCol="0" anchor="ctr"/>
          <a:lstStyle/>
          <a:p>
            <a:pPr algn="ctr" indent="0" marL="0">
              <a:buNone/>
            </a:pPr>
            <a:r>
              <a:rPr lang="en-US" sz="1000" b="1" spc="120" kern="0" dirty="0">
                <a:solidFill>
                  <a:srgbClr val="C8A227"/>
                </a:solidFill>
                <a:latin typeface="Calibri" pitchFamily="34" charset="0"/>
                <a:ea typeface="Calibri" pitchFamily="34" charset="-122"/>
                <a:cs typeface="Calibri" pitchFamily="34" charset="-120"/>
              </a:rPr>
              <a:t>NOW</a:t>
            </a:r>
            <a:endParaRPr lang="en-US" sz="1000" dirty="0"/>
          </a:p>
        </p:txBody>
      </p:sp>
      <p:sp>
        <p:nvSpPr>
          <p:cNvPr id="10" name="Text 8"/>
          <p:cNvSpPr/>
          <p:nvPr/>
        </p:nvSpPr>
        <p:spPr>
          <a:xfrm>
            <a:off x="434340" y="3794760"/>
            <a:ext cx="2331720" cy="365760"/>
          </a:xfrm>
          <a:prstGeom prst="rect">
            <a:avLst/>
          </a:prstGeom>
          <a:noFill/>
          <a:ln/>
        </p:spPr>
        <p:txBody>
          <a:bodyPr wrap="square" lIns="0" tIns="0" rIns="0" bIns="0" rtlCol="0" anchor="ctr"/>
          <a:lstStyle/>
          <a:p>
            <a:pPr algn="ctr" indent="0" marL="0">
              <a:buNone/>
            </a:pPr>
            <a:r>
              <a:rPr lang="en-US" sz="1500" b="1" dirty="0">
                <a:solidFill>
                  <a:srgbClr val="1A1A1A"/>
                </a:solidFill>
                <a:latin typeface="Cambria" pitchFamily="34" charset="0"/>
                <a:ea typeface="Cambria" pitchFamily="34" charset="-122"/>
                <a:cs typeface="Cambria" pitchFamily="34" charset="-120"/>
              </a:rPr>
              <a:t>Foundation built</a:t>
            </a:r>
            <a:endParaRPr lang="en-US" sz="1500" dirty="0"/>
          </a:p>
        </p:txBody>
      </p:sp>
      <p:sp>
        <p:nvSpPr>
          <p:cNvPr id="11" name="Text 9"/>
          <p:cNvSpPr/>
          <p:nvPr/>
        </p:nvSpPr>
        <p:spPr>
          <a:xfrm>
            <a:off x="434340" y="4187952"/>
            <a:ext cx="2331720" cy="822960"/>
          </a:xfrm>
          <a:prstGeom prst="rect">
            <a:avLst/>
          </a:prstGeom>
          <a:noFill/>
          <a:ln/>
        </p:spPr>
        <p:txBody>
          <a:bodyPr wrap="square" rtlCol="0" anchor="ctr"/>
          <a:lstStyle/>
          <a:p>
            <a:pPr algn="ctr" indent="0" marL="0">
              <a:lnSpc>
                <a:spcPct val="120000"/>
              </a:lnSpc>
              <a:buNone/>
            </a:pPr>
            <a:r>
              <a:rPr lang="en-US" sz="1000" dirty="0">
                <a:solidFill>
                  <a:srgbClr val="4A4A4A"/>
                </a:solidFill>
                <a:latin typeface="Calibri" pitchFamily="34" charset="0"/>
                <a:ea typeface="Calibri" pitchFamily="34" charset="-122"/>
                <a:cs typeface="Calibri" pitchFamily="34" charset="-120"/>
              </a:rPr>
              <a:t>Curriculum, tools, and front door live. This deck.</a:t>
            </a:r>
            <a:endParaRPr lang="en-US" sz="1000" dirty="0"/>
          </a:p>
        </p:txBody>
      </p:sp>
      <p:sp>
        <p:nvSpPr>
          <p:cNvPr id="12" name="Shape 10"/>
          <p:cNvSpPr/>
          <p:nvPr/>
        </p:nvSpPr>
        <p:spPr>
          <a:xfrm>
            <a:off x="4341266" y="2761488"/>
            <a:ext cx="512064" cy="512064"/>
          </a:xfrm>
          <a:prstGeom prst="ellipse">
            <a:avLst/>
          </a:prstGeom>
          <a:solidFill>
            <a:srgbClr val="C8A227"/>
          </a:solidFill>
          <a:ln/>
          <a:effectLst>
            <a:outerShdw sx="100000" sy="100000" kx="0" ky="0" algn="bl" rotWithShape="0" blurRad="101600" dist="38100" dir="2700000">
              <a:srgbClr val="000000">
                <a:alpha val="12000"/>
              </a:srgbClr>
            </a:outerShdw>
          </a:effectLst>
        </p:spPr>
      </p:sp>
      <p:sp>
        <p:nvSpPr>
          <p:cNvPr id="13" name="Text 11"/>
          <p:cNvSpPr/>
          <p:nvPr/>
        </p:nvSpPr>
        <p:spPr>
          <a:xfrm>
            <a:off x="4341266" y="2761488"/>
            <a:ext cx="512064" cy="512064"/>
          </a:xfrm>
          <a:prstGeom prst="rect">
            <a:avLst/>
          </a:prstGeom>
          <a:noFill/>
          <a:ln/>
        </p:spPr>
        <p:txBody>
          <a:bodyPr wrap="square" lIns="0" tIns="0" rIns="0" bIns="0" rtlCol="0" anchor="ctr"/>
          <a:lstStyle/>
          <a:p>
            <a:pPr algn="ctr" indent="0" marL="0">
              <a:buNone/>
            </a:pPr>
            <a:r>
              <a:rPr lang="en-US" sz="1600" b="1" dirty="0">
                <a:solidFill>
                  <a:srgbClr val="1A1A1A"/>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3431438" y="3520440"/>
            <a:ext cx="2331720" cy="274320"/>
          </a:xfrm>
          <a:prstGeom prst="rect">
            <a:avLst/>
          </a:prstGeom>
          <a:noFill/>
          <a:ln/>
        </p:spPr>
        <p:txBody>
          <a:bodyPr wrap="square" rtlCol="0" anchor="ctr"/>
          <a:lstStyle/>
          <a:p>
            <a:pPr algn="ctr" indent="0" marL="0">
              <a:buNone/>
            </a:pPr>
            <a:r>
              <a:rPr lang="en-US" sz="1000" b="1" spc="120" kern="0" dirty="0">
                <a:solidFill>
                  <a:srgbClr val="C8A227"/>
                </a:solidFill>
                <a:latin typeface="Calibri" pitchFamily="34" charset="0"/>
                <a:ea typeface="Calibri" pitchFamily="34" charset="-122"/>
                <a:cs typeface="Calibri" pitchFamily="34" charset="-120"/>
              </a:rPr>
              <a:t>END OF JULY</a:t>
            </a:r>
            <a:endParaRPr lang="en-US" sz="1000" dirty="0"/>
          </a:p>
        </p:txBody>
      </p:sp>
      <p:sp>
        <p:nvSpPr>
          <p:cNvPr id="15" name="Text 13"/>
          <p:cNvSpPr/>
          <p:nvPr/>
        </p:nvSpPr>
        <p:spPr>
          <a:xfrm>
            <a:off x="3431438" y="3794760"/>
            <a:ext cx="2331720" cy="365760"/>
          </a:xfrm>
          <a:prstGeom prst="rect">
            <a:avLst/>
          </a:prstGeom>
          <a:noFill/>
          <a:ln/>
        </p:spPr>
        <p:txBody>
          <a:bodyPr wrap="square" lIns="0" tIns="0" rIns="0" bIns="0" rtlCol="0" anchor="ctr"/>
          <a:lstStyle/>
          <a:p>
            <a:pPr algn="ctr" indent="0" marL="0">
              <a:buNone/>
            </a:pPr>
            <a:r>
              <a:rPr lang="en-US" sz="1500" b="1" dirty="0">
                <a:solidFill>
                  <a:srgbClr val="1A1A1A"/>
                </a:solidFill>
                <a:latin typeface="Cambria" pitchFamily="34" charset="0"/>
                <a:ea typeface="Cambria" pitchFamily="34" charset="-122"/>
                <a:cs typeface="Cambria" pitchFamily="34" charset="-120"/>
              </a:rPr>
              <a:t>System “waxed”</a:t>
            </a:r>
            <a:endParaRPr lang="en-US" sz="1500" dirty="0"/>
          </a:p>
        </p:txBody>
      </p:sp>
      <p:sp>
        <p:nvSpPr>
          <p:cNvPr id="16" name="Text 14"/>
          <p:cNvSpPr/>
          <p:nvPr/>
        </p:nvSpPr>
        <p:spPr>
          <a:xfrm>
            <a:off x="3431438" y="4187952"/>
            <a:ext cx="2331720" cy="822960"/>
          </a:xfrm>
          <a:prstGeom prst="rect">
            <a:avLst/>
          </a:prstGeom>
          <a:noFill/>
          <a:ln/>
        </p:spPr>
        <p:txBody>
          <a:bodyPr wrap="square" rtlCol="0" anchor="ctr"/>
          <a:lstStyle/>
          <a:p>
            <a:pPr algn="ctr" indent="0" marL="0">
              <a:lnSpc>
                <a:spcPct val="120000"/>
              </a:lnSpc>
              <a:buNone/>
            </a:pPr>
            <a:r>
              <a:rPr lang="en-US" sz="1000" dirty="0">
                <a:solidFill>
                  <a:srgbClr val="4A4A4A"/>
                </a:solidFill>
                <a:latin typeface="Calibri" pitchFamily="34" charset="0"/>
                <a:ea typeface="Calibri" pitchFamily="34" charset="-122"/>
                <a:cs typeface="Calibri" pitchFamily="34" charset="-120"/>
              </a:rPr>
              <a:t>Curriculum, funnel, tools, and CRM all in motion together.</a:t>
            </a:r>
            <a:endParaRPr lang="en-US" sz="1000" dirty="0"/>
          </a:p>
        </p:txBody>
      </p:sp>
      <p:sp>
        <p:nvSpPr>
          <p:cNvPr id="17" name="Shape 15"/>
          <p:cNvSpPr/>
          <p:nvPr/>
        </p:nvSpPr>
        <p:spPr>
          <a:xfrm>
            <a:off x="7338365" y="2761488"/>
            <a:ext cx="512064" cy="512064"/>
          </a:xfrm>
          <a:prstGeom prst="ellipse">
            <a:avLst/>
          </a:prstGeom>
          <a:solidFill>
            <a:srgbClr val="1A1A1A"/>
          </a:solidFill>
          <a:ln/>
          <a:effectLst>
            <a:outerShdw sx="100000" sy="100000" kx="0" ky="0" algn="bl" rotWithShape="0" blurRad="101600" dist="38100" dir="2700000">
              <a:srgbClr val="000000">
                <a:alpha val="12000"/>
              </a:srgbClr>
            </a:outerShdw>
          </a:effectLst>
        </p:spPr>
      </p:sp>
      <p:sp>
        <p:nvSpPr>
          <p:cNvPr id="18" name="Text 16"/>
          <p:cNvSpPr/>
          <p:nvPr/>
        </p:nvSpPr>
        <p:spPr>
          <a:xfrm>
            <a:off x="7338365" y="2761488"/>
            <a:ext cx="512064" cy="512064"/>
          </a:xfrm>
          <a:prstGeom prst="rect">
            <a:avLst/>
          </a:prstGeom>
          <a:noFill/>
          <a:ln/>
        </p:spPr>
        <p:txBody>
          <a:bodyPr wrap="square" lIns="0" tIns="0" rIns="0" bIns="0" rtlCol="0" anchor="ctr"/>
          <a:lstStyle/>
          <a:p>
            <a:pPr algn="ctr" indent="0" marL="0">
              <a:buNone/>
            </a:pPr>
            <a:r>
              <a:rPr lang="en-US" sz="1600" b="1" dirty="0">
                <a:solidFill>
                  <a:srgbClr val="E8C766"/>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6428537" y="3520440"/>
            <a:ext cx="2331720" cy="274320"/>
          </a:xfrm>
          <a:prstGeom prst="rect">
            <a:avLst/>
          </a:prstGeom>
          <a:noFill/>
          <a:ln/>
        </p:spPr>
        <p:txBody>
          <a:bodyPr wrap="square" rtlCol="0" anchor="ctr"/>
          <a:lstStyle/>
          <a:p>
            <a:pPr algn="ctr" indent="0" marL="0">
              <a:buNone/>
            </a:pPr>
            <a:r>
              <a:rPr lang="en-US" sz="1000" b="1" spc="120" kern="0" dirty="0">
                <a:solidFill>
                  <a:srgbClr val="C8A227"/>
                </a:solidFill>
                <a:latin typeface="Calibri" pitchFamily="34" charset="0"/>
                <a:ea typeface="Calibri" pitchFamily="34" charset="-122"/>
                <a:cs typeface="Calibri" pitchFamily="34" charset="-120"/>
              </a:rPr>
              <a:t>LATE AUGUST</a:t>
            </a:r>
            <a:endParaRPr lang="en-US" sz="1000" dirty="0"/>
          </a:p>
        </p:txBody>
      </p:sp>
      <p:sp>
        <p:nvSpPr>
          <p:cNvPr id="20" name="Text 18"/>
          <p:cNvSpPr/>
          <p:nvPr/>
        </p:nvSpPr>
        <p:spPr>
          <a:xfrm>
            <a:off x="6428537" y="3794760"/>
            <a:ext cx="2331720" cy="365760"/>
          </a:xfrm>
          <a:prstGeom prst="rect">
            <a:avLst/>
          </a:prstGeom>
          <a:noFill/>
          <a:ln/>
        </p:spPr>
        <p:txBody>
          <a:bodyPr wrap="square" lIns="0" tIns="0" rIns="0" bIns="0" rtlCol="0" anchor="ctr"/>
          <a:lstStyle/>
          <a:p>
            <a:pPr algn="ctr" indent="0" marL="0">
              <a:buNone/>
            </a:pPr>
            <a:r>
              <a:rPr lang="en-US" sz="1500" b="1" dirty="0">
                <a:solidFill>
                  <a:srgbClr val="1A1A1A"/>
                </a:solidFill>
                <a:latin typeface="Cambria" pitchFamily="34" charset="0"/>
                <a:ea typeface="Cambria" pitchFamily="34" charset="-122"/>
                <a:cs typeface="Cambria" pitchFamily="34" charset="-120"/>
              </a:rPr>
              <a:t>Model finalized</a:t>
            </a:r>
            <a:endParaRPr lang="en-US" sz="1500" dirty="0"/>
          </a:p>
        </p:txBody>
      </p:sp>
      <p:sp>
        <p:nvSpPr>
          <p:cNvPr id="21" name="Text 19"/>
          <p:cNvSpPr/>
          <p:nvPr/>
        </p:nvSpPr>
        <p:spPr>
          <a:xfrm>
            <a:off x="6428537" y="4187952"/>
            <a:ext cx="2331720" cy="822960"/>
          </a:xfrm>
          <a:prstGeom prst="rect">
            <a:avLst/>
          </a:prstGeom>
          <a:noFill/>
          <a:ln/>
        </p:spPr>
        <p:txBody>
          <a:bodyPr wrap="square" rtlCol="0" anchor="ctr"/>
          <a:lstStyle/>
          <a:p>
            <a:pPr algn="ctr" indent="0" marL="0">
              <a:lnSpc>
                <a:spcPct val="120000"/>
              </a:lnSpc>
              <a:buNone/>
            </a:pPr>
            <a:r>
              <a:rPr lang="en-US" sz="1000" dirty="0">
                <a:solidFill>
                  <a:srgbClr val="4A4A4A"/>
                </a:solidFill>
                <a:latin typeface="Calibri" pitchFamily="34" charset="0"/>
                <a:ea typeface="Calibri" pitchFamily="34" charset="-122"/>
                <a:cs typeface="Calibri" pitchFamily="34" charset="-120"/>
              </a:rPr>
              <a:t>Pricing and community build locked with Mike, ready for your sign-off.</a:t>
            </a:r>
            <a:endParaRPr lang="en-US" sz="1000" dirty="0"/>
          </a:p>
        </p:txBody>
      </p:sp>
      <p:sp>
        <p:nvSpPr>
          <p:cNvPr id="22" name="Shape 20"/>
          <p:cNvSpPr/>
          <p:nvPr/>
        </p:nvSpPr>
        <p:spPr>
          <a:xfrm>
            <a:off x="10335463" y="2761488"/>
            <a:ext cx="512064" cy="512064"/>
          </a:xfrm>
          <a:prstGeom prst="ellipse">
            <a:avLst/>
          </a:prstGeom>
          <a:solidFill>
            <a:srgbClr val="C8A227"/>
          </a:solidFill>
          <a:ln/>
          <a:effectLst>
            <a:outerShdw sx="100000" sy="100000" kx="0" ky="0" algn="bl" rotWithShape="0" blurRad="101600" dist="38100" dir="2700000">
              <a:srgbClr val="000000">
                <a:alpha val="12000"/>
              </a:srgbClr>
            </a:outerShdw>
          </a:effectLst>
        </p:spPr>
      </p:sp>
      <p:sp>
        <p:nvSpPr>
          <p:cNvPr id="23" name="Text 21"/>
          <p:cNvSpPr/>
          <p:nvPr/>
        </p:nvSpPr>
        <p:spPr>
          <a:xfrm>
            <a:off x="10335463" y="2761488"/>
            <a:ext cx="512064" cy="512064"/>
          </a:xfrm>
          <a:prstGeom prst="rect">
            <a:avLst/>
          </a:prstGeom>
          <a:noFill/>
          <a:ln/>
        </p:spPr>
        <p:txBody>
          <a:bodyPr wrap="square" lIns="0" tIns="0" rIns="0" bIns="0" rtlCol="0" anchor="ctr"/>
          <a:lstStyle/>
          <a:p>
            <a:pPr algn="ctr" indent="0" marL="0">
              <a:buNone/>
            </a:pPr>
            <a:r>
              <a:rPr lang="en-US" sz="1600" b="1" dirty="0">
                <a:solidFill>
                  <a:srgbClr val="1A1A1A"/>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9425635" y="3520440"/>
            <a:ext cx="2331720" cy="274320"/>
          </a:xfrm>
          <a:prstGeom prst="rect">
            <a:avLst/>
          </a:prstGeom>
          <a:noFill/>
          <a:ln/>
        </p:spPr>
        <p:txBody>
          <a:bodyPr wrap="square" rtlCol="0" anchor="ctr"/>
          <a:lstStyle/>
          <a:p>
            <a:pPr algn="ctr" indent="0" marL="0">
              <a:buNone/>
            </a:pPr>
            <a:r>
              <a:rPr lang="en-US" sz="1000" b="1" spc="120" kern="0" dirty="0">
                <a:solidFill>
                  <a:srgbClr val="C8A227"/>
                </a:solidFill>
                <a:latin typeface="Calibri" pitchFamily="34" charset="0"/>
                <a:ea typeface="Calibri" pitchFamily="34" charset="-122"/>
                <a:cs typeface="Calibri" pitchFamily="34" charset="-120"/>
              </a:rPr>
              <a:t>YEAR END</a:t>
            </a:r>
            <a:endParaRPr lang="en-US" sz="1000" dirty="0"/>
          </a:p>
        </p:txBody>
      </p:sp>
      <p:sp>
        <p:nvSpPr>
          <p:cNvPr id="25" name="Text 23"/>
          <p:cNvSpPr/>
          <p:nvPr/>
        </p:nvSpPr>
        <p:spPr>
          <a:xfrm>
            <a:off x="9425635" y="3794760"/>
            <a:ext cx="2331720" cy="365760"/>
          </a:xfrm>
          <a:prstGeom prst="rect">
            <a:avLst/>
          </a:prstGeom>
          <a:noFill/>
          <a:ln/>
        </p:spPr>
        <p:txBody>
          <a:bodyPr wrap="square" lIns="0" tIns="0" rIns="0" bIns="0" rtlCol="0" anchor="ctr"/>
          <a:lstStyle/>
          <a:p>
            <a:pPr algn="ctr" indent="0" marL="0">
              <a:buNone/>
            </a:pPr>
            <a:r>
              <a:rPr lang="en-US" sz="1500" b="1" dirty="0">
                <a:solidFill>
                  <a:srgbClr val="1A1A1A"/>
                </a:solidFill>
                <a:latin typeface="Cambria" pitchFamily="34" charset="0"/>
                <a:ea typeface="Cambria" pitchFamily="34" charset="-122"/>
                <a:cs typeface="Cambria" pitchFamily="34" charset="-120"/>
              </a:rPr>
              <a:t>Product live</a:t>
            </a:r>
            <a:endParaRPr lang="en-US" sz="1500" dirty="0"/>
          </a:p>
        </p:txBody>
      </p:sp>
      <p:sp>
        <p:nvSpPr>
          <p:cNvPr id="26" name="Text 24"/>
          <p:cNvSpPr/>
          <p:nvPr/>
        </p:nvSpPr>
        <p:spPr>
          <a:xfrm>
            <a:off x="9425635" y="4187952"/>
            <a:ext cx="2331720" cy="822960"/>
          </a:xfrm>
          <a:prstGeom prst="rect">
            <a:avLst/>
          </a:prstGeom>
          <a:noFill/>
          <a:ln/>
        </p:spPr>
        <p:txBody>
          <a:bodyPr wrap="square" rtlCol="0" anchor="ctr"/>
          <a:lstStyle/>
          <a:p>
            <a:pPr algn="ctr" indent="0" marL="0">
              <a:lnSpc>
                <a:spcPct val="120000"/>
              </a:lnSpc>
              <a:buNone/>
            </a:pPr>
            <a:r>
              <a:rPr lang="en-US" sz="1000" dirty="0">
                <a:solidFill>
                  <a:srgbClr val="4A4A4A"/>
                </a:solidFill>
                <a:latin typeface="Calibri" pitchFamily="34" charset="0"/>
                <a:ea typeface="Calibri" pitchFamily="34" charset="-122"/>
                <a:cs typeface="Calibri" pitchFamily="34" charset="-120"/>
              </a:rPr>
              <a:t>Business Without You live, first cohort the goal.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7315017" cy="6858000"/>
          </a:xfrm>
          <a:prstGeom prst="rect">
            <a:avLst/>
          </a:prstGeom>
          <a:solidFill>
            <a:srgbClr val="FAFAF8"/>
          </a:solidFill>
          <a:ln/>
        </p:spPr>
      </p:sp>
      <p:sp>
        <p:nvSpPr>
          <p:cNvPr id="3" name="Shape 1"/>
          <p:cNvSpPr/>
          <p:nvPr/>
        </p:nvSpPr>
        <p:spPr>
          <a:xfrm>
            <a:off x="10454335" y="5303520"/>
            <a:ext cx="3108960" cy="3108960"/>
          </a:xfrm>
          <a:prstGeom prst="ellipse">
            <a:avLst/>
          </a:prstGeom>
          <a:solidFill>
            <a:srgbClr val="26231B"/>
          </a:solidFill>
          <a:ln/>
        </p:spPr>
      </p:sp>
      <p:sp>
        <p:nvSpPr>
          <p:cNvPr id="4" name="Text 2"/>
          <p:cNvSpPr/>
          <p:nvPr/>
        </p:nvSpPr>
        <p:spPr>
          <a:xfrm>
            <a:off x="640080" y="685800"/>
            <a:ext cx="4572000" cy="320040"/>
          </a:xfrm>
          <a:prstGeom prst="rect">
            <a:avLst/>
          </a:prstGeom>
          <a:noFill/>
          <a:ln/>
        </p:spPr>
        <p:txBody>
          <a:bodyPr wrap="square" rtlCol="0" anchor="ctr"/>
          <a:lstStyle/>
          <a:p>
            <a:pPr indent="0" marL="0">
              <a:buNone/>
            </a:pPr>
            <a:r>
              <a:rPr lang="en-US" sz="1100" b="1" spc="200" kern="0" dirty="0">
                <a:solidFill>
                  <a:srgbClr val="C8A227"/>
                </a:solidFill>
                <a:latin typeface="Calibri" pitchFamily="34" charset="0"/>
                <a:ea typeface="Calibri" pitchFamily="34" charset="-122"/>
                <a:cs typeface="Calibri" pitchFamily="34" charset="-120"/>
              </a:rPr>
              <a:t>THE ASK</a:t>
            </a:r>
            <a:endParaRPr lang="en-US" sz="1100" dirty="0"/>
          </a:p>
        </p:txBody>
      </p:sp>
      <p:sp>
        <p:nvSpPr>
          <p:cNvPr id="5" name="Text 3"/>
          <p:cNvSpPr/>
          <p:nvPr/>
        </p:nvSpPr>
        <p:spPr>
          <a:xfrm>
            <a:off x="640080" y="1097280"/>
            <a:ext cx="6035040" cy="1737360"/>
          </a:xfrm>
          <a:prstGeom prst="rect">
            <a:avLst/>
          </a:prstGeom>
          <a:noFill/>
          <a:ln/>
        </p:spPr>
        <p:txBody>
          <a:bodyPr wrap="square" lIns="0" tIns="0" rIns="0" bIns="0" rtlCol="0" anchor="ctr"/>
          <a:lstStyle/>
          <a:p>
            <a:pPr indent="0" marL="0">
              <a:lnSpc>
                <a:spcPct val="110000"/>
              </a:lnSpc>
              <a:buNone/>
            </a:pPr>
            <a:r>
              <a:rPr lang="en-US" sz="2800" b="1" dirty="0">
                <a:solidFill>
                  <a:srgbClr val="1A1A1A"/>
                </a:solidFill>
                <a:latin typeface="Cambria" pitchFamily="34" charset="0"/>
                <a:ea typeface="Cambria" pitchFamily="34" charset="-122"/>
                <a:cs typeface="Cambria" pitchFamily="34" charset="-120"/>
              </a:rPr>
              <a:t>I need your eyes, your input, and your yes on the direction.</a:t>
            </a:r>
            <a:endParaRPr lang="en-US" sz="2800" dirty="0"/>
          </a:p>
        </p:txBody>
      </p:sp>
      <p:sp>
        <p:nvSpPr>
          <p:cNvPr id="6" name="Text 4"/>
          <p:cNvSpPr/>
          <p:nvPr/>
        </p:nvSpPr>
        <p:spPr>
          <a:xfrm>
            <a:off x="640080" y="2788920"/>
            <a:ext cx="5852160" cy="914400"/>
          </a:xfrm>
          <a:prstGeom prst="rect">
            <a:avLst/>
          </a:prstGeom>
          <a:noFill/>
          <a:ln/>
        </p:spPr>
        <p:txBody>
          <a:bodyPr wrap="square" rtlCol="0" anchor="ctr"/>
          <a:lstStyle/>
          <a:p>
            <a:pPr indent="0" marL="0">
              <a:lnSpc>
                <a:spcPct val="130000"/>
              </a:lnSpc>
              <a:buNone/>
            </a:pPr>
            <a:r>
              <a:rPr lang="en-US" sz="1350" i="1" dirty="0">
                <a:solidFill>
                  <a:srgbClr val="4A4A4A"/>
                </a:solidFill>
                <a:latin typeface="Calibri" pitchFamily="34" charset="0"/>
                <a:ea typeface="Calibri" pitchFamily="34" charset="-122"/>
                <a:cs typeface="Calibri" pitchFamily="34" charset="-120"/>
              </a:rPr>
              <a:t>Not sign-off on every detail today. Just your read on whether this is the right shape, and where your expertise should sharpen it before we lock anything in.</a:t>
            </a:r>
            <a:endParaRPr lang="en-US" sz="1350" dirty="0"/>
          </a:p>
        </p:txBody>
      </p:sp>
      <p:sp>
        <p:nvSpPr>
          <p:cNvPr id="7" name="Shape 5"/>
          <p:cNvSpPr/>
          <p:nvPr/>
        </p:nvSpPr>
        <p:spPr>
          <a:xfrm>
            <a:off x="640080" y="3886200"/>
            <a:ext cx="5852160" cy="2148840"/>
          </a:xfrm>
          <a:prstGeom prst="roundRect">
            <a:avLst>
              <a:gd name="adj" fmla="val 2553"/>
            </a:avLst>
          </a:prstGeom>
          <a:solidFill>
            <a:srgbClr val="F7EFD6"/>
          </a:solidFill>
          <a:ln/>
        </p:spPr>
      </p:sp>
      <p:sp>
        <p:nvSpPr>
          <p:cNvPr id="8" name="Text 6"/>
          <p:cNvSpPr/>
          <p:nvPr/>
        </p:nvSpPr>
        <p:spPr>
          <a:xfrm>
            <a:off x="914400" y="4069080"/>
            <a:ext cx="2743200" cy="384048"/>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Matt Fitzpatrick</a:t>
            </a:r>
            <a:endParaRPr lang="en-US" sz="1150" dirty="0"/>
          </a:p>
        </p:txBody>
      </p:sp>
      <p:sp>
        <p:nvSpPr>
          <p:cNvPr id="9" name="Text 7"/>
          <p:cNvSpPr/>
          <p:nvPr/>
        </p:nvSpPr>
        <p:spPr>
          <a:xfrm>
            <a:off x="3657600" y="4069080"/>
            <a:ext cx="2560320" cy="384048"/>
          </a:xfrm>
          <a:prstGeom prst="rect">
            <a:avLst/>
          </a:prstGeom>
          <a:noFill/>
          <a:ln/>
        </p:spPr>
        <p:txBody>
          <a:bodyPr wrap="square" lIns="0" tIns="0" rIns="0" bIns="0" rtlCol="0" anchor="ctr"/>
          <a:lstStyle/>
          <a:p>
            <a:pPr algn="r" indent="0" marL="0">
              <a:buNone/>
            </a:pPr>
            <a:r>
              <a:rPr lang="en-US" sz="1150" dirty="0">
                <a:solidFill>
                  <a:srgbClr val="4A4A4A"/>
                </a:solidFill>
                <a:latin typeface="Calibri" pitchFamily="34" charset="0"/>
                <a:ea typeface="Calibri" pitchFamily="34" charset="-122"/>
                <a:cs typeface="Calibri" pitchFamily="34" charset="-120"/>
              </a:rPr>
              <a:t>Cool Hollow Coaching</a:t>
            </a:r>
            <a:endParaRPr lang="en-US" sz="1150" dirty="0"/>
          </a:p>
        </p:txBody>
      </p:sp>
      <p:sp>
        <p:nvSpPr>
          <p:cNvPr id="10" name="Shape 8"/>
          <p:cNvSpPr/>
          <p:nvPr/>
        </p:nvSpPr>
        <p:spPr>
          <a:xfrm>
            <a:off x="914400" y="4471416"/>
            <a:ext cx="5303520" cy="0"/>
          </a:xfrm>
          <a:prstGeom prst="line">
            <a:avLst/>
          </a:prstGeom>
          <a:noFill/>
          <a:ln w="9525">
            <a:solidFill>
              <a:srgbClr val="D3CFC0"/>
            </a:solidFill>
            <a:prstDash val="solid"/>
          </a:ln>
        </p:spPr>
      </p:sp>
      <p:sp>
        <p:nvSpPr>
          <p:cNvPr id="11" name="Text 9"/>
          <p:cNvSpPr/>
          <p:nvPr/>
        </p:nvSpPr>
        <p:spPr>
          <a:xfrm>
            <a:off x="914400" y="4526280"/>
            <a:ext cx="2743200" cy="38404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Email</a:t>
            </a:r>
            <a:endParaRPr lang="en-US" sz="1150" dirty="0"/>
          </a:p>
        </p:txBody>
      </p:sp>
      <p:sp>
        <p:nvSpPr>
          <p:cNvPr id="12" name="Text 10"/>
          <p:cNvSpPr/>
          <p:nvPr/>
        </p:nvSpPr>
        <p:spPr>
          <a:xfrm>
            <a:off x="3657600" y="4526280"/>
            <a:ext cx="2560320" cy="384048"/>
          </a:xfrm>
          <a:prstGeom prst="rect">
            <a:avLst/>
          </a:prstGeom>
          <a:noFill/>
          <a:ln/>
        </p:spPr>
        <p:txBody>
          <a:bodyPr wrap="square" lIns="0" tIns="0" rIns="0" bIns="0" rtlCol="0" anchor="ctr"/>
          <a:lstStyle/>
          <a:p>
            <a:pPr algn="r" indent="0" marL="0">
              <a:buNone/>
            </a:pPr>
            <a:r>
              <a:rPr lang="en-US" sz="1150" dirty="0">
                <a:solidFill>
                  <a:srgbClr val="4A4A4A"/>
                </a:solidFill>
                <a:latin typeface="Calibri" pitchFamily="34" charset="0"/>
                <a:ea typeface="Calibri" pitchFamily="34" charset="-122"/>
                <a:cs typeface="Calibri" pitchFamily="34" charset="-120"/>
              </a:rPr>
              <a:t>matthewfbuck@icloud.com</a:t>
            </a:r>
            <a:endParaRPr lang="en-US" sz="1150" dirty="0"/>
          </a:p>
        </p:txBody>
      </p:sp>
      <p:sp>
        <p:nvSpPr>
          <p:cNvPr id="13" name="Shape 11"/>
          <p:cNvSpPr/>
          <p:nvPr/>
        </p:nvSpPr>
        <p:spPr>
          <a:xfrm>
            <a:off x="914400" y="4928616"/>
            <a:ext cx="5303520" cy="0"/>
          </a:xfrm>
          <a:prstGeom prst="line">
            <a:avLst/>
          </a:prstGeom>
          <a:noFill/>
          <a:ln w="9525">
            <a:solidFill>
              <a:srgbClr val="D3CFC0"/>
            </a:solidFill>
            <a:prstDash val="solid"/>
          </a:ln>
        </p:spPr>
      </p:sp>
      <p:sp>
        <p:nvSpPr>
          <p:cNvPr id="14" name="Text 12"/>
          <p:cNvSpPr/>
          <p:nvPr/>
        </p:nvSpPr>
        <p:spPr>
          <a:xfrm>
            <a:off x="914400" y="4983480"/>
            <a:ext cx="2743200" cy="38404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Next milestone</a:t>
            </a:r>
            <a:endParaRPr lang="en-US" sz="1150" dirty="0"/>
          </a:p>
        </p:txBody>
      </p:sp>
      <p:sp>
        <p:nvSpPr>
          <p:cNvPr id="15" name="Text 13"/>
          <p:cNvSpPr/>
          <p:nvPr/>
        </p:nvSpPr>
        <p:spPr>
          <a:xfrm>
            <a:off x="3657600" y="4983480"/>
            <a:ext cx="2560320" cy="384048"/>
          </a:xfrm>
          <a:prstGeom prst="rect">
            <a:avLst/>
          </a:prstGeom>
          <a:noFill/>
          <a:ln/>
        </p:spPr>
        <p:txBody>
          <a:bodyPr wrap="square" lIns="0" tIns="0" rIns="0" bIns="0" rtlCol="0" anchor="ctr"/>
          <a:lstStyle/>
          <a:p>
            <a:pPr algn="r" indent="0" marL="0">
              <a:buNone/>
            </a:pPr>
            <a:r>
              <a:rPr lang="en-US" sz="1150" dirty="0">
                <a:solidFill>
                  <a:srgbClr val="4A4A4A"/>
                </a:solidFill>
                <a:latin typeface="Calibri" pitchFamily="34" charset="0"/>
                <a:ea typeface="Calibri" pitchFamily="34" charset="-122"/>
                <a:cs typeface="Calibri" pitchFamily="34" charset="-120"/>
              </a:rPr>
              <a:t>July 14 call with Mike</a:t>
            </a:r>
            <a:endParaRPr lang="en-US" sz="1150" dirty="0"/>
          </a:p>
        </p:txBody>
      </p:sp>
      <p:sp>
        <p:nvSpPr>
          <p:cNvPr id="16" name="Shape 14"/>
          <p:cNvSpPr/>
          <p:nvPr/>
        </p:nvSpPr>
        <p:spPr>
          <a:xfrm>
            <a:off x="914400" y="5385816"/>
            <a:ext cx="5303520" cy="0"/>
          </a:xfrm>
          <a:prstGeom prst="line">
            <a:avLst/>
          </a:prstGeom>
          <a:noFill/>
          <a:ln w="9525">
            <a:solidFill>
              <a:srgbClr val="D3CFC0"/>
            </a:solidFill>
            <a:prstDash val="solid"/>
          </a:ln>
        </p:spPr>
      </p:sp>
      <p:sp>
        <p:nvSpPr>
          <p:cNvPr id="17" name="Text 15"/>
          <p:cNvSpPr/>
          <p:nvPr/>
        </p:nvSpPr>
        <p:spPr>
          <a:xfrm>
            <a:off x="914400" y="5440680"/>
            <a:ext cx="2743200" cy="38404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v1 · July 8, 2026</a:t>
            </a:r>
            <a:endParaRPr lang="en-US" sz="1150" dirty="0"/>
          </a:p>
        </p:txBody>
      </p:sp>
      <p:sp>
        <p:nvSpPr>
          <p:cNvPr id="18" name="Text 16"/>
          <p:cNvSpPr/>
          <p:nvPr/>
        </p:nvSpPr>
        <p:spPr>
          <a:xfrm>
            <a:off x="3657600" y="5440680"/>
            <a:ext cx="2560320" cy="384048"/>
          </a:xfrm>
          <a:prstGeom prst="rect">
            <a:avLst/>
          </a:prstGeom>
          <a:noFill/>
          <a:ln/>
        </p:spPr>
        <p:txBody>
          <a:bodyPr wrap="square" lIns="0" tIns="0" rIns="0" bIns="0" rtlCol="0" anchor="ctr"/>
          <a:lstStyle/>
          <a:p>
            <a:pPr algn="r" indent="0" marL="0">
              <a:buNone/>
            </a:pPr>
            <a:r>
              <a:rPr lang="en-US" sz="1150" dirty="0">
                <a:solidFill>
                  <a:srgbClr val="4A4A4A"/>
                </a:solidFill>
                <a:latin typeface="Calibri" pitchFamily="34" charset="0"/>
                <a:ea typeface="Calibri" pitchFamily="34" charset="-122"/>
                <a:cs typeface="Calibri" pitchFamily="34" charset="-120"/>
              </a:rPr>
              <a:t>For Mark, Cam &amp; Hannah</a:t>
            </a:r>
            <a:endParaRPr lang="en-US" sz="1150" dirty="0"/>
          </a:p>
        </p:txBody>
      </p:sp>
      <p:sp>
        <p:nvSpPr>
          <p:cNvPr id="19" name="Text 17"/>
          <p:cNvSpPr/>
          <p:nvPr/>
        </p:nvSpPr>
        <p:spPr>
          <a:xfrm>
            <a:off x="7817937" y="685800"/>
            <a:ext cx="3870838" cy="320040"/>
          </a:xfrm>
          <a:prstGeom prst="rect">
            <a:avLst/>
          </a:prstGeom>
          <a:noFill/>
          <a:ln/>
        </p:spPr>
        <p:txBody>
          <a:bodyPr wrap="square" rtlCol="0" anchor="ctr"/>
          <a:lstStyle/>
          <a:p>
            <a:pPr indent="0" marL="0">
              <a:buNone/>
            </a:pPr>
            <a:r>
              <a:rPr lang="en-US" sz="1100" b="1" spc="150" kern="0" dirty="0">
                <a:solidFill>
                  <a:srgbClr val="E8C766"/>
                </a:solidFill>
                <a:latin typeface="Calibri" pitchFamily="34" charset="0"/>
                <a:ea typeface="Calibri" pitchFamily="34" charset="-122"/>
                <a:cs typeface="Calibri" pitchFamily="34" charset="-120"/>
              </a:rPr>
              <a:t>COOL HOLLOW COACHING</a:t>
            </a:r>
            <a:endParaRPr lang="en-US" sz="1100" dirty="0"/>
          </a:p>
        </p:txBody>
      </p:sp>
      <p:sp>
        <p:nvSpPr>
          <p:cNvPr id="20" name="Text 18"/>
          <p:cNvSpPr/>
          <p:nvPr/>
        </p:nvSpPr>
        <p:spPr>
          <a:xfrm>
            <a:off x="7817937" y="2468880"/>
            <a:ext cx="3870838" cy="1554480"/>
          </a:xfrm>
          <a:prstGeom prst="rect">
            <a:avLst/>
          </a:prstGeom>
          <a:noFill/>
          <a:ln/>
        </p:spPr>
        <p:txBody>
          <a:bodyPr wrap="square" lIns="0" tIns="0" rIns="0" bIns="0" rtlCol="0" anchor="ctr"/>
          <a:lstStyle/>
          <a:p>
            <a:pPr indent="0" marL="0">
              <a:lnSpc>
                <a:spcPct val="115000"/>
              </a:lnSpc>
              <a:buNone/>
            </a:pPr>
            <a:r>
              <a:rPr lang="en-US" sz="2300" b="1" dirty="0">
                <a:solidFill>
                  <a:srgbClr val="FFFFFF"/>
                </a:solidFill>
                <a:latin typeface="Cambria" pitchFamily="34" charset="0"/>
                <a:ea typeface="Cambria" pitchFamily="34" charset="-122"/>
                <a:cs typeface="Cambria" pitchFamily="34" charset="-120"/>
              </a:rPr>
              <a:t>This is the beginning of something we build together.</a:t>
            </a:r>
            <a:endParaRPr lang="en-US" sz="2300" dirty="0"/>
          </a:p>
        </p:txBody>
      </p:sp>
      <p:sp>
        <p:nvSpPr>
          <p:cNvPr id="21" name="Text 19"/>
          <p:cNvSpPr/>
          <p:nvPr/>
        </p:nvSpPr>
        <p:spPr>
          <a:xfrm>
            <a:off x="7817937" y="4114800"/>
            <a:ext cx="3870838" cy="1371600"/>
          </a:xfrm>
          <a:prstGeom prst="rect">
            <a:avLst/>
          </a:prstGeom>
          <a:noFill/>
          <a:ln/>
        </p:spPr>
        <p:txBody>
          <a:bodyPr wrap="square" rtlCol="0" anchor="ctr"/>
          <a:lstStyle/>
          <a:p>
            <a:pPr indent="0" marL="0">
              <a:lnSpc>
                <a:spcPct val="130000"/>
              </a:lnSpc>
              <a:buNone/>
            </a:pPr>
            <a:r>
              <a:rPr lang="en-US" sz="1200" dirty="0">
                <a:solidFill>
                  <a:srgbClr val="D8D8D8"/>
                </a:solidFill>
                <a:latin typeface="Calibri" pitchFamily="34" charset="0"/>
                <a:ea typeface="Calibri" pitchFamily="34" charset="-122"/>
                <a:cs typeface="Calibri" pitchFamily="34" charset="-120"/>
              </a:rPr>
              <a:t>Everything you've seen today is a draft in motion, built to earn your trust that this can work. The final call on pricing, scope, and how it launches stays with the three of you.</a:t>
            </a:r>
            <a:endParaRPr lang="en-US" sz="1200" dirty="0"/>
          </a:p>
        </p:txBody>
      </p:sp>
      <p:sp>
        <p:nvSpPr>
          <p:cNvPr id="22" name="Text 20"/>
          <p:cNvSpPr/>
          <p:nvPr/>
        </p:nvSpPr>
        <p:spPr>
          <a:xfrm>
            <a:off x="7817937" y="6035040"/>
            <a:ext cx="3870838" cy="320040"/>
          </a:xfrm>
          <a:prstGeom prst="rect">
            <a:avLst/>
          </a:prstGeom>
          <a:noFill/>
          <a:ln/>
        </p:spPr>
        <p:txBody>
          <a:bodyPr wrap="square" rtlCol="0" anchor="ctr"/>
          <a:lstStyle/>
          <a:p>
            <a:pPr indent="0" marL="0">
              <a:buNone/>
            </a:pPr>
            <a:r>
              <a:rPr lang="en-US" sz="1050" b="1" spc="150" kern="0" dirty="0">
                <a:solidFill>
                  <a:srgbClr val="E8C766"/>
                </a:solidFill>
                <a:latin typeface="Calibri" pitchFamily="34" charset="0"/>
                <a:ea typeface="Calibri" pitchFamily="34" charset="-122"/>
                <a:cs typeface="Calibri" pitchFamily="34" charset="-120"/>
              </a:rPr>
              <a:t>BUSINESS WITHOUT YOU · V1</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Cool Hollow Coaching — Progress &amp; Path Forward</dc:title>
  <dc:subject>PptxGenJS Presentation</dc:subject>
  <dc:creator>Matt Fitzpatrick</dc:creator>
  <cp:lastModifiedBy>Matt Fitzpatrick</cp:lastModifiedBy>
  <cp:revision>1</cp:revision>
  <dcterms:created xsi:type="dcterms:W3CDTF">2026-07-08T15:54:11Z</dcterms:created>
  <dcterms:modified xsi:type="dcterms:W3CDTF">2026-07-08T15:54:11Z</dcterms:modified>
</cp:coreProperties>
</file>